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slides/charts/chart2.xml" ContentType="application/vnd.openxmlformats-officedocument.drawingml.chart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5919ebca5d4493a" /><Relationship Type="http://schemas.openxmlformats.org/officeDocument/2006/relationships/extended-properties" Target="/docProps/app.xml" Id="R5374129d45c34ff8" /><Relationship Type="http://schemas.openxmlformats.org/officeDocument/2006/relationships/officeDocument" Target="/ppt/presentation.xml" Id="Ra4da1e0cb98d4a4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bdb0fc654b94f40"/>
  </p:sldMasterIdLst>
  <p:notesMasterIdLst>
    <p:notesMasterId xmlns:r="http://schemas.openxmlformats.org/officeDocument/2006/relationships" r:id="R8fb5ab391b504c15"/>
  </p:notesMasterIdLst>
  <p:sldIdLst>
    <p:sldId xmlns:r="http://schemas.openxmlformats.org/officeDocument/2006/relationships" id="256" r:id="Raf13ee5ad9064697"/>
    <p:sldId xmlns:r="http://schemas.openxmlformats.org/officeDocument/2006/relationships" id="257" r:id="Rcfe556308a25496a"/>
    <p:sldId xmlns:r="http://schemas.openxmlformats.org/officeDocument/2006/relationships" id="258" r:id="R9e7f80cff8d14af8"/>
    <p:sldId xmlns:r="http://schemas.openxmlformats.org/officeDocument/2006/relationships" id="259" r:id="R4c297c41eee948d7"/>
    <p:sldId xmlns:r="http://schemas.openxmlformats.org/officeDocument/2006/relationships" id="260" r:id="R334501610f4842bb"/>
    <p:sldId xmlns:r="http://schemas.openxmlformats.org/officeDocument/2006/relationships" id="261" r:id="Rc393ae4e29014bf3"/>
    <p:sldId xmlns:r="http://schemas.openxmlformats.org/officeDocument/2006/relationships" id="262" r:id="R78b2281529a64f8a"/>
    <p:sldId xmlns:r="http://schemas.openxmlformats.org/officeDocument/2006/relationships" id="263" r:id="Rf1de2722246541cc"/>
    <p:sldId xmlns:r="http://schemas.openxmlformats.org/officeDocument/2006/relationships" id="264" r:id="R01f4f06dadf84e08"/>
    <p:sldId xmlns:r="http://schemas.openxmlformats.org/officeDocument/2006/relationships" id="265" r:id="R63fdf80609704be4"/>
    <p:sldId xmlns:r="http://schemas.openxmlformats.org/officeDocument/2006/relationships" id="266" r:id="R4bf7768663dc40c0"/>
    <p:sldId xmlns:r="http://schemas.openxmlformats.org/officeDocument/2006/relationships" id="267" r:id="Rbb1f9619a83d4eb9"/>
    <p:sldId xmlns:r="http://schemas.openxmlformats.org/officeDocument/2006/relationships" id="268" r:id="R82514f4ed5f5450c"/>
    <p:sldId xmlns:r="http://schemas.openxmlformats.org/officeDocument/2006/relationships" id="269" r:id="Rf8e84c318a244bfb"/>
    <p:sldId xmlns:r="http://schemas.openxmlformats.org/officeDocument/2006/relationships" id="270" r:id="Rdf95e83626784b62"/>
    <p:sldId xmlns:r="http://schemas.openxmlformats.org/officeDocument/2006/relationships" id="271" r:id="Rbe0496e6e18f46f5"/>
    <p:sldId xmlns:r="http://schemas.openxmlformats.org/officeDocument/2006/relationships" id="272" r:id="Rbf7de4dcc5b64691"/>
    <p:sldId xmlns:r="http://schemas.openxmlformats.org/officeDocument/2006/relationships" id="273" r:id="Ra490ab573c22413b"/>
    <p:sldId xmlns:r="http://schemas.openxmlformats.org/officeDocument/2006/relationships" id="274" r:id="R1fb496a453cc46f0"/>
    <p:sldId xmlns:r="http://schemas.openxmlformats.org/officeDocument/2006/relationships" id="275" r:id="R3107228c66124938"/>
    <p:sldId xmlns:r="http://schemas.openxmlformats.org/officeDocument/2006/relationships" id="276" r:id="R9938683c9bd34115"/>
    <p:sldId xmlns:r="http://schemas.openxmlformats.org/officeDocument/2006/relationships" id="277" r:id="R110fb5502055499f"/>
    <p:sldId xmlns:r="http://schemas.openxmlformats.org/officeDocument/2006/relationships" id="278" r:id="R3a4b78dfdf07477d"/>
    <p:sldId xmlns:r="http://schemas.openxmlformats.org/officeDocument/2006/relationships" id="279" r:id="Rae3c71eb01644a8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d801a7186554420" /><Relationship Type="http://schemas.openxmlformats.org/officeDocument/2006/relationships/slideMaster" Target="/ppt/slideMasters/slideMaster1.xml" Id="R0bdb0fc654b94f40" /><Relationship Type="http://schemas.openxmlformats.org/officeDocument/2006/relationships/notesMaster" Target="/ppt/notesMasters/notesMaster1.xml" Id="R8fb5ab391b504c15" /><Relationship Type="http://schemas.openxmlformats.org/officeDocument/2006/relationships/presProps" Target="/ppt/presProps.xml" Id="R09ad3989b9254aca" /><Relationship Type="http://schemas.openxmlformats.org/officeDocument/2006/relationships/viewProps" Target="/ppt/viewProps.xml" Id="Rac831ee8ef024dd5" /><Relationship Type="http://schemas.openxmlformats.org/officeDocument/2006/relationships/tableStyles" Target="/ppt/tableStyles.xml" Id="Rc378e9d274934ed0" /><Relationship Type="http://schemas.openxmlformats.org/officeDocument/2006/relationships/slide" Target="/ppt/slides/slide1.xml" Id="Raf13ee5ad9064697" /><Relationship Type="http://schemas.openxmlformats.org/officeDocument/2006/relationships/slide" Target="/ppt/slides/slide2.xml" Id="Rcfe556308a25496a" /><Relationship Type="http://schemas.openxmlformats.org/officeDocument/2006/relationships/slide" Target="/ppt/slides/slide3.xml" Id="R9e7f80cff8d14af8" /><Relationship Type="http://schemas.openxmlformats.org/officeDocument/2006/relationships/slide" Target="/ppt/slides/slide4.xml" Id="R4c297c41eee948d7" /><Relationship Type="http://schemas.openxmlformats.org/officeDocument/2006/relationships/slide" Target="/ppt/slides/slide5.xml" Id="R334501610f4842bb" /><Relationship Type="http://schemas.openxmlformats.org/officeDocument/2006/relationships/slide" Target="/ppt/slides/slide6.xml" Id="Rc393ae4e29014bf3" /><Relationship Type="http://schemas.openxmlformats.org/officeDocument/2006/relationships/slide" Target="/ppt/slides/slide7.xml" Id="R78b2281529a64f8a" /><Relationship Type="http://schemas.openxmlformats.org/officeDocument/2006/relationships/slide" Target="/ppt/slides/slide8.xml" Id="Rf1de2722246541cc" /><Relationship Type="http://schemas.openxmlformats.org/officeDocument/2006/relationships/slide" Target="/ppt/slides/slide9.xml" Id="R01f4f06dadf84e08" /><Relationship Type="http://schemas.openxmlformats.org/officeDocument/2006/relationships/slide" Target="/ppt/slides/slide10.xml" Id="R63fdf80609704be4" /><Relationship Type="http://schemas.openxmlformats.org/officeDocument/2006/relationships/slide" Target="/ppt/slides/slide11.xml" Id="R4bf7768663dc40c0" /><Relationship Type="http://schemas.openxmlformats.org/officeDocument/2006/relationships/slide" Target="/ppt/slides/slide12.xml" Id="Rbb1f9619a83d4eb9" /><Relationship Type="http://schemas.openxmlformats.org/officeDocument/2006/relationships/slide" Target="/ppt/slides/slide13.xml" Id="R82514f4ed5f5450c" /><Relationship Type="http://schemas.openxmlformats.org/officeDocument/2006/relationships/slide" Target="/ppt/slides/slide14.xml" Id="Rf8e84c318a244bfb" /><Relationship Type="http://schemas.openxmlformats.org/officeDocument/2006/relationships/slide" Target="/ppt/slides/slide15.xml" Id="Rdf95e83626784b62" /><Relationship Type="http://schemas.openxmlformats.org/officeDocument/2006/relationships/slide" Target="/ppt/slides/slide16.xml" Id="Rbe0496e6e18f46f5" /><Relationship Type="http://schemas.openxmlformats.org/officeDocument/2006/relationships/slide" Target="/ppt/slides/slide17.xml" Id="Rbf7de4dcc5b64691" /><Relationship Type="http://schemas.openxmlformats.org/officeDocument/2006/relationships/slide" Target="/ppt/slides/slide18.xml" Id="Ra490ab573c22413b" /><Relationship Type="http://schemas.openxmlformats.org/officeDocument/2006/relationships/slide" Target="/ppt/slides/slide19.xml" Id="R1fb496a453cc46f0" /><Relationship Type="http://schemas.openxmlformats.org/officeDocument/2006/relationships/slide" Target="/ppt/slides/slide20.xml" Id="R3107228c66124938" /><Relationship Type="http://schemas.openxmlformats.org/officeDocument/2006/relationships/slide" Target="/ppt/slides/slide21.xml" Id="R9938683c9bd34115" /><Relationship Type="http://schemas.openxmlformats.org/officeDocument/2006/relationships/slide" Target="/ppt/slides/slide22.xml" Id="R110fb5502055499f" /><Relationship Type="http://schemas.openxmlformats.org/officeDocument/2006/relationships/slide" Target="/ppt/slides/slide23.xml" Id="R3a4b78dfdf07477d" /><Relationship Type="http://schemas.openxmlformats.org/officeDocument/2006/relationships/slide" Target="/ppt/slides/slide24.xml" Id="Rae3c71eb01644a8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91c118be61f4b4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  <a:effectStyle>
          <a:effectLst>
            <a:outerShdw blurRad="133350" dist="51294" dir="4091915">
              <a:srgbClr val="203444">
                <a:alpha val="10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940784b63c44e48" /><Relationship Type="http://schemas.openxmlformats.org/officeDocument/2006/relationships/notesMaster" Target="/ppt/notesMasters/notesMaster1.xml" Id="R57900d7776d1476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1114af3c4a6460e" /><Relationship Type="http://schemas.openxmlformats.org/officeDocument/2006/relationships/notesMaster" Target="/ppt/notesMasters/notesMaster1.xml" Id="R835aa94008794eb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89118e8dd664270" /><Relationship Type="http://schemas.openxmlformats.org/officeDocument/2006/relationships/notesMaster" Target="/ppt/notesMasters/notesMaster1.xml" Id="R6ef3aee9f4234ee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059a3cc5eae41f2" /><Relationship Type="http://schemas.openxmlformats.org/officeDocument/2006/relationships/notesMaster" Target="/ppt/notesMasters/notesMaster1.xml" Id="R58744362516f426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cd53d23cb5d4643" /><Relationship Type="http://schemas.openxmlformats.org/officeDocument/2006/relationships/notesMaster" Target="/ppt/notesMasters/notesMaster1.xml" Id="R543541f75ed0488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fd88eb65a0e4261" /><Relationship Type="http://schemas.openxmlformats.org/officeDocument/2006/relationships/notesMaster" Target="/ppt/notesMasters/notesMaster1.xml" Id="R564005659d534fc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e55e5f320994fb3" /><Relationship Type="http://schemas.openxmlformats.org/officeDocument/2006/relationships/notesMaster" Target="/ppt/notesMasters/notesMaster1.xml" Id="Radcfa39bcf83445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1317b52e68643b4" /><Relationship Type="http://schemas.openxmlformats.org/officeDocument/2006/relationships/notesMaster" Target="/ppt/notesMasters/notesMaster1.xml" Id="R7f548ffddb9d425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10de9b6245a465b" /><Relationship Type="http://schemas.openxmlformats.org/officeDocument/2006/relationships/notesMaster" Target="/ppt/notesMasters/notesMaster1.xml" Id="R6543c15fcec846a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7827bf8a4a84782" /><Relationship Type="http://schemas.openxmlformats.org/officeDocument/2006/relationships/notesMaster" Target="/ppt/notesMasters/notesMaster1.xml" Id="R8d6086955d86420b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33102a9edeb641e4" /><Relationship Type="http://schemas.openxmlformats.org/officeDocument/2006/relationships/notesMaster" Target="/ppt/notesMasters/notesMaster1.xml" Id="Ra844513f94054e43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08f272d720f42f4" /><Relationship Type="http://schemas.openxmlformats.org/officeDocument/2006/relationships/notesMaster" Target="/ppt/notesMasters/notesMaster1.xml" Id="Rfee7c0f7b7574877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745c6f001b664bb0" /><Relationship Type="http://schemas.openxmlformats.org/officeDocument/2006/relationships/notesMaster" Target="/ppt/notesMasters/notesMaster1.xml" Id="Rf54cd75f11af4257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2f657e0d503f4f72" /><Relationship Type="http://schemas.openxmlformats.org/officeDocument/2006/relationships/notesMaster" Target="/ppt/notesMasters/notesMaster1.xml" Id="R96220829072c46d5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acc97f61027e462e" /><Relationship Type="http://schemas.openxmlformats.org/officeDocument/2006/relationships/notesMaster" Target="/ppt/notesMasters/notesMaster1.xml" Id="R6ef8f47d4a784865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c5681279d78a4057" /><Relationship Type="http://schemas.openxmlformats.org/officeDocument/2006/relationships/notesMaster" Target="/ppt/notesMasters/notesMaster1.xml" Id="R3ace047d96474450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fc8b541682b24f7b" /><Relationship Type="http://schemas.openxmlformats.org/officeDocument/2006/relationships/notesMaster" Target="/ppt/notesMasters/notesMaster1.xml" Id="R995ef9a148184268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36a1dd69382347e2" /><Relationship Type="http://schemas.openxmlformats.org/officeDocument/2006/relationships/notesMaster" Target="/ppt/notesMasters/notesMaster1.xml" Id="R58600df5b86149d1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df3733f72f5a4ae6" /><Relationship Type="http://schemas.openxmlformats.org/officeDocument/2006/relationships/notesMaster" Target="/ppt/notesMasters/notesMaster1.xml" Id="R94d56e73c34d4e42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aee04468868445f1" /><Relationship Type="http://schemas.openxmlformats.org/officeDocument/2006/relationships/notesMaster" Target="/ppt/notesMasters/notesMaster1.xml" Id="Rf13c302edfc6409e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6caf71b15aba4e00" /><Relationship Type="http://schemas.openxmlformats.org/officeDocument/2006/relationships/notesMaster" Target="/ppt/notesMasters/notesMaster1.xml" Id="Rf1eda110165e41e2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4ee33519975b454b" /><Relationship Type="http://schemas.openxmlformats.org/officeDocument/2006/relationships/notesMaster" Target="/ppt/notesMasters/notesMaster1.xml" Id="R96660e5c40c5464c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00cc74006af84a42" /><Relationship Type="http://schemas.openxmlformats.org/officeDocument/2006/relationships/notesMaster" Target="/ppt/notesMasters/notesMaster1.xml" Id="R3f9a5b5cd1f849eb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27f647bdc44049c4" /><Relationship Type="http://schemas.openxmlformats.org/officeDocument/2006/relationships/notesMaster" Target="/ppt/notesMasters/notesMaster1.xml" Id="R087359754b39455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Fassung 3 · 8. September 2026. Für den gemeinsamen Input; Kinder arbeiten mit Papier. Gründe und Daten sind freiwillig.</a:t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Unterrichtsinhalt: technikerleben/d5ur1-wunschbriefe, materialien/bewertung/Anforderungen_Wunschbriefe.md; Schritte 1–7.</a:t>
            </a:r>
            <a:endParaRPr/>
          </a:p>
          <a:p xmlns:a="http://schemas.openxmlformats.org/drawingml/2006/main">
            <a:r>
              <a:t>Hintergrund und Diagramme aus der bestehenden Präsentation des Nutzerprojekts übernommen. Beispieldaten sind erfunden.</a:t>
            </a:r>
            <a:endParaRPr/>
          </a:p>
          <a:p xmlns:a="http://schemas.openxmlformats.org/drawingml/2006/main"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Fassung 3 · 8. September 2026. Für den gemeinsamen Input; Kinder arbeiten mit Papier. Gründe und Daten sind freiwillig.</a:t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Unterrichtsinhalt: technikerleben/d5ur1-wunschbriefe, materialien/bewertung/Anforderungen_Wunschbriefe.md; Schritte 1–7.</a:t>
            </a:r>
            <a:endParaRPr/>
          </a:p>
          <a:p xmlns:a="http://schemas.openxmlformats.org/drawingml/2006/main">
            <a:r>
              <a:t>Hintergrund und Diagramme aus der bestehenden Präsentation des Nutzerprojekts übernommen. Beispieldaten sind erfunden.</a:t>
            </a:r>
            <a:endParaRPr/>
          </a:p>
          <a:p xmlns:a="http://schemas.openxmlformats.org/drawingml/2006/main"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Fassung 3 · 8. September 2026. Für den gemeinsamen Input; Kinder arbeiten mit Papier. Gründe und Daten sind freiwillig.</a:t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Unterrichtsinhalt: technikerleben/d5ur1-wunschbriefe, materialien/bewertung/Anforderungen_Wunschbriefe.md; Schritte 1–7.</a:t>
            </a:r>
            <a:endParaRPr/>
          </a:p>
          <a:p xmlns:a="http://schemas.openxmlformats.org/drawingml/2006/main">
            <a:r>
              <a:t>Hintergrund und Diagramme aus der bestehenden Präsentation des Nutzerprojekts übernommen. Beispieldaten sind erfunden.</a:t>
            </a:r>
            <a:endParaRPr/>
          </a:p>
          <a:p xmlns:a="http://schemas.openxmlformats.org/drawingml/2006/main"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Fassung 3 · 8. September 2026. Für den gemeinsamen Input; Kinder arbeiten mit Papier. Gründe und Daten sind freiwillig.</a:t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Unterrichtsinhalt: technikerleben/d5ur1-wunschbriefe, materialien/bewertung/Anforderungen_Wunschbriefe.md; Schritte 1–7.</a:t>
            </a:r>
            <a:endParaRPr/>
          </a:p>
          <a:p xmlns:a="http://schemas.openxmlformats.org/drawingml/2006/main">
            <a:r>
              <a:t>Hintergrund und Diagramme aus der bestehenden Präsentation des Nutzerprojekts übernommen. Beispieldaten sind erfunden.</a:t>
            </a:r>
            <a:endParaRPr/>
          </a:p>
          <a:p xmlns:a="http://schemas.openxmlformats.org/drawingml/2006/main"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Fassung 3 · 8. September 2026. Für den gemeinsamen Input; Kinder arbeiten mit Papier. Gründe und Daten sind freiwillig.</a:t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Unterrichtsinhalt: technikerleben/d5ur1-wunschbriefe, materialien/bewertung/Anforderungen_Wunschbriefe.md; Schritte 1–7.</a:t>
            </a:r>
            <a:endParaRPr/>
          </a:p>
          <a:p xmlns:a="http://schemas.openxmlformats.org/drawingml/2006/main">
            <a:r>
              <a:t>Hintergrund und Diagramme aus der bestehenden Präsentation des Nutzerprojekts übernommen. Beispieldaten sind erfunden.</a:t>
            </a:r>
            <a:endParaRPr/>
          </a:p>
          <a:p xmlns:a="http://schemas.openxmlformats.org/drawingml/2006/main"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Fassung 3 · 8. September 2026. Für den gemeinsamen Input; Kinder arbeiten mit Papier. Gründe und Daten sind freiwillig.</a:t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Unterrichtsinhalt: technikerleben/d5ur1-wunschbriefe, materialien/bewertung/Anforderungen_Wunschbriefe.md; Schritte 1–7.</a:t>
            </a:r>
            <a:endParaRPr/>
          </a:p>
          <a:p xmlns:a="http://schemas.openxmlformats.org/drawingml/2006/main">
            <a:r>
              <a:t>Hintergrund und Diagramme aus der bestehenden Präsentation des Nutzerprojekts übernommen. Beispieldaten sind erfunden.</a:t>
            </a:r>
            <a:endParaRPr/>
          </a:p>
          <a:p xmlns:a="http://schemas.openxmlformats.org/drawingml/2006/main"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Fassung 3 · 8. September 2026. Für den gemeinsamen Input; Kinder arbeiten mit Papier. Gründe und Daten sind freiwillig.</a:t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Unterrichtsinhalt: technikerleben/d5ur1-wunschbriefe, materialien/bewertung/Anforderungen_Wunschbriefe.md; Schritte 1–7.</a:t>
            </a:r>
            <a:endParaRPr/>
          </a:p>
          <a:p xmlns:a="http://schemas.openxmlformats.org/drawingml/2006/main">
            <a:r>
              <a:t>Hintergrund und Diagramme aus der bestehenden Präsentation des Nutzerprojekts übernommen. Beispieldaten sind erfunden.</a:t>
            </a:r>
            <a:endParaRPr/>
          </a:p>
          <a:p xmlns:a="http://schemas.openxmlformats.org/drawingml/2006/main"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Fassung 3 · 8. September 2026. Für den gemeinsamen Input; Kinder arbeiten mit Papier. Gründe und Daten sind freiwillig.</a:t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Unterrichtsinhalt: technikerleben/d5ur1-wunschbriefe, materialien/bewertung/Anforderungen_Wunschbriefe.md; Schritte 1–7.</a:t>
            </a:r>
            <a:endParaRPr/>
          </a:p>
          <a:p xmlns:a="http://schemas.openxmlformats.org/drawingml/2006/main">
            <a:r>
              <a:t>Hintergrund und Diagramme aus der bestehenden Präsentation des Nutzerprojekts übernommen. Beispieldaten sind erfunden.</a:t>
            </a:r>
            <a:endParaRPr/>
          </a:p>
          <a:p xmlns:a="http://schemas.openxmlformats.org/drawingml/2006/main"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Fassung 3 · 8. September 2026. Für den gemeinsamen Input; Kinder arbeiten mit Papier. Gründe und Daten sind freiwillig.</a:t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Unterrichtsinhalt: technikerleben/d5ur1-wunschbriefe, materialien/bewertung/Anforderungen_Wunschbriefe.md; Schritte 1–7.</a:t>
            </a:r>
            <a:endParaRPr/>
          </a:p>
          <a:p xmlns:a="http://schemas.openxmlformats.org/drawingml/2006/main">
            <a:r>
              <a:t>Hintergrund und Diagramme aus der bestehenden Präsentation des Nutzerprojekts übernommen. Beispieldaten sind erfunden.</a:t>
            </a:r>
            <a:endParaRPr/>
          </a:p>
          <a:p xmlns:a="http://schemas.openxmlformats.org/drawingml/2006/main"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Fassung 3 · 8. September 2026. Für den gemeinsamen Input; Kinder arbeiten mit Papier. Gründe und Daten sind freiwillig.</a:t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Unterrichtsinhalt: technikerleben/d5ur1-wunschbriefe, materialien/bewertung/Anforderungen_Wunschbriefe.md; Schritte 1–7.</a:t>
            </a:r>
            <a:endParaRPr/>
          </a:p>
          <a:p xmlns:a="http://schemas.openxmlformats.org/drawingml/2006/main">
            <a:r>
              <a:t>Hintergrund und Diagramme aus der bestehenden Präsentation des Nutzerprojekts übernommen. Beispieldaten sind erfunden.</a:t>
            </a:r>
            <a:endParaRPr/>
          </a:p>
          <a:p xmlns:a="http://schemas.openxmlformats.org/drawingml/2006/main"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Fassung 3 · 8. September 2026. Für den gemeinsamen Input; Kinder arbeiten mit Papier. Gründe und Daten sind freiwillig.</a:t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Unterrichtsinhalt: technikerleben/d5ur1-wunschbriefe, materialien/bewertung/Anforderungen_Wunschbriefe.md; Schritte 1–7.</a:t>
            </a:r>
            <a:endParaRPr/>
          </a:p>
          <a:p xmlns:a="http://schemas.openxmlformats.org/drawingml/2006/main">
            <a:r>
              <a:t>Hintergrund und Diagramme aus der bestehenden Präsentation des Nutzerprojekts übernommen. Beispieldaten sind erfunden.</a:t>
            </a:r>
            <a:endParaRPr/>
          </a:p>
          <a:p xmlns:a="http://schemas.openxmlformats.org/drawingml/2006/main"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Fassung 3 · 8. September 2026. Für den gemeinsamen Input; Kinder arbeiten mit Papier. Gründe und Daten sind freiwillig.</a:t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Unterrichtsinhalt: technikerleben/d5ur1-wunschbriefe, materialien/bewertung/Anforderungen_Wunschbriefe.md; Schritte 1–7.</a:t>
            </a:r>
            <a:endParaRPr/>
          </a:p>
          <a:p xmlns:a="http://schemas.openxmlformats.org/drawingml/2006/main">
            <a:r>
              <a:t>Hintergrund und Diagramme aus der bestehenden Präsentation des Nutzerprojekts übernommen. Beispieldaten sind erfunden.</a:t>
            </a:r>
            <a:endParaRPr/>
          </a:p>
          <a:p xmlns:a="http://schemas.openxmlformats.org/drawingml/2006/main"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Fassung 3 · 8. September 2026. Für den gemeinsamen Input; Kinder arbeiten mit Papier. Gründe und Daten sind freiwillig.</a:t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Unterrichtsinhalt: technikerleben/d5ur1-wunschbriefe, materialien/bewertung/Anforderungen_Wunschbriefe.md; Schritte 1–7.</a:t>
            </a:r>
            <a:endParaRPr/>
          </a:p>
          <a:p xmlns:a="http://schemas.openxmlformats.org/drawingml/2006/main">
            <a:r>
              <a:t>Hintergrund und Diagramme aus der bestehenden Präsentation des Nutzerprojekts übernommen. Beispieldaten sind erfunden.</a:t>
            </a:r>
            <a:endParaRPr/>
          </a:p>
          <a:p xmlns:a="http://schemas.openxmlformats.org/drawingml/2006/main"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Fassung 3 · 8. September 2026. Für den gemeinsamen Input; Kinder arbeiten mit Papier. Gründe und Daten sind freiwillig.</a:t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Unterrichtsinhalt: technikerleben/d5ur1-wunschbriefe, materialien/bewertung/Anforderungen_Wunschbriefe.md; Schritte 1–7.</a:t>
            </a:r>
            <a:endParaRPr/>
          </a:p>
          <a:p xmlns:a="http://schemas.openxmlformats.org/drawingml/2006/main">
            <a:r>
              <a:t>Hintergrund und Diagramme aus der bestehenden Präsentation des Nutzerprojekts übernommen. Beispieldaten sind erfunden.</a:t>
            </a:r>
            <a:endParaRPr/>
          </a:p>
          <a:p xmlns:a="http://schemas.openxmlformats.org/drawingml/2006/main"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Fassung 3 · 8. September 2026. Für den gemeinsamen Input; Kinder arbeiten mit Papier. Gründe und Daten sind freiwillig.</a:t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Unterrichtsinhalt: technikerleben/d5ur1-wunschbriefe, materialien/bewertung/Anforderungen_Wunschbriefe.md; Schritte 1–7.</a:t>
            </a:r>
            <a:endParaRPr/>
          </a:p>
          <a:p xmlns:a="http://schemas.openxmlformats.org/drawingml/2006/main">
            <a:r>
              <a:t>Hintergrund und Diagramme aus der bestehenden Präsentation des Nutzerprojekts übernommen. Beispieldaten sind erfunden.</a:t>
            </a:r>
            <a:endParaRPr/>
          </a:p>
          <a:p xmlns:a="http://schemas.openxmlformats.org/drawingml/2006/main"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Fassung 3 · 8. September 2026. Für den gemeinsamen Input; Kinder arbeiten mit Papier. Gründe und Daten sind freiwillig.</a:t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Unterrichtsinhalt: technikerleben/d5ur1-wunschbriefe, materialien/bewertung/Anforderungen_Wunschbriefe.md; Schritte 1–7.</a:t>
            </a:r>
            <a:endParaRPr/>
          </a:p>
          <a:p xmlns:a="http://schemas.openxmlformats.org/drawingml/2006/main">
            <a:r>
              <a:t>Hintergrund und Diagramme aus der bestehenden Präsentation des Nutzerprojekts übernommen. Beispieldaten sind erfunden.</a:t>
            </a:r>
            <a:endParaRPr/>
          </a:p>
          <a:p xmlns:a="http://schemas.openxmlformats.org/drawingml/2006/main"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Fassung 3 · 8. September 2026. Für den gemeinsamen Input; Kinder arbeiten mit Papier. Gründe und Daten sind freiwillig.</a:t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Unterrichtsinhalt: technikerleben/d5ur1-wunschbriefe, materialien/bewertung/Anforderungen_Wunschbriefe.md; Schritte 1–7.</a:t>
            </a:r>
            <a:endParaRPr/>
          </a:p>
          <a:p xmlns:a="http://schemas.openxmlformats.org/drawingml/2006/main">
            <a:r>
              <a:t>Hintergrund und Diagramme aus der bestehenden Präsentation des Nutzerprojekts übernommen. Beispieldaten sind erfunden.</a:t>
            </a:r>
            <a:endParaRPr/>
          </a:p>
          <a:p xmlns:a="http://schemas.openxmlformats.org/drawingml/2006/main"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Fassung 3 · 8. September 2026. Für den gemeinsamen Input; Kinder arbeiten mit Papier. Gründe und Daten sind freiwillig.</a:t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Unterrichtsinhalt: technikerleben/d5ur1-wunschbriefe, materialien/bewertung/Anforderungen_Wunschbriefe.md; Schritte 1–7.</a:t>
            </a:r>
            <a:endParaRPr/>
          </a:p>
          <a:p xmlns:a="http://schemas.openxmlformats.org/drawingml/2006/main">
            <a:r>
              <a:t>Hintergrund und Diagramme aus der bestehenden Präsentation des Nutzerprojekts übernommen. Beispieldaten sind erfunden.</a:t>
            </a:r>
            <a:endParaRPr/>
          </a:p>
          <a:p xmlns:a="http://schemas.openxmlformats.org/drawingml/2006/main"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Fassung 3 · 8. September 2026. Für den gemeinsamen Input; Kinder arbeiten mit Papier. Gründe und Daten sind freiwillig.</a:t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Unterrichtsinhalt: technikerleben/d5ur1-wunschbriefe, materialien/bewertung/Anforderungen_Wunschbriefe.md; Schritte 1–7.</a:t>
            </a:r>
            <a:endParaRPr/>
          </a:p>
          <a:p xmlns:a="http://schemas.openxmlformats.org/drawingml/2006/main">
            <a:r>
              <a:t>Hintergrund und Diagramme aus der bestehenden Präsentation des Nutzerprojekts übernommen. Beispieldaten sind erfunden.</a:t>
            </a:r>
            <a:endParaRPr/>
          </a:p>
          <a:p xmlns:a="http://schemas.openxmlformats.org/drawingml/2006/main"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Fassung 3 · 8. September 2026. Für den gemeinsamen Input; Kinder arbeiten mit Papier. Gründe und Daten sind freiwillig.</a:t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Unterrichtsinhalt: technikerleben/d5ur1-wunschbriefe, materialien/bewertung/Anforderungen_Wunschbriefe.md; Schritte 1–7.</a:t>
            </a:r>
            <a:endParaRPr/>
          </a:p>
          <a:p xmlns:a="http://schemas.openxmlformats.org/drawingml/2006/main">
            <a:r>
              <a:t>Hintergrund und Diagramme aus der bestehenden Präsentation des Nutzerprojekts übernommen. Beispieldaten sind erfunden.</a:t>
            </a:r>
            <a:endParaRPr/>
          </a:p>
          <a:p xmlns:a="http://schemas.openxmlformats.org/drawingml/2006/main"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Fassung 3 · 8. September 2026. Für den gemeinsamen Input; Kinder arbeiten mit Papier. Gründe und Daten sind freiwillig.</a:t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Unterrichtsinhalt: technikerleben/d5ur1-wunschbriefe, materialien/bewertung/Anforderungen_Wunschbriefe.md; Schritte 1–7.</a:t>
            </a:r>
            <a:endParaRPr/>
          </a:p>
          <a:p xmlns:a="http://schemas.openxmlformats.org/drawingml/2006/main">
            <a:r>
              <a:t>Hintergrund und Diagramme aus der bestehenden Präsentation des Nutzerprojekts übernommen. Beispieldaten sind erfunden.</a:t>
            </a:r>
            <a:endParaRPr/>
          </a:p>
          <a:p xmlns:a="http://schemas.openxmlformats.org/drawingml/2006/main"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Fassung 3 · 8. September 2026. Für den gemeinsamen Input; Kinder arbeiten mit Papier. Gründe und Daten sind freiwillig.</a:t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Unterrichtsinhalt: technikerleben/d5ur1-wunschbriefe, materialien/bewertung/Anforderungen_Wunschbriefe.md; Schritte 1–7.</a:t>
            </a:r>
            <a:endParaRPr/>
          </a:p>
          <a:p xmlns:a="http://schemas.openxmlformats.org/drawingml/2006/main">
            <a:r>
              <a:t>Hintergrund und Diagramme aus der bestehenden Präsentation des Nutzerprojekts übernommen. Beispieldaten sind erfunden.</a:t>
            </a:r>
            <a:endParaRPr/>
          </a:p>
          <a:p xmlns:a="http://schemas.openxmlformats.org/drawingml/2006/main"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Fassung 3 · 8. September 2026. Für den gemeinsamen Input; Kinder arbeiten mit Papier. Gründe und Daten sind freiwillig.</a:t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Unterrichtsinhalt: technikerleben/d5ur1-wunschbriefe, materialien/bewertung/Anforderungen_Wunschbriefe.md; Schritte 1–7.</a:t>
            </a:r>
            <a:endParaRPr/>
          </a:p>
          <a:p xmlns:a="http://schemas.openxmlformats.org/drawingml/2006/main">
            <a:r>
              <a:t>Hintergrund und Diagramme aus der bestehenden Präsentation des Nutzerprojekts übernommen. Beispieldaten sind erfunden.</a:t>
            </a:r>
            <a:endParaRPr/>
          </a:p>
          <a:p xmlns:a="http://schemas.openxmlformats.org/drawingml/2006/main"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Fassung 3 · 8. September 2026. Für den gemeinsamen Input; Kinder arbeiten mit Papier. Gründe und Daten sind freiwillig.</a:t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Unterrichtsinhalt: technikerleben/d5ur1-wunschbriefe, materialien/bewertung/Anforderungen_Wunschbriefe.md; Schritte 1–7.</a:t>
            </a:r>
            <a:endParaRPr/>
          </a:p>
          <a:p xmlns:a="http://schemas.openxmlformats.org/drawingml/2006/main">
            <a:r>
              <a:t>Hintergrund und Diagramme aus der bestehenden Präsentation des Nutzerprojekts übernommen. Beispieldaten sind erfunden.</a:t>
            </a:r>
            <a:endParaRPr/>
          </a:p>
          <a:p xmlns:a="http://schemas.openxmlformats.org/drawingml/2006/main"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347758c89614730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bcc7166765244ef" /><Relationship Type="http://schemas.openxmlformats.org/officeDocument/2006/relationships/slideLayout" Target="/ppt/slideLayouts/slideLayout1.xml" Id="R535a5f997eea454f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35a5f997eea454f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92f4d133484855" /><Relationship Type="http://schemas.openxmlformats.org/officeDocument/2006/relationships/image" Target="/ppt/media/image.png" Id="R356303dc97624967" /><Relationship Type="http://schemas.openxmlformats.org/officeDocument/2006/relationships/notesSlide" Target="/ppt/notesSlides/notesSlide1.xml" Id="R5d8e6db7ee0340a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74360a07464172" /><Relationship Type="http://schemas.openxmlformats.org/officeDocument/2006/relationships/image" Target="/ppt/media/image2.png" Id="R0038271866f8444b" /><Relationship Type="http://schemas.openxmlformats.org/officeDocument/2006/relationships/notesSlide" Target="/ppt/notesSlides/notesSlide2.xml" Id="R123549a954b5408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3b05972f154eb4" /><Relationship Type="http://schemas.openxmlformats.org/officeDocument/2006/relationships/image" Target="/ppt/media/image3.png" Id="R8de844f964eb402f" /><Relationship Type="http://schemas.openxmlformats.org/officeDocument/2006/relationships/notesSlide" Target="/ppt/notesSlides/notesSlide3.xml" Id="R3e7d9eaecba14a7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593559e0174c61" /><Relationship Type="http://schemas.openxmlformats.org/officeDocument/2006/relationships/image" Target="/ppt/media/image4.png" Id="R988df44600d84760" /><Relationship Type="http://schemas.openxmlformats.org/officeDocument/2006/relationships/notesSlide" Target="/ppt/notesSlides/notesSlide4.xml" Id="Rc46ae61cf8ec413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d4cc6ab80049cb" /><Relationship Type="http://schemas.openxmlformats.org/officeDocument/2006/relationships/image" Target="/ppt/media/image5.png" Id="Re36191e7173a47bd" /><Relationship Type="http://schemas.openxmlformats.org/officeDocument/2006/relationships/notesSlide" Target="/ppt/notesSlides/notesSlide5.xml" Id="Re7274334c6ec457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33746eb0c84b7b" /><Relationship Type="http://schemas.openxmlformats.org/officeDocument/2006/relationships/chart" Target="/ppt/slides/charts/chart1.xml" Id="R3521ae587751498a" /><Relationship Type="http://schemas.openxmlformats.org/officeDocument/2006/relationships/image" Target="/ppt/media/image6.png" Id="Rf012d017fc424744" /><Relationship Type="http://schemas.openxmlformats.org/officeDocument/2006/relationships/notesSlide" Target="/ppt/notesSlides/notesSlide6.xml" Id="Rb4f58b4f1819462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267b1e40bd468b" /><Relationship Type="http://schemas.openxmlformats.org/officeDocument/2006/relationships/image" Target="/ppt/media/image7.png" Id="R22d064f2bcdd4f22" /><Relationship Type="http://schemas.openxmlformats.org/officeDocument/2006/relationships/notesSlide" Target="/ppt/notesSlides/notesSlide7.xml" Id="Rabf4b53968ac4f7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85b641228d4e92" /><Relationship Type="http://schemas.openxmlformats.org/officeDocument/2006/relationships/image" Target="/ppt/media/image8.png" Id="Rbaa32a8499b84156" /><Relationship Type="http://schemas.openxmlformats.org/officeDocument/2006/relationships/notesSlide" Target="/ppt/notesSlides/notesSlide8.xml" Id="Rd28323f9410447b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05978f6aad4557" /><Relationship Type="http://schemas.openxmlformats.org/officeDocument/2006/relationships/image" Target="/ppt/media/image9.png" Id="R7034b6b505204a07" /><Relationship Type="http://schemas.openxmlformats.org/officeDocument/2006/relationships/notesSlide" Target="/ppt/notesSlides/notesSlide9.xml" Id="R25ed08f6add8453d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7b396811d14573" /><Relationship Type="http://schemas.openxmlformats.org/officeDocument/2006/relationships/image" Target="/ppt/media/image10.png" Id="Rdcecf3888ec24f43" /><Relationship Type="http://schemas.openxmlformats.org/officeDocument/2006/relationships/notesSlide" Target="/ppt/notesSlides/notesSlide10.xml" Id="R8c06d3133a0b47e8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613e88032342c3" /><Relationship Type="http://schemas.openxmlformats.org/officeDocument/2006/relationships/image" Target="/ppt/media/image11.png" Id="R60151298794e49cc" /><Relationship Type="http://schemas.openxmlformats.org/officeDocument/2006/relationships/notesSlide" Target="/ppt/notesSlides/notesSlide11.xml" Id="R90ee3c9bc96a4b11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8c6cea2b954914" /><Relationship Type="http://schemas.openxmlformats.org/officeDocument/2006/relationships/image" Target="/ppt/media/image12.png" Id="R8f780f4fe8b747e8" /><Relationship Type="http://schemas.openxmlformats.org/officeDocument/2006/relationships/notesSlide" Target="/ppt/notesSlides/notesSlide12.xml" Id="Rb9abfbd02449425c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c82d00e78046bf" /><Relationship Type="http://schemas.openxmlformats.org/officeDocument/2006/relationships/chart" Target="/ppt/slides/charts/chart2.xml" Id="R46c96b0a550743fb" /><Relationship Type="http://schemas.openxmlformats.org/officeDocument/2006/relationships/image" Target="/ppt/media/image13.png" Id="R99b91d44272b42df" /><Relationship Type="http://schemas.openxmlformats.org/officeDocument/2006/relationships/notesSlide" Target="/ppt/notesSlides/notesSlide13.xml" Id="Rb14454e881b34184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534da4467c4e24" /><Relationship Type="http://schemas.openxmlformats.org/officeDocument/2006/relationships/image" Target="/ppt/media/image14.png" Id="R9e9f357d85314477" /><Relationship Type="http://schemas.openxmlformats.org/officeDocument/2006/relationships/notesSlide" Target="/ppt/notesSlides/notesSlide14.xml" Id="R79410a488f824df5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1301fd53a7485f" /><Relationship Type="http://schemas.openxmlformats.org/officeDocument/2006/relationships/image" Target="/ppt/media/image15.png" Id="R2517bae5422a40ff" /><Relationship Type="http://schemas.openxmlformats.org/officeDocument/2006/relationships/notesSlide" Target="/ppt/notesSlides/notesSlide15.xml" Id="R27fceb49c3764861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4e73080f694fc4" /><Relationship Type="http://schemas.openxmlformats.org/officeDocument/2006/relationships/image" Target="/ppt/media/image16.png" Id="R220539767aab4005" /><Relationship Type="http://schemas.openxmlformats.org/officeDocument/2006/relationships/notesSlide" Target="/ppt/notesSlides/notesSlide16.xml" Id="Rb8b91d7587d7422c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093353d62a4d03" /><Relationship Type="http://schemas.openxmlformats.org/officeDocument/2006/relationships/image" Target="/ppt/media/image17.png" Id="R242bb11875c14090" /><Relationship Type="http://schemas.openxmlformats.org/officeDocument/2006/relationships/notesSlide" Target="/ppt/notesSlides/notesSlide17.xml" Id="R4ee47c2e199f40e8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31271d7d0b43a6" /><Relationship Type="http://schemas.openxmlformats.org/officeDocument/2006/relationships/image" Target="/ppt/media/image18.png" Id="Rd80ed2234160411f" /><Relationship Type="http://schemas.openxmlformats.org/officeDocument/2006/relationships/notesSlide" Target="/ppt/notesSlides/notesSlide18.xml" Id="R35df724c71034917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151d2c8e974bbb" /><Relationship Type="http://schemas.openxmlformats.org/officeDocument/2006/relationships/image" Target="/ppt/media/image19.png" Id="Rcea45dcc47d6482a" /><Relationship Type="http://schemas.openxmlformats.org/officeDocument/2006/relationships/notesSlide" Target="/ppt/notesSlides/notesSlide19.xml" Id="R61806a9b54b54daf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d7f7304f1d4470" /><Relationship Type="http://schemas.openxmlformats.org/officeDocument/2006/relationships/image" Target="/ppt/media/image20.png" Id="Rd4d6a86360064fdc" /><Relationship Type="http://schemas.openxmlformats.org/officeDocument/2006/relationships/notesSlide" Target="/ppt/notesSlides/notesSlide20.xml" Id="Rc5d96c5e15ba4e1f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0d2179c8f24d8e" /><Relationship Type="http://schemas.openxmlformats.org/officeDocument/2006/relationships/image" Target="/ppt/media/image21.png" Id="R8820de90baca4e68" /><Relationship Type="http://schemas.openxmlformats.org/officeDocument/2006/relationships/notesSlide" Target="/ppt/notesSlides/notesSlide21.xml" Id="R9fb517efaa5b4f16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d29761baca4f4c" /><Relationship Type="http://schemas.openxmlformats.org/officeDocument/2006/relationships/image" Target="/ppt/media/image22.png" Id="Ra72f31f56bef4250" /><Relationship Type="http://schemas.openxmlformats.org/officeDocument/2006/relationships/notesSlide" Target="/ppt/notesSlides/notesSlide22.xml" Id="R5d36b8460f2c42bc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793db5583a64830" /><Relationship Type="http://schemas.openxmlformats.org/officeDocument/2006/relationships/image" Target="/ppt/media/image23.png" Id="Rd3030a2853774e77" /><Relationship Type="http://schemas.openxmlformats.org/officeDocument/2006/relationships/notesSlide" Target="/ppt/notesSlides/notesSlide23.xml" Id="R5e796ed0bcfb4ffb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2b14b6994d4e10" /><Relationship Type="http://schemas.openxmlformats.org/officeDocument/2006/relationships/image" Target="/ppt/media/image24.png" Id="R6dee379e7b5f427a" /><Relationship Type="http://schemas.openxmlformats.org/officeDocument/2006/relationships/notesSlide" Target="/ppt/notesSlides/notesSlide24.xml" Id="R7d83920f0b3642f4" /></Relationships>
</file>

<file path=ppt/slides/charts/chart1.xml><?xml version="1.0" encoding="utf-8"?>
<c:chartSpace xmlns:c="http://schemas.openxmlformats.org/drawingml/2006/chart">
  <c:lang val="en-US"/>
  <c:roundedCorners val="1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Kinder</c:v>
                </c:pt>
              </c:strCache>
            </c:strRef>
          </c:tx>
          <c:spPr>
            <a:solidFill xmlns:a="http://schemas.openxmlformats.org/drawingml/2006/main">
              <a:srgbClr val="3E5668"/>
            </a:solidFill>
          </c:spPr>
          <c:dLbls>
            <c:numFmt formatCode="#,##0" sourceLinked="0"/>
            <c:txPr>
              <a:bodyPr xmlns:a="http://schemas.openxmlformats.org/drawingml/2006/main" anchorCtr="1"/>
              <a:lstStyle xmlns:a="http://schemas.openxmlformats.org/drawingml/2006/main"/>
              <a:p xmlns:a="http://schemas.openxmlformats.org/drawingml/2006/main">
                <a:pPr>
                  <a:defRPr sz="1200" b="0" i="0" u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Spieleausleihe</c:v>
                </c:pt>
                <c:pt idx="1">
                  <c:v>neue Bälle</c:v>
                </c:pt>
                <c:pt idx="2">
                  <c:v>ruhiger Pausenraum</c:v>
                </c:pt>
                <c:pt idx="3">
                  <c:v>Sitzplätze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18</c:v>
                </c:pt>
                <c:pt idx="1">
                  <c:v>15</c:v>
                </c:pt>
                <c:pt idx="2">
                  <c:v>9</c:v>
                </c:pt>
                <c:pt idx="3">
                  <c:v>12</c:v>
                </c:pt>
              </c:numCache>
            </c:numRef>
          </c:val>
        </c:ser>
        <c:dLbls>
          <c:numFmt formatCode="#,##0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 b="0" i="0" u="none">
                  <a:solidFill>
                    <a:srgbClr val="000000"/>
                  </a:solidFill>
                  <a:latin typeface="Arial"/>
                  <a:ea typeface="Arial"/>
                  <a:cs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xmlns:a="http://schemas.openxmlformats.org/drawingml/2006/main" w="12700">
            <a:solidFill>
              <a:srgbClr val="888888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 b="0" i="0" u="none">
                <a:solidFill>
                  <a:srgbClr val="000000"/>
                </a:solidFill>
                <a:latin typeface="Aptos"/>
                <a:ea typeface="Aptos"/>
                <a:cs typeface="Aptos"/>
              </a:defRPr>
            </a:pPr>
          </a:p>
        </c:txPr>
        <c:crossAx val="2094734552"/>
        <c:crosses val="autoZero"/>
      </c:catAx>
      <c:valAx>
        <c:axId val="2094734552"/>
        <c:scaling>
          <c:orientation val="minMax"/>
          <c:max val="26"/>
          <c:min val="0"/>
        </c:scaling>
        <c:delete val="0"/>
        <c:axPos val="l"/>
        <c:majorGridlines>
          <c:spPr>
            <a:ln xmlns:a="http://schemas.openxmlformats.org/drawingml/2006/main" w="12700">
              <a:solidFill>
                <a:srgbClr val="888888"/>
              </a:solidFill>
              <a:prstDash val="solid"/>
            </a:ln>
          </c:spPr>
        </c:majorGridlines>
        <c:numFmt formatCode="General" sourceLinked="0"/>
        <c:majorTickMark val="out"/>
        <c:minorTickMark val="none"/>
        <c:tickLblPos val="nextTo"/>
        <c:spPr>
          <a:ln xmlns:a="http://schemas.openxmlformats.org/drawingml/2006/main" w="12700">
            <a:solidFill>
              <a:srgbClr val="888888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 b="0" i="0" u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</a:p>
        </c:txPr>
        <c:crossAx val="2094734554"/>
        <c:crosses val="autoZero"/>
        <c:crossBetween val="between"/>
        <c:majorUnit val="5"/>
      </c:valAx>
      <c:spPr>
        <a:noFill xmlns:a="http://schemas.openxmlformats.org/drawingml/2006/main"/>
        <a:ln xmlns:a="http://schemas.openxmlformats.org/drawingml/2006/main">
          <a:noFill/>
        </a:ln>
      </c:spPr>
    </c:plotArea>
    <c:plotVisOnly val="1"/>
  </c:chart>
  <c:spPr>
    <a:noFill xmlns:a="http://schemas.openxmlformats.org/drawingml/2006/main"/>
    <a:ln xmlns:a="http://schemas.openxmlformats.org/drawingml/2006/main">
      <a:noFill/>
    </a:ln>
  </c:spPr>
</c:chartSpace>
</file>

<file path=ppt/slides/charts/chart2.xml><?xml version="1.0" encoding="utf-8"?>
<c:chartSpace xmlns:c="http://schemas.openxmlformats.org/drawingml/2006/chart">
  <c:lang val="en-US"/>
  <c:roundedCorners val="1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Kinder</c:v>
                </c:pt>
              </c:strCache>
            </c:strRef>
          </c:tx>
          <c:spPr>
            <a:solidFill xmlns:a="http://schemas.openxmlformats.org/drawingml/2006/main">
              <a:srgbClr val="3E5668"/>
            </a:solidFill>
          </c:spPr>
          <c:dLbls>
            <c:numFmt formatCode="#,##0" sourceLinked="0"/>
            <c:txPr>
              <a:bodyPr xmlns:a="http://schemas.openxmlformats.org/drawingml/2006/main" anchorCtr="1"/>
              <a:lstStyle xmlns:a="http://schemas.openxmlformats.org/drawingml/2006/main"/>
              <a:p xmlns:a="http://schemas.openxmlformats.org/drawingml/2006/main">
                <a:pPr>
                  <a:defRPr sz="1200" b="0" i="0" u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Leseecke</c:v>
                </c:pt>
                <c:pt idx="1">
                  <c:v>Pflanzen</c:v>
                </c:pt>
                <c:pt idx="2">
                  <c:v>Ablagefächer</c:v>
                </c:pt>
                <c:pt idx="3">
                  <c:v>Sitzplätze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17</c:v>
                </c:pt>
                <c:pt idx="1">
                  <c:v>11</c:v>
                </c:pt>
                <c:pt idx="2">
                  <c:v>20</c:v>
                </c:pt>
                <c:pt idx="3">
                  <c:v>14</c:v>
                </c:pt>
              </c:numCache>
            </c:numRef>
          </c:val>
        </c:ser>
        <c:dLbls>
          <c:numFmt formatCode="#,##0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 b="0" i="0" u="none">
                  <a:solidFill>
                    <a:srgbClr val="000000"/>
                  </a:solidFill>
                  <a:latin typeface="Arial"/>
                  <a:ea typeface="Arial"/>
                  <a:cs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xmlns:a="http://schemas.openxmlformats.org/drawingml/2006/main" w="12700">
            <a:solidFill>
              <a:srgbClr val="888888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 b="0" i="0" u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</a:p>
        </c:txPr>
        <c:crossAx val="2094734552"/>
        <c:crosses val="autoZero"/>
      </c:catAx>
      <c:valAx>
        <c:axId val="2094734552"/>
        <c:scaling>
          <c:orientation val="minMax"/>
          <c:max val="26"/>
          <c:min val="0"/>
        </c:scaling>
        <c:delete val="0"/>
        <c:axPos val="l"/>
        <c:majorGridlines>
          <c:spPr>
            <a:ln xmlns:a="http://schemas.openxmlformats.org/drawingml/2006/main" w="12700">
              <a:solidFill>
                <a:srgbClr val="888888"/>
              </a:solidFill>
              <a:prstDash val="solid"/>
            </a:ln>
          </c:spPr>
        </c:majorGridlines>
        <c:numFmt formatCode="General" sourceLinked="0"/>
        <c:majorTickMark val="out"/>
        <c:minorTickMark val="none"/>
        <c:tickLblPos val="nextTo"/>
        <c:spPr>
          <a:ln xmlns:a="http://schemas.openxmlformats.org/drawingml/2006/main" w="12700">
            <a:solidFill>
              <a:srgbClr val="888888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 b="0" i="0" u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</a:p>
        </c:txPr>
        <c:crossAx val="2094734554"/>
        <c:crosses val="autoZero"/>
        <c:crossBetween val="between"/>
        <c:majorUnit val="5"/>
      </c:valAx>
      <c:spPr>
        <a:noFill xmlns:a="http://schemas.openxmlformats.org/drawingml/2006/main"/>
        <a:ln xmlns:a="http://schemas.openxmlformats.org/drawingml/2006/main">
          <a:noFill/>
        </a:ln>
      </c:spPr>
    </c:plotArea>
    <c:plotVisOnly val="1"/>
  </c:chart>
  <c:spPr>
    <a:noFill xmlns:a="http://schemas.openxmlformats.org/drawingml/2006/main"/>
    <a:ln xmlns:a="http://schemas.openxmlformats.org/drawingml/2006/main">
      <a:noFill/>
    </a:ln>
  </c:spPr>
</c:chartSpace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Shape 0">
            <a:extLst xmlns:a="http://schemas.openxmlformats.org/drawingml/2006/main">
              <a:ext uri="{FF2B5EF4-FFF2-40B4-BE49-F238E27FC236}">
                <a16:creationId xmlns:a16="http://schemas.microsoft.com/office/drawing/2014/main" id="{3CF7640E-D40A-4A86-AD85-4613D85C6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73E6D490-DD20-4819-B321-51B9E4133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13232"/>
            <a:ext cx="56692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245688"/>
                </a:solidFill>
                <a:latin typeface="Aptos Display"/>
                <a:ea typeface="Aptos Display"/>
                <a:cs typeface="Aptos Display"/>
              </a:rPr>
              <a:t>Impuls-Präsentationen</a:t>
            </a:r>
            <a:endParaRPr sz="3000"/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89225F69-1A47-4D63-9767-FBA1178B3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71600"/>
            <a:ext cx="6035040" cy="1417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4200" b="1">
                <a:solidFill>
                  <a:srgbClr val="203444"/>
                </a:solidFill>
                <a:latin typeface="Aptos Display"/>
                <a:ea typeface="Aptos Display"/>
                <a:cs typeface="Aptos Display"/>
              </a:rPr>
              <a:t>Unsere Wünsche</a:t>
            </a:r>
            <a:endParaRPr sz="4200"/>
          </a:p>
          <a:p xmlns:a="http://schemas.openxmlformats.org/drawingml/2006/main">
            <a:pPr marL="0" indent="0">
              <a:buNone/>
            </a:pPr>
            <a:r>
              <a:rPr sz="4200" b="1">
                <a:solidFill>
                  <a:srgbClr val="203444"/>
                </a:solidFill>
                <a:latin typeface="Aptos Display"/>
                <a:ea typeface="Aptos Display"/>
                <a:cs typeface="Aptos Display"/>
              </a:rPr>
              <a:t>für die neue Schule</a:t>
            </a:r>
            <a:endParaRPr sz="4200"/>
          </a:p>
        </p:txBody>
      </p:sp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B39FEF47-8AD4-4D59-A26C-8DF947157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3044952"/>
            <a:ext cx="4343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7A4A"/>
            </a:solidFill>
            <a:prstDash val="solid"/>
          </a:ln>
        </p:spPr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E07CC45F-E52F-4932-8F1F-76DEA9F4A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3246120"/>
            <a:ext cx="62179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1800" b="0">
                <a:solidFill>
                  <a:srgbClr val="203444"/>
                </a:solidFill>
                <a:latin typeface="Aptos"/>
                <a:ea typeface="Aptos"/>
                <a:cs typeface="Aptos"/>
              </a:rPr>
              <a:t>Deutsch 5 · Wunschbriefe · Daten als freiwilliger Zusatz</a:t>
            </a:r>
          </a:p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2528209F-F8ED-470A-8BF7-F0F90BFEC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5961888"/>
            <a:ext cx="84124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245688"/>
                </a:solidFill>
              </a:rPr>
              <a:t>Input → Übung → Vertiefung → Probearbeit → Projekte → Lernerfolgskontrolle (Arbeit)</a:t>
            </a:r>
            <a:endParaRPr sz="1300"/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90D4BBFF-6FA5-4330-A946-9F15D4B3A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437376"/>
            <a:ext cx="649224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245688"/>
                </a:solidFill>
              </a:rPr>
              <a:t>Startfolie</a:t>
            </a:r>
            <a:endParaRPr sz="850"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7DE90348-7614-49A1-92FD-2F5C4A09C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0" y="6419088"/>
            <a:ext cx="29718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48DCCB"/>
                </a:solidFill>
              </a:rPr>
              <a:t>Planung → Durchführung → Reflexion</a:t>
            </a:r>
            <a:endParaRPr sz="950"/>
          </a:p>
        </p:txBody>
      </p:sp>
      <p:sp>
        <p:nvSpPr>
          <p:cNvPr id="11" name="Otterklasse Rahmen">
            <a:extLst xmlns:a="http://schemas.openxmlformats.org/drawingml/2006/main">
              <a:ext uri="{FF2B5EF4-FFF2-40B4-BE49-F238E27FC236}">
                <a16:creationId xmlns:a16="http://schemas.microsoft.com/office/drawing/2014/main" id="{66E30B91-865A-49A4-8120-866342211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95250"/>
            <a:ext cx="12001500" cy="666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245688"/>
            </a:solidFill>
            <a:prstDash val="solid"/>
          </a:ln>
        </p:spPr>
      </p:sp>
      <p:sp>
        <p:nvSpPr>
          <p:cNvPr id="12" name="Akzent Orange">
            <a:extLst xmlns:a="http://schemas.openxmlformats.org/drawingml/2006/main">
              <a:ext uri="{FF2B5EF4-FFF2-40B4-BE49-F238E27FC236}">
                <a16:creationId xmlns:a16="http://schemas.microsoft.com/office/drawing/2014/main" id="{27AED3DE-384C-4723-8871-E47ACF2EE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95250"/>
            <a:ext cx="571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A66F"/>
          </a:solidFill>
          <a:ln xmlns:a="http://schemas.openxmlformats.org/drawingml/2006/main" w="0">
            <a:solidFill>
              <a:srgbClr val="F0A66F"/>
            </a:solidFill>
            <a:prstDash val="solid"/>
          </a:ln>
        </p:spPr>
      </p:sp>
      <p:sp>
        <p:nvSpPr>
          <p:cNvPr id="13" name="Akzent Mint">
            <a:extLst xmlns:a="http://schemas.openxmlformats.org/drawingml/2006/main">
              <a:ext uri="{FF2B5EF4-FFF2-40B4-BE49-F238E27FC236}">
                <a16:creationId xmlns:a16="http://schemas.microsoft.com/office/drawing/2014/main" id="{6CE15BD5-CB36-4354-9429-A37881CB1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39600" y="6019800"/>
            <a:ext cx="571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8DCCB"/>
          </a:solidFill>
          <a:ln xmlns:a="http://schemas.openxmlformats.org/drawingml/2006/main" w="0">
            <a:solidFill>
              <a:srgbClr val="48DCCB"/>
            </a:solidFill>
            <a:prstDash val="solid"/>
          </a:ln>
        </p:spPr>
      </p:sp>
      <p:sp>
        <p:nvSpPr>
          <p:cNvPr id="14" name="Otter Bildfeld">
            <a:extLst xmlns:a="http://schemas.openxmlformats.org/drawingml/2006/main">
              <a:ext uri="{FF2B5EF4-FFF2-40B4-BE49-F238E27FC236}">
                <a16:creationId xmlns:a16="http://schemas.microsoft.com/office/drawing/2014/main" id="{90619CDD-EB7C-4F81-920E-C3EDE7258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685800"/>
            <a:ext cx="4095750" cy="4953000"/>
          </a:xfrm>
          <a:prstGeom xmlns:a="http://schemas.openxmlformats.org/drawingml/2006/main" prst="roundRect">
            <a:avLst>
              <a:gd name="adj" fmla="val 5581"/>
            </a:avLst>
          </a:prstGeom>
          <a:solidFill xmlns:a="http://schemas.openxmlformats.org/drawingml/2006/main">
            <a:srgbClr val="DCECF8"/>
          </a:solidFill>
          <a:ln xmlns:a="http://schemas.openxmlformats.org/drawingml/2006/main" w="9525">
            <a:solidFill>
              <a:srgbClr val="245688"/>
            </a:solidFill>
            <a:prstDash val="solid"/>
          </a:ln>
        </p:spPr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56303dc97624967"/>
          <a:stretch xmlns:a="http://schemas.openxmlformats.org/drawingml/2006/main"/>
        </p:blipFill>
        <p:spPr>
          <a:xfrm xmlns:a="http://schemas.openxmlformats.org/drawingml/2006/main">
            <a:off x="7667625" y="1743097"/>
            <a:ext cx="3238500" cy="2609807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4811363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Shape 0">
            <a:extLst xmlns:a="http://schemas.openxmlformats.org/drawingml/2006/main">
              <a:ext uri="{FF2B5EF4-FFF2-40B4-BE49-F238E27FC236}">
                <a16:creationId xmlns:a16="http://schemas.microsoft.com/office/drawing/2014/main" id="{B8B5E260-7F4D-4593-9E54-B802BEEB9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4" name="Shape 1">
            <a:extLst xmlns:a="http://schemas.openxmlformats.org/drawingml/2006/main">
              <a:ext uri="{FF2B5EF4-FFF2-40B4-BE49-F238E27FC236}">
                <a16:creationId xmlns:a16="http://schemas.microsoft.com/office/drawing/2014/main" id="{388618FB-4E85-4A53-8681-6631093E7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7472"/>
            <a:ext cx="11173968" cy="6144768"/>
          </a:xfrm>
          <a:prstGeom xmlns:a="http://schemas.openxmlformats.org/drawingml/2006/main" prst="roundRect">
            <a:avLst>
              <a:gd name="adj" fmla="val 279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24568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739479EE-41B7-4F59-B3CB-98CE026ED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676656"/>
            <a:ext cx="6995160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900" b="1">
                <a:solidFill>
                  <a:srgbClr val="2C3D4C"/>
                </a:solidFill>
                <a:latin typeface="Aptos Display"/>
                <a:ea typeface="Aptos Display"/>
                <a:cs typeface="Aptos Display"/>
              </a:rPr>
              <a:t>Der Lernweg dieser Reihe</a:t>
            </a:r>
            <a:endParaRPr sz="2900"/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A46E257B-FC46-4DB3-B65D-A7077E489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170432"/>
            <a:ext cx="7223760" cy="2834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1350" b="0">
                <a:solidFill>
                  <a:srgbClr val="3E5668"/>
                </a:solidFill>
                <a:latin typeface="Aptos"/>
                <a:ea typeface="Aptos"/>
                <a:cs typeface="Aptos"/>
              </a:rPr>
              <a:t>Dein Papierlernweg zeigt dir den nächsten Schritt.</a:t>
            </a:r>
          </a:p>
        </p:txBody>
      </p:sp>
      <p:sp>
        <p:nvSpPr>
          <p:cNvPr id="7" name="Shape 4">
            <a:extLst xmlns:a="http://schemas.openxmlformats.org/drawingml/2006/main">
              <a:ext uri="{FF2B5EF4-FFF2-40B4-BE49-F238E27FC236}">
                <a16:creationId xmlns:a16="http://schemas.microsoft.com/office/drawing/2014/main" id="{74727E02-58E9-492F-A5DB-D19496AA0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194560"/>
            <a:ext cx="1325880" cy="914400"/>
          </a:xfrm>
          <a:prstGeom xmlns:a="http://schemas.openxmlformats.org/drawingml/2006/main" prst="roundRect">
            <a:avLst>
              <a:gd name="adj" fmla="val 13000"/>
            </a:avLst>
          </a:prstGeom>
          <a:solidFill xmlns:a="http://schemas.openxmlformats.org/drawingml/2006/main">
            <a:srgbClr val="3E5668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D7871130-E3AA-4A32-853F-A959115C2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832" y="2404872"/>
            <a:ext cx="1179576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FFFFFF"/>
                </a:solidFill>
              </a:rPr>
              <a:t>Input</a:t>
            </a:r>
            <a:endParaRPr sz="1450"/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F713CD60-5D37-479E-9AB9-64593BCC0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1992" y="2423160"/>
            <a:ext cx="292608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300" b="1">
                <a:solidFill>
                  <a:srgbClr val="D97A4A"/>
                </a:solidFill>
              </a:rPr>
              <a:t>→</a:t>
            </a:r>
            <a:endParaRPr sz="2300"/>
          </a:p>
        </p:txBody>
      </p:sp>
      <p:sp>
        <p:nvSpPr>
          <p:cNvPr id="10" name="Shape 7">
            <a:extLst xmlns:a="http://schemas.openxmlformats.org/drawingml/2006/main">
              <a:ext uri="{FF2B5EF4-FFF2-40B4-BE49-F238E27FC236}">
                <a16:creationId xmlns:a16="http://schemas.microsoft.com/office/drawing/2014/main" id="{27A4C467-3E36-4CCF-B2E8-5E55B96E9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6040" y="2194560"/>
            <a:ext cx="1325880" cy="914400"/>
          </a:xfrm>
          <a:prstGeom xmlns:a="http://schemas.openxmlformats.org/drawingml/2006/main" prst="roundRect">
            <a:avLst>
              <a:gd name="adj" fmla="val 13000"/>
            </a:avLst>
          </a:prstGeom>
          <a:solidFill xmlns:a="http://schemas.openxmlformats.org/drawingml/2006/main">
            <a:srgbClr val="3E5668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E920DF4A-C8D0-4C27-A329-39B66DAE6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9192" y="2404872"/>
            <a:ext cx="1179576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FFFFFF"/>
                </a:solidFill>
              </a:rPr>
              <a:t>Übung</a:t>
            </a:r>
            <a:endParaRPr sz="1450"/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B5D3760A-D15A-49AD-8F21-ACDB2883C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9352" y="2423160"/>
            <a:ext cx="292608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300" b="1">
                <a:solidFill>
                  <a:srgbClr val="D97A4A"/>
                </a:solidFill>
              </a:rPr>
              <a:t>→</a:t>
            </a:r>
            <a:endParaRPr sz="2300"/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3BF48A12-4E2D-413B-8E3C-E8EB35934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194560"/>
            <a:ext cx="1325880" cy="914400"/>
          </a:xfrm>
          <a:prstGeom xmlns:a="http://schemas.openxmlformats.org/drawingml/2006/main" prst="roundRect">
            <a:avLst>
              <a:gd name="adj" fmla="val 13000"/>
            </a:avLst>
          </a:prstGeom>
          <a:solidFill xmlns:a="http://schemas.openxmlformats.org/drawingml/2006/main">
            <a:srgbClr val="3E5668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6CB37D2C-A22D-421D-8A62-BA998B361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6552" y="2404872"/>
            <a:ext cx="1179576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FFFFFF"/>
                </a:solidFill>
              </a:rPr>
              <a:t>Vertiefung</a:t>
            </a:r>
            <a:endParaRPr sz="1450"/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5797246F-4BC1-4D19-AF51-02E63A224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6712" y="2423160"/>
            <a:ext cx="292608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300" b="1">
                <a:solidFill>
                  <a:srgbClr val="D97A4A"/>
                </a:solidFill>
              </a:rPr>
              <a:t>→</a:t>
            </a:r>
            <a:endParaRPr sz="2300"/>
          </a:p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0DEA1D54-3901-43C2-843B-DFDAA7A47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0760" y="2194560"/>
            <a:ext cx="1325880" cy="914400"/>
          </a:xfrm>
          <a:prstGeom xmlns:a="http://schemas.openxmlformats.org/drawingml/2006/main" prst="roundRect">
            <a:avLst>
              <a:gd name="adj" fmla="val 13000"/>
            </a:avLst>
          </a:prstGeom>
          <a:solidFill xmlns:a="http://schemas.openxmlformats.org/drawingml/2006/main">
            <a:srgbClr val="3E5668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602FE41F-4C21-4F68-A741-DC932445F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912" y="2404872"/>
            <a:ext cx="1179576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FFFFFF"/>
                </a:solidFill>
              </a:rPr>
              <a:t>Probearbeit</a:t>
            </a:r>
            <a:endParaRPr sz="1450"/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DD03691F-E7FC-48E2-A223-B477B16FB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4072" y="2423160"/>
            <a:ext cx="292608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300" b="1">
                <a:solidFill>
                  <a:srgbClr val="D97A4A"/>
                </a:solidFill>
              </a:rPr>
              <a:t>→</a:t>
            </a:r>
            <a:endParaRPr sz="2300"/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BC513934-FA38-4EFF-BE67-DBD83ACFD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8120" y="2194560"/>
            <a:ext cx="1325880" cy="914400"/>
          </a:xfrm>
          <a:prstGeom xmlns:a="http://schemas.openxmlformats.org/drawingml/2006/main" prst="roundRect">
            <a:avLst>
              <a:gd name="adj" fmla="val 13000"/>
            </a:avLst>
          </a:prstGeom>
          <a:solidFill xmlns:a="http://schemas.openxmlformats.org/drawingml/2006/main">
            <a:srgbClr val="F4E9D5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D7E91AB3-64D6-4EFF-9756-B77C992AC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2" y="2404872"/>
            <a:ext cx="1179576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2C3D4C"/>
                </a:solidFill>
              </a:rPr>
              <a:t>Projekte</a:t>
            </a:r>
            <a:endParaRPr sz="1450"/>
          </a:p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27EE3BF2-A703-4273-B82B-A4EF92D26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71432" y="2423160"/>
            <a:ext cx="292608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300" b="1">
                <a:solidFill>
                  <a:srgbClr val="D97A4A"/>
                </a:solidFill>
              </a:rPr>
              <a:t>→</a:t>
            </a:r>
            <a:endParaRPr sz="2300"/>
          </a:p>
        </p:txBody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B3EF2859-9600-403E-AED2-7397EF8C8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55480" y="2194560"/>
            <a:ext cx="1325880" cy="914400"/>
          </a:xfrm>
          <a:prstGeom xmlns:a="http://schemas.openxmlformats.org/drawingml/2006/main" prst="roundRect">
            <a:avLst>
              <a:gd name="adj" fmla="val 13000"/>
            </a:avLst>
          </a:prstGeom>
          <a:solidFill xmlns:a="http://schemas.openxmlformats.org/drawingml/2006/main">
            <a:srgbClr val="D97A4A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>
            <a:extLst xmlns:a="http://schemas.openxmlformats.org/drawingml/2006/main">
              <a:ext uri="{FF2B5EF4-FFF2-40B4-BE49-F238E27FC236}">
                <a16:creationId xmlns:a16="http://schemas.microsoft.com/office/drawing/2014/main" id="{04B7EE14-712D-4081-A63B-381F1A8A5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8632" y="2257425"/>
            <a:ext cx="1179576" cy="8001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12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Lernerfolgs-</a:t>
            </a:r>
          </a:p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12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kontrolle</a:t>
            </a:r>
          </a:p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12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(Arbeit)</a:t>
            </a:r>
          </a:p>
        </p:txBody>
      </p:sp>
      <p:sp>
        <p:nvSpPr>
          <p:cNvPr id="24" name="Shape 21">
            <a:extLst xmlns:a="http://schemas.openxmlformats.org/drawingml/2006/main">
              <a:ext uri="{FF2B5EF4-FFF2-40B4-BE49-F238E27FC236}">
                <a16:creationId xmlns:a16="http://schemas.microsoft.com/office/drawing/2014/main" id="{8B05BBB9-657C-4B04-9AA8-1EB33EEF7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2128" y="3410712"/>
            <a:ext cx="2286000" cy="566928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C17B00">
              <a:alpha val="96000"/>
            </a:srgbClr>
          </a:solidFill>
          <a:ln xmlns:a="http://schemas.openxmlformats.org/drawingml/2006/main" w="12700">
            <a:solidFill>
              <a:srgbClr val="C17B00">
                <a:alpha val="0"/>
              </a:srgbClr>
            </a:solidFill>
            <a:prstDash val="solid"/>
          </a:ln>
        </p:spPr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6A3EA07F-FFF7-4D2D-BB71-1654F032D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8432" y="3438525"/>
            <a:ext cx="1993392" cy="495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 fontScale="83852"/>
          </a:bodyPr>
          <a:lstStyle xmlns:a="http://schemas.openxmlformats.org/drawingml/2006/main"/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Zusätze und Projekte:</a:t>
            </a:r>
          </a:p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freiwillig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9C3B043B-85A5-4597-BADF-7C3BD764A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" y="4709160"/>
            <a:ext cx="9966960" cy="621792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7DBB6F">
              <a:alpha val="96000"/>
            </a:srgbClr>
          </a:solidFill>
          <a:ln xmlns:a="http://schemas.openxmlformats.org/drawingml/2006/main" w="12700">
            <a:solidFill>
              <a:srgbClr val="7DBB6F">
                <a:alpha val="0"/>
              </a:srgbClr>
            </a:solidFill>
            <a:prstDash val="solid"/>
          </a:ln>
        </p:spPr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EF48517B-1392-4D0D-83CC-4FE6B373C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5296" y="4818888"/>
            <a:ext cx="9674352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FFFFFF"/>
                </a:solidFill>
              </a:rPr>
              <a:t>Jede Lernzeit folgt: Planung → Durchführung → Reflexion</a:t>
            </a:r>
            <a:endParaRPr sz="1800"/>
          </a:p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E510D024-5A29-4D4C-9038-54E2A60A7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437376"/>
            <a:ext cx="649224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245688"/>
                </a:solidFill>
              </a:rPr>
              <a:t>Lernweg</a:t>
            </a:r>
            <a:endParaRPr sz="850"/>
          </a:p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D0354492-7B43-480B-BEE9-8E5872F0D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0" y="6419088"/>
            <a:ext cx="29718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48DCCB"/>
                </a:solidFill>
              </a:rPr>
              <a:t>Planung → Durchführung → Reflexion</a:t>
            </a:r>
            <a:endParaRPr sz="950"/>
          </a:p>
        </p:txBody>
      </p:sp>
      <p:sp>
        <p:nvSpPr>
          <p:cNvPr id="30" name="Otterklasse Rahmen">
            <a:extLst xmlns:a="http://schemas.openxmlformats.org/drawingml/2006/main">
              <a:ext uri="{FF2B5EF4-FFF2-40B4-BE49-F238E27FC236}">
                <a16:creationId xmlns:a16="http://schemas.microsoft.com/office/drawing/2014/main" id="{DF726176-695F-4BA2-8512-9F7175541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95250"/>
            <a:ext cx="12001500" cy="666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245688"/>
            </a:solidFill>
            <a:prstDash val="solid"/>
          </a:ln>
        </p:spPr>
      </p:sp>
      <p:sp>
        <p:nvSpPr>
          <p:cNvPr id="31" name="Akzent Orange">
            <a:extLst xmlns:a="http://schemas.openxmlformats.org/drawingml/2006/main">
              <a:ext uri="{FF2B5EF4-FFF2-40B4-BE49-F238E27FC236}">
                <a16:creationId xmlns:a16="http://schemas.microsoft.com/office/drawing/2014/main" id="{587EA091-C5ED-4167-98FD-E39763546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95250"/>
            <a:ext cx="571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A66F"/>
          </a:solidFill>
          <a:ln xmlns:a="http://schemas.openxmlformats.org/drawingml/2006/main" w="0">
            <a:solidFill>
              <a:srgbClr val="F0A66F"/>
            </a:solidFill>
            <a:prstDash val="solid"/>
          </a:ln>
        </p:spPr>
      </p:sp>
      <p:sp>
        <p:nvSpPr>
          <p:cNvPr id="32" name="Akzent Mint">
            <a:extLst xmlns:a="http://schemas.openxmlformats.org/drawingml/2006/main">
              <a:ext uri="{FF2B5EF4-FFF2-40B4-BE49-F238E27FC236}">
                <a16:creationId xmlns:a16="http://schemas.microsoft.com/office/drawing/2014/main" id="{881A181A-A955-4BDC-9AC1-97F9CEC87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39600" y="6019800"/>
            <a:ext cx="571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8DCCB"/>
          </a:solidFill>
          <a:ln xmlns:a="http://schemas.openxmlformats.org/drawingml/2006/main" w="0">
            <a:solidFill>
              <a:srgbClr val="48DCCB"/>
            </a:solidFill>
            <a:prstDash val="solid"/>
          </a:ln>
        </p:spPr>
      </p:sp>
      <p:pic>
        <p:nvPicPr>
          <p:cNvPr id="6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38271866f8444b"/>
          <a:stretch xmlns:a="http://schemas.openxmlformats.org/drawingml/2006/main"/>
        </p:blipFill>
        <p:spPr>
          <a:xfrm xmlns:a="http://schemas.openxmlformats.org/drawingml/2006/main">
            <a:off x="10629900" y="474690"/>
            <a:ext cx="781050" cy="707969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3094928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Shape 0">
            <a:extLst xmlns:a="http://schemas.openxmlformats.org/drawingml/2006/main">
              <a:ext uri="{FF2B5EF4-FFF2-40B4-BE49-F238E27FC236}">
                <a16:creationId xmlns:a16="http://schemas.microsoft.com/office/drawing/2014/main" id="{9196DFA0-63B7-4F71-B0AE-233E815DF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4" name="Shape 1">
            <a:extLst xmlns:a="http://schemas.openxmlformats.org/drawingml/2006/main">
              <a:ext uri="{FF2B5EF4-FFF2-40B4-BE49-F238E27FC236}">
                <a16:creationId xmlns:a16="http://schemas.microsoft.com/office/drawing/2014/main" id="{C57EB2FC-D687-42A5-87AB-F1791DE1B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731520"/>
            <a:ext cx="5852160" cy="5074920"/>
          </a:xfrm>
          <a:prstGeom xmlns:a="http://schemas.openxmlformats.org/drawingml/2006/main" prst="roundRect">
            <a:avLst>
              <a:gd name="adj" fmla="val 3378"/>
            </a:avLst>
          </a:prstGeom>
          <a:solidFill xmlns:a="http://schemas.openxmlformats.org/drawingml/2006/main">
            <a:srgbClr val="DCECF8"/>
          </a:solidFill>
          <a:ln xmlns:a="http://schemas.openxmlformats.org/drawingml/2006/main" w="13335">
            <a:solidFill>
              <a:srgbClr val="24568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B1D8A32A-C16A-4A05-AC2B-46B1FF4D7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" y="1060704"/>
            <a:ext cx="20116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D97A4A"/>
                </a:solidFill>
              </a:rPr>
              <a:t>Input 1</a:t>
            </a:r>
            <a:endParaRPr sz="1700"/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39CB14D3-0CA9-40BE-B101-B4EBD6E44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" y="1508760"/>
            <a:ext cx="507492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400" b="1">
                <a:solidFill>
                  <a:srgbClr val="2C3D4C"/>
                </a:solidFill>
                <a:latin typeface="Aptos Display"/>
                <a:ea typeface="Aptos Display"/>
                <a:cs typeface="Aptos Display"/>
              </a:rPr>
              <a:t>Unsere Wünsche für die neue Schule</a:t>
            </a:r>
            <a:endParaRPr sz="3400"/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A4A2A8E9-BA65-41A7-9F46-9760DB309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" y="2971800"/>
            <a:ext cx="498348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2000" b="0">
                <a:solidFill>
                  <a:srgbClr val="1F2A33"/>
                </a:solidFill>
                <a:latin typeface="Aptos"/>
                <a:ea typeface="Aptos"/>
                <a:cs typeface="Aptos"/>
              </a:rPr>
              <a:t>Du sammelst Schulwünsche. Du klärst: Wer schreibt wem? Daten kannst du zusätzlich nutzen.</a:t>
            </a:r>
          </a:p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11DA7291-3C97-42DB-BAAC-29263640E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" y="5047488"/>
            <a:ext cx="3200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3E5668"/>
                </a:solidFill>
              </a:rPr>
              <a:t>Impuls für die Klasse</a:t>
            </a:r>
            <a:endParaRPr sz="1400"/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260C327A-EE78-4D73-88CB-464F3027E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437376"/>
            <a:ext cx="649224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245688"/>
                </a:solidFill>
              </a:rPr>
              <a:t>Input 1</a:t>
            </a:r>
            <a:endParaRPr sz="850"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EDBC276E-3548-4920-A9FF-29B921964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0" y="6419088"/>
            <a:ext cx="29718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48DCCB"/>
                </a:solidFill>
              </a:rPr>
              <a:t>Planung → Durchführung → Reflexion</a:t>
            </a:r>
            <a:endParaRPr sz="950"/>
          </a:p>
        </p:txBody>
      </p:sp>
      <p:sp>
        <p:nvSpPr>
          <p:cNvPr id="11" name="Otterklasse Rahmen">
            <a:extLst xmlns:a="http://schemas.openxmlformats.org/drawingml/2006/main">
              <a:ext uri="{FF2B5EF4-FFF2-40B4-BE49-F238E27FC236}">
                <a16:creationId xmlns:a16="http://schemas.microsoft.com/office/drawing/2014/main" id="{4616E974-3DD1-499F-9702-398F4F1B6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95250"/>
            <a:ext cx="12001500" cy="666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245688"/>
            </a:solidFill>
            <a:prstDash val="solid"/>
          </a:ln>
        </p:spPr>
      </p:sp>
      <p:sp>
        <p:nvSpPr>
          <p:cNvPr id="12" name="Akzent Orange">
            <a:extLst xmlns:a="http://schemas.openxmlformats.org/drawingml/2006/main">
              <a:ext uri="{FF2B5EF4-FFF2-40B4-BE49-F238E27FC236}">
                <a16:creationId xmlns:a16="http://schemas.microsoft.com/office/drawing/2014/main" id="{DFA653C2-51F7-49F1-9293-09D4A6B63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95250"/>
            <a:ext cx="571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A66F"/>
          </a:solidFill>
          <a:ln xmlns:a="http://schemas.openxmlformats.org/drawingml/2006/main" w="0">
            <a:solidFill>
              <a:srgbClr val="F0A66F"/>
            </a:solidFill>
            <a:prstDash val="solid"/>
          </a:ln>
        </p:spPr>
      </p:sp>
      <p:sp>
        <p:nvSpPr>
          <p:cNvPr id="13" name="Akzent Mint">
            <a:extLst xmlns:a="http://schemas.openxmlformats.org/drawingml/2006/main">
              <a:ext uri="{FF2B5EF4-FFF2-40B4-BE49-F238E27FC236}">
                <a16:creationId xmlns:a16="http://schemas.microsoft.com/office/drawing/2014/main" id="{D2AD5455-B7D8-44B3-B189-3325BD50E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39600" y="6019800"/>
            <a:ext cx="571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8DCCB"/>
          </a:solidFill>
          <a:ln xmlns:a="http://schemas.openxmlformats.org/drawingml/2006/main" w="0">
            <a:solidFill>
              <a:srgbClr val="48DCCB"/>
            </a:solidFill>
            <a:prstDash val="solid"/>
          </a:ln>
        </p:spPr>
      </p:sp>
      <p:sp>
        <p:nvSpPr>
          <p:cNvPr id="14" name="Otter Bildfeld">
            <a:extLst xmlns:a="http://schemas.openxmlformats.org/drawingml/2006/main">
              <a:ext uri="{FF2B5EF4-FFF2-40B4-BE49-F238E27FC236}">
                <a16:creationId xmlns:a16="http://schemas.microsoft.com/office/drawing/2014/main" id="{4D4599E0-A06C-4F87-AFAD-ACCF7A2B3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685800"/>
            <a:ext cx="4095750" cy="4953000"/>
          </a:xfrm>
          <a:prstGeom xmlns:a="http://schemas.openxmlformats.org/drawingml/2006/main" prst="roundRect">
            <a:avLst>
              <a:gd name="adj" fmla="val 5581"/>
            </a:avLst>
          </a:prstGeom>
          <a:solidFill xmlns:a="http://schemas.openxmlformats.org/drawingml/2006/main">
            <a:srgbClr val="E0F7F1"/>
          </a:solidFill>
          <a:ln xmlns:a="http://schemas.openxmlformats.org/drawingml/2006/main" w="9525">
            <a:solidFill>
              <a:srgbClr val="245688"/>
            </a:solidFill>
            <a:prstDash val="solid"/>
          </a:ln>
        </p:spPr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de844f964eb402f"/>
          <a:stretch xmlns:a="http://schemas.openxmlformats.org/drawingml/2006/main"/>
        </p:blipFill>
        <p:spPr>
          <a:xfrm xmlns:a="http://schemas.openxmlformats.org/drawingml/2006/main">
            <a:off x="7667625" y="1743097"/>
            <a:ext cx="3238500" cy="2609807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7258748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Shape 0">
            <a:extLst xmlns:a="http://schemas.openxmlformats.org/drawingml/2006/main">
              <a:ext uri="{FF2B5EF4-FFF2-40B4-BE49-F238E27FC236}">
                <a16:creationId xmlns:a16="http://schemas.microsoft.com/office/drawing/2014/main" id="{57E25E67-7BEB-4864-BA0C-ED0FEAC6A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4" name="Shape 1">
            <a:extLst xmlns:a="http://schemas.openxmlformats.org/drawingml/2006/main">
              <a:ext uri="{FF2B5EF4-FFF2-40B4-BE49-F238E27FC236}">
                <a16:creationId xmlns:a16="http://schemas.microsoft.com/office/drawing/2014/main" id="{5173F4F2-2F46-463A-A57F-C375E9F24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7472"/>
            <a:ext cx="11173968" cy="6144768"/>
          </a:xfrm>
          <a:prstGeom xmlns:a="http://schemas.openxmlformats.org/drawingml/2006/main" prst="roundRect">
            <a:avLst>
              <a:gd name="adj" fmla="val 279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24568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DE0D934C-F8D2-435C-89BB-550A7E9FF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676656"/>
            <a:ext cx="6995160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900" b="1">
                <a:solidFill>
                  <a:srgbClr val="2C3D4C"/>
                </a:solidFill>
                <a:latin typeface="Aptos Display"/>
                <a:ea typeface="Aptos Display"/>
                <a:cs typeface="Aptos Display"/>
              </a:rPr>
              <a:t>Was wünschen wir uns?</a:t>
            </a:r>
            <a:endParaRPr sz="2900"/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EE3C5512-3D42-4608-8022-6DF10DFAE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170432"/>
            <a:ext cx="7223760" cy="2834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>
                <a:solidFill>
                  <a:srgbClr val="3E5668"/>
                </a:solidFill>
              </a:rPr>
              <a:t>Schulalltag als Schreibanlass</a:t>
            </a:r>
            <a:endParaRPr sz="1350"/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C21C7127-A6FB-49E9-9397-95963FCDC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1691640"/>
            <a:ext cx="4663440" cy="3291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100">
                <a:solidFill>
                  <a:srgbClr val="1F2A33"/>
                </a:solidFill>
              </a:rPr>
              <a:t>• Spielgeräte und Bewegung
</a:t>
            </a:r>
            <a:r>
              <a:rPr sz="2100">
                <a:solidFill>
                  <a:srgbClr val="1F2A33"/>
                </a:solidFill>
              </a:rPr>
              <a:t>• Pausenangebote
</a:t>
            </a:r>
            <a:r>
              <a:rPr sz="2100">
                <a:solidFill>
                  <a:srgbClr val="1F2A33"/>
                </a:solidFill>
              </a:rPr>
              <a:t>• Räume und Ausstattung
</a:t>
            </a:r>
            <a:r>
              <a:rPr sz="2100">
                <a:solidFill>
                  <a:srgbClr val="1F2A33"/>
                </a:solidFill>
              </a:rPr>
              <a:t>• AGs, Projekte und Ausflüge
</a:t>
            </a:r>
            <a:r>
              <a:rPr sz="2100">
                <a:solidFill>
                  <a:srgbClr val="1F2A33"/>
                </a:solidFill>
              </a:rPr>
              <a:t>• Themen und Inhalte im Unterricht</a:t>
            </a:r>
            <a:endParaRPr sz="2100"/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DD7CB614-355B-40AB-853C-2A370E67A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645920"/>
            <a:ext cx="4526280" cy="2240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12700">
            <a:solidFill>
              <a:srgbClr val="E8D4C1"/>
            </a:solidFill>
            <a:prstDash val="solid"/>
          </a:ln>
        </p:spPr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7564650B-6A15-46A5-ADE0-0FBF9F3B3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755648"/>
            <a:ext cx="4251960" cy="20208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1800" b="0">
                <a:solidFill>
                  <a:srgbClr val="1F2A33"/>
                </a:solidFill>
                <a:latin typeface="Aptos"/>
                <a:ea typeface="Aptos"/>
                <a:cs typeface="Aptos"/>
              </a:rPr>
              <a:t>Dein Start:</a:t>
            </a:r>
          </a:p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1800" b="0">
                <a:solidFill>
                  <a:srgbClr val="1F2A33"/>
                </a:solidFill>
                <a:latin typeface="Aptos"/>
                <a:ea typeface="Aptos"/>
                <a:cs typeface="Aptos"/>
              </a:rPr>
              <a:t>Was wünschst du dir?</a:t>
            </a:r>
          </a:p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1800" b="0">
                <a:solidFill>
                  <a:srgbClr val="1F2A33"/>
                </a:solidFill>
                <a:latin typeface="Aptos"/>
                <a:ea typeface="Aptos"/>
                <a:cs typeface="Aptos"/>
              </a:rPr>
              <a:t>Wer kann dir dabei helfen?</a:t>
            </a:r>
          </a:p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1800" b="0">
                <a:solidFill>
                  <a:srgbClr val="1F2A33"/>
                </a:solidFill>
                <a:latin typeface="Aptos"/>
                <a:ea typeface="Aptos"/>
                <a:cs typeface="Aptos"/>
              </a:rPr>
              <a:t>Ein vollständiger Brief enthält auch einen weiteren passenden Satz.</a:t>
            </a:r>
          </a:p>
        </p:txBody>
      </p:sp>
      <p:sp>
        <p:nvSpPr>
          <p:cNvPr id="10" name="Shape 7">
            <a:extLst xmlns:a="http://schemas.openxmlformats.org/drawingml/2006/main">
              <a:ext uri="{FF2B5EF4-FFF2-40B4-BE49-F238E27FC236}">
                <a16:creationId xmlns:a16="http://schemas.microsoft.com/office/drawing/2014/main" id="{4C979E9B-11B1-47FD-B28E-CAB2C4756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5960" y="5212080"/>
            <a:ext cx="7863840" cy="603504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D97A4A">
              <a:alpha val="96000"/>
            </a:srgbClr>
          </a:solidFill>
          <a:ln xmlns:a="http://schemas.openxmlformats.org/drawingml/2006/main" w="12700">
            <a:solidFill>
              <a:srgbClr val="D97A4A">
                <a:alpha val="0"/>
              </a:srgbClr>
            </a:solidFill>
            <a:prstDash val="solid"/>
          </a:ln>
        </p:spPr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840EB5D3-C519-4766-8318-589E440F0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2264" y="5321808"/>
            <a:ext cx="7571232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FFFFFF"/>
                </a:solidFill>
              </a:rPr>
              <a:t>Auftrag: Wähle einen Wunsch, der zu unserem Schulalltag passt.</a:t>
            </a:r>
            <a:endParaRPr sz="1800"/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1511C617-0379-4480-8756-F1F2BB4D2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437376"/>
            <a:ext cx="649224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245688"/>
                </a:solidFill>
              </a:rPr>
              <a:t>Input 1 · Sammeln</a:t>
            </a:r>
            <a:endParaRPr sz="850"/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B38D49FD-FFF3-4AF0-9ADF-C57F6E257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0" y="6419088"/>
            <a:ext cx="29718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48DCCB"/>
                </a:solidFill>
              </a:rPr>
              <a:t>Planung → Durchführung → Reflexion</a:t>
            </a:r>
            <a:endParaRPr sz="950"/>
          </a:p>
        </p:txBody>
      </p:sp>
      <p:sp>
        <p:nvSpPr>
          <p:cNvPr id="14" name="Otterklasse Rahmen">
            <a:extLst xmlns:a="http://schemas.openxmlformats.org/drawingml/2006/main">
              <a:ext uri="{FF2B5EF4-FFF2-40B4-BE49-F238E27FC236}">
                <a16:creationId xmlns:a16="http://schemas.microsoft.com/office/drawing/2014/main" id="{A51DC56A-5311-42F0-8CC7-325520EFF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95250"/>
            <a:ext cx="12001500" cy="666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245688"/>
            </a:solidFill>
            <a:prstDash val="solid"/>
          </a:ln>
        </p:spPr>
      </p:sp>
      <p:sp>
        <p:nvSpPr>
          <p:cNvPr id="15" name="Akzent Orange">
            <a:extLst xmlns:a="http://schemas.openxmlformats.org/drawingml/2006/main">
              <a:ext uri="{FF2B5EF4-FFF2-40B4-BE49-F238E27FC236}">
                <a16:creationId xmlns:a16="http://schemas.microsoft.com/office/drawing/2014/main" id="{89B1193C-78E1-4CB8-8F1D-87736BC7E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95250"/>
            <a:ext cx="571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A66F"/>
          </a:solidFill>
          <a:ln xmlns:a="http://schemas.openxmlformats.org/drawingml/2006/main" w="0">
            <a:solidFill>
              <a:srgbClr val="F0A66F"/>
            </a:solidFill>
            <a:prstDash val="solid"/>
          </a:ln>
        </p:spPr>
      </p:sp>
      <p:sp>
        <p:nvSpPr>
          <p:cNvPr id="16" name="Akzent Mint">
            <a:extLst xmlns:a="http://schemas.openxmlformats.org/drawingml/2006/main">
              <a:ext uri="{FF2B5EF4-FFF2-40B4-BE49-F238E27FC236}">
                <a16:creationId xmlns:a16="http://schemas.microsoft.com/office/drawing/2014/main" id="{4A96C69D-3CF5-471D-898E-A985F90C8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39600" y="6019800"/>
            <a:ext cx="571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8DCCB"/>
          </a:solidFill>
          <a:ln xmlns:a="http://schemas.openxmlformats.org/drawingml/2006/main" w="0">
            <a:solidFill>
              <a:srgbClr val="48DCCB"/>
            </a:solidFill>
            <a:prstDash val="solid"/>
          </a:ln>
        </p:spPr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88df44600d84760"/>
          <a:stretch xmlns:a="http://schemas.openxmlformats.org/drawingml/2006/main"/>
        </p:blipFill>
        <p:spPr>
          <a:xfrm xmlns:a="http://schemas.openxmlformats.org/drawingml/2006/main">
            <a:off x="10629900" y="511573"/>
            <a:ext cx="781050" cy="634204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9676381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Shape 0">
            <a:extLst xmlns:a="http://schemas.openxmlformats.org/drawingml/2006/main">
              <a:ext uri="{FF2B5EF4-FFF2-40B4-BE49-F238E27FC236}">
                <a16:creationId xmlns:a16="http://schemas.microsoft.com/office/drawing/2014/main" id="{6038CBFB-B28B-49F2-B39C-2D54BA956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4" name="Shape 1">
            <a:extLst xmlns:a="http://schemas.openxmlformats.org/drawingml/2006/main">
              <a:ext uri="{FF2B5EF4-FFF2-40B4-BE49-F238E27FC236}">
                <a16:creationId xmlns:a16="http://schemas.microsoft.com/office/drawing/2014/main" id="{9997369C-0728-48BB-AE7A-019124575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7472"/>
            <a:ext cx="11173968" cy="6144768"/>
          </a:xfrm>
          <a:prstGeom xmlns:a="http://schemas.openxmlformats.org/drawingml/2006/main" prst="roundRect">
            <a:avLst>
              <a:gd name="adj" fmla="val 279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24568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0A2EFCDB-E21D-4FCA-A86C-3497599C1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676656"/>
            <a:ext cx="6995160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2900" b="1">
                <a:solidFill>
                  <a:srgbClr val="2C3D4C"/>
                </a:solidFill>
                <a:latin typeface="Aptos Display"/>
                <a:ea typeface="Aptos Display"/>
                <a:cs typeface="Aptos Display"/>
              </a:rPr>
              <a:t>Wer schreibt wem?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D0176CAD-B58D-44EA-911E-04BAD66EC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170432"/>
            <a:ext cx="7223760" cy="2834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>
                <a:solidFill>
                  <a:srgbClr val="3E5668"/>
                </a:solidFill>
              </a:rPr>
              <a:t>Schreibsituationen klären</a:t>
            </a:r>
            <a:endParaRPr sz="1350"/>
          </a:p>
        </p:txBody>
      </p:sp>
      <p:sp>
        <p:nvSpPr>
          <p:cNvPr id="7" name="Shape 4">
            <a:extLst xmlns:a="http://schemas.openxmlformats.org/drawingml/2006/main">
              <a:ext uri="{FF2B5EF4-FFF2-40B4-BE49-F238E27FC236}">
                <a16:creationId xmlns:a16="http://schemas.microsoft.com/office/drawing/2014/main" id="{FE16B04C-9BB1-4A25-A274-6DF2BD606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1719072"/>
            <a:ext cx="4480560" cy="1078992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EEF2F4"/>
          </a:solidFill>
          <a:ln xmlns:a="http://schemas.openxmlformats.org/drawingml/2006/main" w="12700">
            <a:solidFill>
              <a:srgbClr val="D8D8D8"/>
            </a:solidFill>
            <a:prstDash val="solid"/>
          </a:ln>
        </p:spPr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D93EC14E-5D3E-4493-81E8-110D267A6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" y="1883664"/>
            <a:ext cx="393192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2C3D4C"/>
                </a:solidFill>
              </a:rPr>
              <a:t>Wer schreibt?</a:t>
            </a:r>
            <a:endParaRPr sz="1700"/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74E42F18-0965-4D85-88F3-9BD48DBAA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" y="2221992"/>
            <a:ext cx="393192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>
                <a:solidFill>
                  <a:srgbClr val="1F2A33"/>
                </a:solidFill>
              </a:rPr>
              <a:t>Beantworte die Frage mit wenigen Stichwörtern.</a:t>
            </a:r>
            <a:endParaRPr sz="1500"/>
          </a:p>
        </p:txBody>
      </p:sp>
      <p:sp>
        <p:nvSpPr>
          <p:cNvPr id="10" name="Shape 7">
            <a:extLst xmlns:a="http://schemas.openxmlformats.org/drawingml/2006/main">
              <a:ext uri="{FF2B5EF4-FFF2-40B4-BE49-F238E27FC236}">
                <a16:creationId xmlns:a16="http://schemas.microsoft.com/office/drawing/2014/main" id="{DBCC9F68-00A3-4AB3-818B-734952284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3056" y="1719072"/>
            <a:ext cx="4480560" cy="1078992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EDF5EA"/>
          </a:solidFill>
          <a:ln xmlns:a="http://schemas.openxmlformats.org/drawingml/2006/main" w="12700">
            <a:solidFill>
              <a:srgbClr val="D8D8D8"/>
            </a:solidFill>
            <a:prstDash val="solid"/>
          </a:ln>
        </p:spPr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E4E11A0F-DD08-45F3-80A9-60A7AC72E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656" y="1883664"/>
            <a:ext cx="393192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2C3D4C"/>
                </a:solidFill>
              </a:rPr>
              <a:t>An wen?</a:t>
            </a:r>
            <a:endParaRPr sz="1700"/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2F7578DC-6CD3-45F3-88E3-B540B1080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656" y="2221992"/>
            <a:ext cx="393192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>
                <a:solidFill>
                  <a:srgbClr val="1F2A33"/>
                </a:solidFill>
              </a:rPr>
              <a:t>Beantworte die Frage mit wenigen Stichwörtern.</a:t>
            </a:r>
            <a:endParaRPr sz="1500"/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8D0DE8A0-74F5-4C05-A754-3CF22CF77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3319272"/>
            <a:ext cx="4480560" cy="1078992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EEF2F4"/>
          </a:solidFill>
          <a:ln xmlns:a="http://schemas.openxmlformats.org/drawingml/2006/main" w="12700">
            <a:solidFill>
              <a:srgbClr val="D8D8D8"/>
            </a:solidFill>
            <a:prstDash val="solid"/>
          </a:ln>
        </p:spPr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E104703F-3E41-4EE1-893E-AD53275F7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" y="3483864"/>
            <a:ext cx="393192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2C3D4C"/>
                </a:solidFill>
              </a:rPr>
              <a:t>Was ist der Wunsch?</a:t>
            </a:r>
            <a:endParaRPr sz="1700"/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77615969-9D33-4548-AFD6-74A81A12B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" y="3822192"/>
            <a:ext cx="393192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>
                <a:solidFill>
                  <a:srgbClr val="1F2A33"/>
                </a:solidFill>
              </a:rPr>
              <a:t>Beantworte die Frage mit wenigen Stichwörtern.</a:t>
            </a:r>
            <a:endParaRPr sz="1500"/>
          </a:p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BA5C5776-1337-45CF-B692-BE0646E1E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3056" y="3319272"/>
            <a:ext cx="4480560" cy="1078992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EDF5EA"/>
          </a:solidFill>
          <a:ln xmlns:a="http://schemas.openxmlformats.org/drawingml/2006/main" w="12700">
            <a:solidFill>
              <a:srgbClr val="D8D8D8"/>
            </a:solidFill>
            <a:prstDash val="solid"/>
          </a:ln>
        </p:spPr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2AB06859-916A-445F-AD67-8F23AC2C3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656" y="3483864"/>
            <a:ext cx="393192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1700" b="1">
                <a:solidFill>
                  <a:srgbClr val="2C3D4C"/>
                </a:solidFill>
                <a:latin typeface="Aptos"/>
                <a:ea typeface="Aptos"/>
                <a:cs typeface="Aptos"/>
              </a:rPr>
              <a:t>Welcher weitere Satz passt?</a:t>
            </a:r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7249B333-21CF-45EE-9310-8FACF3280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656" y="3822192"/>
            <a:ext cx="393192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>
                <a:solidFill>
                  <a:srgbClr val="1F2A33"/>
                </a:solidFill>
              </a:rPr>
              <a:t>Beantworte die Frage mit wenigen Stichwörtern.</a:t>
            </a:r>
            <a:endParaRPr sz="1500"/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DB52DC2E-5A7B-4CE9-8FDB-C7750028B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5321808"/>
            <a:ext cx="7498080" cy="530352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7DBB6F">
              <a:alpha val="96000"/>
            </a:srgbClr>
          </a:solidFill>
          <a:ln xmlns:a="http://schemas.openxmlformats.org/drawingml/2006/main" w="12700">
            <a:solidFill>
              <a:srgbClr val="7DBB6F">
                <a:alpha val="0"/>
              </a:srgbClr>
            </a:solidFill>
            <a:prstDash val="solid"/>
          </a:ln>
        </p:spPr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4569F6D5-7D76-4FD4-AF07-E79785408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2304" y="5431536"/>
            <a:ext cx="7205472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FFFFFF"/>
                </a:solidFill>
              </a:rPr>
              <a:t>Erst die Situation verstehen – dann schreiben.</a:t>
            </a:r>
            <a:endParaRPr sz="1800"/>
          </a:p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9DE0BD79-FB68-457B-BB7C-3B1591C2C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437376"/>
            <a:ext cx="649224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245688"/>
                </a:solidFill>
              </a:rPr>
              <a:t>Input 1 · Schreibsituation</a:t>
            </a:r>
            <a:endParaRPr sz="850"/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2AECD6F9-2AEA-469D-9D39-FE88384AE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0" y="6419088"/>
            <a:ext cx="29718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48DCCB"/>
                </a:solidFill>
              </a:rPr>
              <a:t>Planung → Durchführung → Reflexion</a:t>
            </a:r>
            <a:endParaRPr sz="950"/>
          </a:p>
        </p:txBody>
      </p:sp>
      <p:sp>
        <p:nvSpPr>
          <p:cNvPr id="23" name="Otterklasse Rahmen">
            <a:extLst xmlns:a="http://schemas.openxmlformats.org/drawingml/2006/main">
              <a:ext uri="{FF2B5EF4-FFF2-40B4-BE49-F238E27FC236}">
                <a16:creationId xmlns:a16="http://schemas.microsoft.com/office/drawing/2014/main" id="{C43C162E-28A3-4741-96FC-CE1AA289B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95250"/>
            <a:ext cx="12001500" cy="666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245688"/>
            </a:solidFill>
            <a:prstDash val="solid"/>
          </a:ln>
        </p:spPr>
      </p:sp>
      <p:sp>
        <p:nvSpPr>
          <p:cNvPr id="24" name="Akzent Orange">
            <a:extLst xmlns:a="http://schemas.openxmlformats.org/drawingml/2006/main">
              <a:ext uri="{FF2B5EF4-FFF2-40B4-BE49-F238E27FC236}">
                <a16:creationId xmlns:a16="http://schemas.microsoft.com/office/drawing/2014/main" id="{6D59B17D-B31E-44A5-BA85-BB987E688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95250"/>
            <a:ext cx="571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A66F"/>
          </a:solidFill>
          <a:ln xmlns:a="http://schemas.openxmlformats.org/drawingml/2006/main" w="0">
            <a:solidFill>
              <a:srgbClr val="F0A66F"/>
            </a:solidFill>
            <a:prstDash val="solid"/>
          </a:ln>
        </p:spPr>
      </p:sp>
      <p:sp>
        <p:nvSpPr>
          <p:cNvPr id="25" name="Akzent Mint">
            <a:extLst xmlns:a="http://schemas.openxmlformats.org/drawingml/2006/main">
              <a:ext uri="{FF2B5EF4-FFF2-40B4-BE49-F238E27FC236}">
                <a16:creationId xmlns:a16="http://schemas.microsoft.com/office/drawing/2014/main" id="{A8D857FB-BA8C-43D7-AB6F-EC7EC0799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39600" y="6019800"/>
            <a:ext cx="571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8DCCB"/>
          </a:solidFill>
          <a:ln xmlns:a="http://schemas.openxmlformats.org/drawingml/2006/main" w="0">
            <a:solidFill>
              <a:srgbClr val="48DCCB"/>
            </a:solidFill>
            <a:prstDash val="solid"/>
          </a:ln>
        </p:spPr>
      </p:sp>
      <p:pic>
        <p:nvPicPr>
          <p:cNvPr id="5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36191e7173a47bd"/>
          <a:stretch xmlns:a="http://schemas.openxmlformats.org/drawingml/2006/main"/>
        </p:blipFill>
        <p:spPr>
          <a:xfrm xmlns:a="http://schemas.openxmlformats.org/drawingml/2006/main">
            <a:off x="10629900" y="513963"/>
            <a:ext cx="781050" cy="629424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8192286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Shape 0">
            <a:extLst xmlns:a="http://schemas.openxmlformats.org/drawingml/2006/main">
              <a:ext uri="{FF2B5EF4-FFF2-40B4-BE49-F238E27FC236}">
                <a16:creationId xmlns:a16="http://schemas.microsoft.com/office/drawing/2014/main" id="{68F80E03-85C0-453E-B0BD-6792EC215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4" name="Shape 1">
            <a:extLst xmlns:a="http://schemas.openxmlformats.org/drawingml/2006/main">
              <a:ext uri="{FF2B5EF4-FFF2-40B4-BE49-F238E27FC236}">
                <a16:creationId xmlns:a16="http://schemas.microsoft.com/office/drawing/2014/main" id="{7259AF15-1ABE-4AEA-8EB0-9BF251CB5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7472"/>
            <a:ext cx="11173968" cy="6144768"/>
          </a:xfrm>
          <a:prstGeom xmlns:a="http://schemas.openxmlformats.org/drawingml/2006/main" prst="roundRect">
            <a:avLst>
              <a:gd name="adj" fmla="val 279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24568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44B1502D-6E86-47B7-BDD9-154FC970B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676656"/>
            <a:ext cx="6995160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900" b="1">
                <a:solidFill>
                  <a:srgbClr val="2C3D4C"/>
                </a:solidFill>
                <a:latin typeface="Aptos Display"/>
                <a:ea typeface="Aptos Display"/>
                <a:cs typeface="Aptos Display"/>
              </a:rPr>
              <a:t>Umfragen können Wünsche stärken</a:t>
            </a:r>
            <a:endParaRPr sz="2900"/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86744BD6-0581-4147-9EB2-F1D36AB2C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170432"/>
            <a:ext cx="7223760" cy="2834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1350" b="0">
                <a:solidFill>
                  <a:srgbClr val="3E5668"/>
                </a:solidFill>
                <a:latin typeface="Aptos"/>
                <a:ea typeface="Aptos"/>
                <a:cs typeface="Aptos"/>
              </a:rPr>
              <a:t>Freiwillig · Beispielumfrage: 26 Kinder, mehrere Antworten erlaubt.</a:t>
            </a:r>
          </a:p>
        </p:txBody>
      </p:sp>
      <p:graphicFrame>
        <p:nvGraphicFramePr>
          <p:cNvPr id="24" name="Chart 0"/>
          <p:cNvGraphicFramePr/>
          <p:nvPr/>
        </p:nvGraphicFramePr>
        <p:xfrm>
          <a:off xmlns:a="http://schemas.openxmlformats.org/drawingml/2006/main" x="914400" y="1554480"/>
          <a:ext xmlns:a="http://schemas.openxmlformats.org/drawingml/2006/main" cx="5212080" cy="338328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521ae587751498a"/>
          </a:graphicData>
        </a:graphic>
      </p:graphicFrame>
      <p:sp>
        <p:nvSpPr>
          <p:cNvPr id="8" name="Shape 4">
            <a:extLst xmlns:a="http://schemas.openxmlformats.org/drawingml/2006/main">
              <a:ext uri="{FF2B5EF4-FFF2-40B4-BE49-F238E27FC236}">
                <a16:creationId xmlns:a16="http://schemas.microsoft.com/office/drawing/2014/main" id="{2CD0F6EE-A575-4600-9BCC-142780E6D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828800"/>
            <a:ext cx="41148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12700">
            <a:solidFill>
              <a:srgbClr val="E8D4C1"/>
            </a:solidFill>
            <a:prstDash val="solid"/>
          </a:ln>
        </p:spPr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71040AC7-257D-4EE6-90EE-39D0361D2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1938528"/>
            <a:ext cx="3840480" cy="20665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>
                <a:solidFill>
                  <a:srgbClr val="1F2A33"/>
                </a:solidFill>
              </a:rPr>
              <a:t>Aus Daten wird ein Satz:</a:t>
            </a:r>
            <a:endParaRPr sz="1800"/>
          </a:p>
          <a:p xmlns:a="http://schemas.openxmlformats.org/drawingml/2006/main">
            <a:pPr marL="0" indent="0">
              <a:buNone/>
            </a:pPr>
            <a:endParaRPr sz="1800"/>
          </a:p>
          <a:p xmlns:a="http://schemas.openxmlformats.org/drawingml/2006/main">
            <a:pPr marL="0" indent="0">
              <a:buNone/>
            </a:pPr>
            <a:r>
              <a:rPr sz="1800">
                <a:solidFill>
                  <a:srgbClr val="1F2A33"/>
                </a:solidFill>
              </a:rPr>
              <a:t>„18 von 26 Kindern wünschen sich eine Spieleausleihe.“</a:t>
            </a:r>
            <a:endParaRPr sz="1800"/>
          </a:p>
          <a:p xmlns:a="http://schemas.openxmlformats.org/drawingml/2006/main">
            <a:pPr marL="0" indent="0">
              <a:buNone/>
            </a:pPr>
            <a:endParaRPr sz="1800"/>
          </a:p>
          <a:p xmlns:a="http://schemas.openxmlformats.org/drawingml/2006/main">
            <a:pPr marL="0" indent="0">
              <a:buNone/>
            </a:pPr>
            <a:r>
              <a:rPr sz="1800">
                <a:solidFill>
                  <a:srgbClr val="1F2A33"/>
                </a:solidFill>
              </a:rPr>
              <a:t>Das ist genauer als: „Alle wollen Spiele.“</a:t>
            </a:r>
            <a:endParaRPr sz="18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01DCD839-B5F3-45B8-8B42-85242F24D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5349240"/>
            <a:ext cx="8458200" cy="530352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D97A4A">
              <a:alpha val="96000"/>
            </a:srgbClr>
          </a:solidFill>
          <a:ln xmlns:a="http://schemas.openxmlformats.org/drawingml/2006/main" w="12700">
            <a:solidFill>
              <a:srgbClr val="D97A4A">
                <a:alpha val="0"/>
              </a:srgbClr>
            </a:solidFill>
            <a:prstDash val="solid"/>
          </a:ln>
        </p:spPr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3814B9FB-08AD-4566-88BA-ABFDF90DF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5104" y="5458968"/>
            <a:ext cx="8165592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Daten sind freiwillig. Die Beispielzahlen sind erfunden.</a:t>
            </a:r>
          </a:p>
        </p:txBody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C7F49C7F-60F0-4628-A5AC-C04BB7703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437376"/>
            <a:ext cx="649224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245688"/>
                </a:solidFill>
              </a:rPr>
              <a:t>Input 1 · Mathe-Andockung</a:t>
            </a:r>
            <a:endParaRPr sz="850"/>
          </a:p>
        </p:txBody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12C3A47C-86FD-4878-8710-E70ABDA7F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0" y="6419088"/>
            <a:ext cx="29718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48DCCB"/>
                </a:solidFill>
              </a:rPr>
              <a:t>Planung → Durchführung → Reflexion</a:t>
            </a:r>
            <a:endParaRPr sz="950"/>
          </a:p>
        </p:txBody>
      </p:sp>
      <p:sp>
        <p:nvSpPr>
          <p:cNvPr id="16" name="Otterklasse Rahmen">
            <a:extLst xmlns:a="http://schemas.openxmlformats.org/drawingml/2006/main">
              <a:ext uri="{FF2B5EF4-FFF2-40B4-BE49-F238E27FC236}">
                <a16:creationId xmlns:a16="http://schemas.microsoft.com/office/drawing/2014/main" id="{F9EA8809-37B3-44DA-999C-79C36B905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95250"/>
            <a:ext cx="12001500" cy="666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245688"/>
            </a:solidFill>
            <a:prstDash val="solid"/>
          </a:ln>
        </p:spPr>
      </p:sp>
      <p:sp>
        <p:nvSpPr>
          <p:cNvPr id="17" name="Akzent Orange">
            <a:extLst xmlns:a="http://schemas.openxmlformats.org/drawingml/2006/main">
              <a:ext uri="{FF2B5EF4-FFF2-40B4-BE49-F238E27FC236}">
                <a16:creationId xmlns:a16="http://schemas.microsoft.com/office/drawing/2014/main" id="{8C2374C3-4F7E-4563-A19E-CBEC6D3F0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95250"/>
            <a:ext cx="571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A66F"/>
          </a:solidFill>
          <a:ln xmlns:a="http://schemas.openxmlformats.org/drawingml/2006/main" w="0">
            <a:solidFill>
              <a:srgbClr val="F0A66F"/>
            </a:solidFill>
            <a:prstDash val="solid"/>
          </a:ln>
        </p:spPr>
      </p:sp>
      <p:sp>
        <p:nvSpPr>
          <p:cNvPr id="18" name="Akzent Mint">
            <a:extLst xmlns:a="http://schemas.openxmlformats.org/drawingml/2006/main">
              <a:ext uri="{FF2B5EF4-FFF2-40B4-BE49-F238E27FC236}">
                <a16:creationId xmlns:a16="http://schemas.microsoft.com/office/drawing/2014/main" id="{8D768A1B-2210-4790-B2FD-93320FEBE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39600" y="6019800"/>
            <a:ext cx="571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8DCCB"/>
          </a:solidFill>
          <a:ln xmlns:a="http://schemas.openxmlformats.org/drawingml/2006/main" w="0">
            <a:solidFill>
              <a:srgbClr val="48DCCB"/>
            </a:solidFill>
            <a:prstDash val="solid"/>
          </a:ln>
        </p:spPr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012d017fc424744"/>
          <a:stretch xmlns:a="http://schemas.openxmlformats.org/drawingml/2006/main"/>
        </p:blipFill>
        <p:spPr>
          <a:xfrm xmlns:a="http://schemas.openxmlformats.org/drawingml/2006/main">
            <a:off x="10629900" y="575592"/>
            <a:ext cx="781050" cy="506166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421696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Shape 0">
            <a:extLst xmlns:a="http://schemas.openxmlformats.org/drawingml/2006/main">
              <a:ext uri="{FF2B5EF4-FFF2-40B4-BE49-F238E27FC236}">
                <a16:creationId xmlns:a16="http://schemas.microsoft.com/office/drawing/2014/main" id="{674C61FA-221C-45FF-86A9-84A2D07DF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4" name="Shape 1">
            <a:extLst xmlns:a="http://schemas.openxmlformats.org/drawingml/2006/main">
              <a:ext uri="{FF2B5EF4-FFF2-40B4-BE49-F238E27FC236}">
                <a16:creationId xmlns:a16="http://schemas.microsoft.com/office/drawing/2014/main" id="{0A135062-A2C5-43E4-B857-7FB183094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731520"/>
            <a:ext cx="5852160" cy="5074920"/>
          </a:xfrm>
          <a:prstGeom xmlns:a="http://schemas.openxmlformats.org/drawingml/2006/main" prst="roundRect">
            <a:avLst>
              <a:gd name="adj" fmla="val 3378"/>
            </a:avLst>
          </a:prstGeom>
          <a:solidFill xmlns:a="http://schemas.openxmlformats.org/drawingml/2006/main">
            <a:srgbClr val="DCECF8"/>
          </a:solidFill>
          <a:ln xmlns:a="http://schemas.openxmlformats.org/drawingml/2006/main" w="13335">
            <a:solidFill>
              <a:srgbClr val="24568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6647CB9C-3616-49DC-9D3A-79B2EBC1C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" y="1060704"/>
            <a:ext cx="20116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D97A4A"/>
                </a:solidFill>
              </a:rPr>
              <a:t>Input 2</a:t>
            </a:r>
            <a:endParaRPr sz="1700"/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AD31E937-78E0-4F9D-9D71-DA016C541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" y="1508760"/>
            <a:ext cx="507492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400" b="1">
                <a:solidFill>
                  <a:srgbClr val="2C3D4C"/>
                </a:solidFill>
                <a:latin typeface="Aptos Display"/>
                <a:ea typeface="Aptos Display"/>
                <a:cs typeface="Aptos Display"/>
              </a:rPr>
              <a:t>So ist ein Brief aufgebaut</a:t>
            </a:r>
            <a:endParaRPr sz="3400"/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F29805EA-E36C-4504-8689-2C382B89D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" y="2971800"/>
            <a:ext cx="498348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2000" b="0">
                <a:solidFill>
                  <a:srgbClr val="1F2A33"/>
                </a:solidFill>
                <a:latin typeface="Aptos"/>
                <a:ea typeface="Aptos"/>
                <a:cs typeface="Aptos"/>
              </a:rPr>
              <a:t>Du erkennst die Briefteile und bringst sie in die richtige Reihenfolge.</a:t>
            </a:r>
          </a:p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7A139355-E358-4C6B-A7F3-E88E07684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" y="5047488"/>
            <a:ext cx="3200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3E5668"/>
                </a:solidFill>
              </a:rPr>
              <a:t>Impuls für die Klasse</a:t>
            </a:r>
            <a:endParaRPr sz="1400"/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1A8F9B10-E069-4FC0-9B05-8170D60D0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437376"/>
            <a:ext cx="649224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245688"/>
                </a:solidFill>
              </a:rPr>
              <a:t>Input 2</a:t>
            </a:r>
            <a:endParaRPr sz="850"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95EEA158-C51D-494A-9F9D-2D3670FC8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0" y="6419088"/>
            <a:ext cx="29718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48DCCB"/>
                </a:solidFill>
              </a:rPr>
              <a:t>Planung → Durchführung → Reflexion</a:t>
            </a:r>
            <a:endParaRPr sz="950"/>
          </a:p>
        </p:txBody>
      </p:sp>
      <p:sp>
        <p:nvSpPr>
          <p:cNvPr id="11" name="Otterklasse Rahmen">
            <a:extLst xmlns:a="http://schemas.openxmlformats.org/drawingml/2006/main">
              <a:ext uri="{FF2B5EF4-FFF2-40B4-BE49-F238E27FC236}">
                <a16:creationId xmlns:a16="http://schemas.microsoft.com/office/drawing/2014/main" id="{B8A6BDB1-3E94-4DDD-A924-57A3E8678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95250"/>
            <a:ext cx="12001500" cy="666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245688"/>
            </a:solidFill>
            <a:prstDash val="solid"/>
          </a:ln>
        </p:spPr>
      </p:sp>
      <p:sp>
        <p:nvSpPr>
          <p:cNvPr id="12" name="Akzent Orange">
            <a:extLst xmlns:a="http://schemas.openxmlformats.org/drawingml/2006/main">
              <a:ext uri="{FF2B5EF4-FFF2-40B4-BE49-F238E27FC236}">
                <a16:creationId xmlns:a16="http://schemas.microsoft.com/office/drawing/2014/main" id="{F73536B2-C75E-44FB-B4AC-2D8EBB6A0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95250"/>
            <a:ext cx="571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A66F"/>
          </a:solidFill>
          <a:ln xmlns:a="http://schemas.openxmlformats.org/drawingml/2006/main" w="0">
            <a:solidFill>
              <a:srgbClr val="F0A66F"/>
            </a:solidFill>
            <a:prstDash val="solid"/>
          </a:ln>
        </p:spPr>
      </p:sp>
      <p:sp>
        <p:nvSpPr>
          <p:cNvPr id="13" name="Akzent Mint">
            <a:extLst xmlns:a="http://schemas.openxmlformats.org/drawingml/2006/main">
              <a:ext uri="{FF2B5EF4-FFF2-40B4-BE49-F238E27FC236}">
                <a16:creationId xmlns:a16="http://schemas.microsoft.com/office/drawing/2014/main" id="{66C86D07-8AC8-45CF-ADBB-37991062A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39600" y="6019800"/>
            <a:ext cx="571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8DCCB"/>
          </a:solidFill>
          <a:ln xmlns:a="http://schemas.openxmlformats.org/drawingml/2006/main" w="0">
            <a:solidFill>
              <a:srgbClr val="48DCCB"/>
            </a:solidFill>
            <a:prstDash val="solid"/>
          </a:ln>
        </p:spPr>
      </p:sp>
      <p:sp>
        <p:nvSpPr>
          <p:cNvPr id="14" name="Otter Bildfeld">
            <a:extLst xmlns:a="http://schemas.openxmlformats.org/drawingml/2006/main">
              <a:ext uri="{FF2B5EF4-FFF2-40B4-BE49-F238E27FC236}">
                <a16:creationId xmlns:a16="http://schemas.microsoft.com/office/drawing/2014/main" id="{6F4BFEA7-E833-497F-94E6-2E65DCCBD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685800"/>
            <a:ext cx="4095750" cy="4953000"/>
          </a:xfrm>
          <a:prstGeom xmlns:a="http://schemas.openxmlformats.org/drawingml/2006/main" prst="roundRect">
            <a:avLst>
              <a:gd name="adj" fmla="val 5581"/>
            </a:avLst>
          </a:prstGeom>
          <a:solidFill xmlns:a="http://schemas.openxmlformats.org/drawingml/2006/main">
            <a:srgbClr val="E0F7F1"/>
          </a:solidFill>
          <a:ln xmlns:a="http://schemas.openxmlformats.org/drawingml/2006/main" w="9525">
            <a:solidFill>
              <a:srgbClr val="245688"/>
            </a:solidFill>
            <a:prstDash val="solid"/>
          </a:ln>
        </p:spPr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d064f2bcdd4f22"/>
          <a:stretch xmlns:a="http://schemas.openxmlformats.org/drawingml/2006/main"/>
        </p:blipFill>
        <p:spPr>
          <a:xfrm xmlns:a="http://schemas.openxmlformats.org/drawingml/2006/main">
            <a:off x="7667625" y="1844807"/>
            <a:ext cx="3238500" cy="240638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579098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Shape 0">
            <a:extLst xmlns:a="http://schemas.openxmlformats.org/drawingml/2006/main">
              <a:ext uri="{FF2B5EF4-FFF2-40B4-BE49-F238E27FC236}">
                <a16:creationId xmlns:a16="http://schemas.microsoft.com/office/drawing/2014/main" id="{A0BB1A8F-F7ED-4A5C-B23F-CC2ADC1D4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4" name="Shape 1">
            <a:extLst xmlns:a="http://schemas.openxmlformats.org/drawingml/2006/main">
              <a:ext uri="{FF2B5EF4-FFF2-40B4-BE49-F238E27FC236}">
                <a16:creationId xmlns:a16="http://schemas.microsoft.com/office/drawing/2014/main" id="{331881E0-B6A5-4242-9296-A4F59DA6D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7472"/>
            <a:ext cx="11173968" cy="6144768"/>
          </a:xfrm>
          <a:prstGeom xmlns:a="http://schemas.openxmlformats.org/drawingml/2006/main" prst="roundRect">
            <a:avLst>
              <a:gd name="adj" fmla="val 279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24568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591B0856-6F51-4E88-91A7-C46D4992A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676656"/>
            <a:ext cx="6995160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900" b="1">
                <a:solidFill>
                  <a:srgbClr val="2C3D4C"/>
                </a:solidFill>
                <a:latin typeface="Aptos Display"/>
                <a:ea typeface="Aptos Display"/>
                <a:cs typeface="Aptos Display"/>
              </a:rPr>
              <a:t>Die fünf Teile eines Briefes</a:t>
            </a:r>
            <a:endParaRPr sz="2900"/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56C98861-2A26-48ED-9AFC-DCFB80F7F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170432"/>
            <a:ext cx="7223760" cy="2834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>
                <a:solidFill>
                  <a:srgbClr val="3E5668"/>
                </a:solidFill>
              </a:rPr>
              <a:t>Grundaufbau sichern</a:t>
            </a:r>
            <a:endParaRPr sz="1350"/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67A42B7E-F48C-4DFE-99B8-06144F2E9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1600200"/>
            <a:ext cx="4114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900" b="1">
                <a:solidFill>
                  <a:srgbClr val="D97A4A"/>
                </a:solidFill>
              </a:rPr>
              <a:t>1</a:t>
            </a:r>
            <a:endParaRPr sz="1900"/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4277A8B3-5551-495A-BD19-32B3BB3EE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40" y="1810512"/>
            <a:ext cx="5029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7A4A"/>
            </a:solidFill>
            <a:prstDash val="solid"/>
          </a:ln>
        </p:spPr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8923D1A5-B0AA-44CB-9463-85C72F187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1554480"/>
            <a:ext cx="21488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2C3D4C"/>
                </a:solidFill>
              </a:rPr>
              <a:t>Ort und Datum</a:t>
            </a:r>
            <a:endParaRPr sz="1800"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987065E5-F7AB-432F-9238-7CAF2E947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554480"/>
            <a:ext cx="48463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>
                <a:solidFill>
                  <a:srgbClr val="1F2A33"/>
                </a:solidFill>
              </a:rPr>
              <a:t>Dortmund, 07.09.2026</a:t>
            </a:r>
            <a:endParaRPr sz="1800"/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12565B20-D1A1-4223-BF0B-1C3C3D402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331720"/>
            <a:ext cx="4114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900" b="1">
                <a:solidFill>
                  <a:srgbClr val="D97A4A"/>
                </a:solidFill>
              </a:rPr>
              <a:t>2</a:t>
            </a:r>
            <a:endParaRPr sz="1900"/>
          </a:p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3D4C31FD-84E2-4C39-A7C6-4D3790A2C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40" y="2542032"/>
            <a:ext cx="5029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7A4A"/>
            </a:solidFill>
            <a:prstDash val="solid"/>
          </a:ln>
        </p:spPr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C35B96BF-6AF8-45F0-B43D-407D00A2C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2286000"/>
            <a:ext cx="21488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2C3D4C"/>
                </a:solidFill>
              </a:rPr>
              <a:t>Anrede</a:t>
            </a:r>
            <a:endParaRPr sz="1800"/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7E6FC390-A30C-486D-B325-87A104739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286000"/>
            <a:ext cx="48463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>
                <a:solidFill>
                  <a:srgbClr val="1F2A33"/>
                </a:solidFill>
              </a:rPr>
              <a:t>Sehr geehrte Frau …,</a:t>
            </a:r>
            <a:endParaRPr sz="1800"/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019B1A5D-57DB-4FC7-81D8-95124E30F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3063240"/>
            <a:ext cx="4114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900" b="1">
                <a:solidFill>
                  <a:srgbClr val="D97A4A"/>
                </a:solidFill>
              </a:rPr>
              <a:t>3</a:t>
            </a:r>
            <a:endParaRPr sz="1900"/>
          </a:p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BBF9717D-0299-439B-B2A1-0F9F16943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40" y="3273552"/>
            <a:ext cx="5029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7A4A"/>
            </a:solidFill>
            <a:prstDash val="solid"/>
          </a:ln>
        </p:spPr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3186A30F-D416-40B4-A3ED-5D46135B2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3017520"/>
            <a:ext cx="21488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2C3D4C"/>
                </a:solidFill>
              </a:rPr>
              <a:t>Brieftext</a:t>
            </a:r>
            <a:endParaRPr sz="1800"/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C2D83378-EAC4-40A6-9F8A-0031D8D4E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017520"/>
            <a:ext cx="48463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1800" b="0">
                <a:solidFill>
                  <a:srgbClr val="1F2A33"/>
                </a:solidFill>
                <a:latin typeface="Aptos"/>
                <a:ea typeface="Aptos"/>
                <a:cs typeface="Aptos"/>
              </a:rPr>
              <a:t>Dein Wunsch + ein weiterer passender Satz</a:t>
            </a:r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3976608F-725D-4CAA-BD27-7CDBDCDF8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3794760"/>
            <a:ext cx="4114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900" b="1">
                <a:solidFill>
                  <a:srgbClr val="D97A4A"/>
                </a:solidFill>
              </a:rPr>
              <a:t>4</a:t>
            </a:r>
            <a:endParaRPr sz="1900"/>
          </a:p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FE2E2AA9-CEF6-403B-973F-71E270439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40" y="4005072"/>
            <a:ext cx="5029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7A4A"/>
            </a:solidFill>
            <a:prstDash val="solid"/>
          </a:ln>
        </p:spPr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828B1833-2DF9-402A-BC88-67A725405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3749040"/>
            <a:ext cx="21488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2C3D4C"/>
                </a:solidFill>
              </a:rPr>
              <a:t>Grußformel</a:t>
            </a:r>
            <a:endParaRPr sz="1800"/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7FE58DA0-96F3-4D8C-9138-F620E4A64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749040"/>
            <a:ext cx="48463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>
                <a:solidFill>
                  <a:srgbClr val="1F2A33"/>
                </a:solidFill>
              </a:rPr>
              <a:t>Freundliche Grüße</a:t>
            </a:r>
            <a:endParaRPr sz="1800"/>
          </a:p>
        </p:txBody>
      </p:sp>
      <p:sp>
        <p:nvSpPr>
          <p:cNvPr id="23" name="Text 20">
            <a:extLst xmlns:a="http://schemas.openxmlformats.org/drawingml/2006/main">
              <a:ext uri="{FF2B5EF4-FFF2-40B4-BE49-F238E27FC236}">
                <a16:creationId xmlns:a16="http://schemas.microsoft.com/office/drawing/2014/main" id="{B42A89F9-ADFC-4004-A658-411B01F6B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526280"/>
            <a:ext cx="4114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900" b="1">
                <a:solidFill>
                  <a:srgbClr val="D97A4A"/>
                </a:solidFill>
              </a:rPr>
              <a:t>5</a:t>
            </a:r>
            <a:endParaRPr sz="1900"/>
          </a:p>
        </p:txBody>
      </p:sp>
      <p:sp>
        <p:nvSpPr>
          <p:cNvPr id="24" name="Shape 21">
            <a:extLst xmlns:a="http://schemas.openxmlformats.org/drawingml/2006/main">
              <a:ext uri="{FF2B5EF4-FFF2-40B4-BE49-F238E27FC236}">
                <a16:creationId xmlns:a16="http://schemas.microsoft.com/office/drawing/2014/main" id="{90830134-9F12-4566-AD71-3717C094B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40" y="4736592"/>
            <a:ext cx="5029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7A4A"/>
            </a:solidFill>
            <a:prstDash val="solid"/>
          </a:ln>
        </p:spPr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985BC65A-02FC-44AF-8B17-31FED9B7A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4480560"/>
            <a:ext cx="21488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2C3D4C"/>
                </a:solidFill>
              </a:rPr>
              <a:t>Name</a:t>
            </a:r>
            <a:endParaRPr sz="1800"/>
          </a:p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EF66428B-452E-41AC-9C4F-3B475735A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480560"/>
            <a:ext cx="48463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>
                <a:solidFill>
                  <a:srgbClr val="1F2A33"/>
                </a:solidFill>
              </a:rPr>
              <a:t>Mila</a:t>
            </a:r>
            <a:endParaRPr sz="1800"/>
          </a:p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F1D57734-4024-47A0-AC4A-669822878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5623560"/>
            <a:ext cx="8595360" cy="502920"/>
          </a:xfrm>
          <a:prstGeom xmlns:a="http://schemas.openxmlformats.org/drawingml/2006/main" prst="roundRect">
            <a:avLst>
              <a:gd name="adj" fmla="val 21818"/>
            </a:avLst>
          </a:prstGeom>
          <a:solidFill xmlns:a="http://schemas.openxmlformats.org/drawingml/2006/main">
            <a:srgbClr val="7DBB6F">
              <a:alpha val="96000"/>
            </a:srgbClr>
          </a:solidFill>
          <a:ln xmlns:a="http://schemas.openxmlformats.org/drawingml/2006/main" w="12700">
            <a:solidFill>
              <a:srgbClr val="7DBB6F">
                <a:alpha val="0"/>
              </a:srgbClr>
            </a:solidFill>
            <a:prstDash val="solid"/>
          </a:ln>
        </p:spPr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624852C5-7655-4B06-A0A0-7CE91781D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5104" y="5733288"/>
            <a:ext cx="8302752" cy="2834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FFFFFF"/>
                </a:solidFill>
              </a:rPr>
              <a:t>Merksatz: Ein Brief braucht Anfang, Brieftext und Ende.</a:t>
            </a:r>
            <a:endParaRPr sz="1800"/>
          </a:p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7C5B6B8F-7D03-4C2D-A23D-D4DF1B787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437376"/>
            <a:ext cx="649224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245688"/>
                </a:solidFill>
              </a:rPr>
              <a:t>Input 2 · Briefteile</a:t>
            </a:r>
            <a:endParaRPr sz="850"/>
          </a:p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742B4956-5D6F-4FE9-A6D6-CFD4BD693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0" y="6419088"/>
            <a:ext cx="29718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48DCCB"/>
                </a:solidFill>
              </a:rPr>
              <a:t>Planung → Durchführung → Reflexion</a:t>
            </a:r>
            <a:endParaRPr sz="950"/>
          </a:p>
        </p:txBody>
      </p:sp>
      <p:sp>
        <p:nvSpPr>
          <p:cNvPr id="31" name="Otterklasse Rahmen">
            <a:extLst xmlns:a="http://schemas.openxmlformats.org/drawingml/2006/main">
              <a:ext uri="{FF2B5EF4-FFF2-40B4-BE49-F238E27FC236}">
                <a16:creationId xmlns:a16="http://schemas.microsoft.com/office/drawing/2014/main" id="{6FDDAC9A-7468-4CD7-A531-273F5E386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95250"/>
            <a:ext cx="12001500" cy="666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245688"/>
            </a:solidFill>
            <a:prstDash val="solid"/>
          </a:ln>
        </p:spPr>
      </p:sp>
      <p:sp>
        <p:nvSpPr>
          <p:cNvPr id="32" name="Akzent Orange">
            <a:extLst xmlns:a="http://schemas.openxmlformats.org/drawingml/2006/main">
              <a:ext uri="{FF2B5EF4-FFF2-40B4-BE49-F238E27FC236}">
                <a16:creationId xmlns:a16="http://schemas.microsoft.com/office/drawing/2014/main" id="{2863D37E-6C05-448C-B14D-7CC68BCDF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95250"/>
            <a:ext cx="571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A66F"/>
          </a:solidFill>
          <a:ln xmlns:a="http://schemas.openxmlformats.org/drawingml/2006/main" w="0">
            <a:solidFill>
              <a:srgbClr val="F0A66F"/>
            </a:solidFill>
            <a:prstDash val="solid"/>
          </a:ln>
        </p:spPr>
      </p:sp>
      <p:sp>
        <p:nvSpPr>
          <p:cNvPr id="33" name="Akzent Mint">
            <a:extLst xmlns:a="http://schemas.openxmlformats.org/drawingml/2006/main">
              <a:ext uri="{FF2B5EF4-FFF2-40B4-BE49-F238E27FC236}">
                <a16:creationId xmlns:a16="http://schemas.microsoft.com/office/drawing/2014/main" id="{0FA0714D-F78E-4E61-A768-AECCFA6C4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39600" y="6019800"/>
            <a:ext cx="571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8DCCB"/>
          </a:solidFill>
          <a:ln xmlns:a="http://schemas.openxmlformats.org/drawingml/2006/main" w="0">
            <a:solidFill>
              <a:srgbClr val="48DCCB"/>
            </a:solidFill>
            <a:prstDash val="solid"/>
          </a:ln>
        </p:spPr>
      </p:sp>
      <p:pic>
        <p:nvPicPr>
          <p:cNvPr id="6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aa32a8499b84156"/>
          <a:stretch xmlns:a="http://schemas.openxmlformats.org/drawingml/2006/main"/>
        </p:blipFill>
        <p:spPr>
          <a:xfrm xmlns:a="http://schemas.openxmlformats.org/drawingml/2006/main">
            <a:off x="10629900" y="521970"/>
            <a:ext cx="781050" cy="61341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0780053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Shape 0">
            <a:extLst xmlns:a="http://schemas.openxmlformats.org/drawingml/2006/main">
              <a:ext uri="{FF2B5EF4-FFF2-40B4-BE49-F238E27FC236}">
                <a16:creationId xmlns:a16="http://schemas.microsoft.com/office/drawing/2014/main" id="{03BB418B-43C5-49E0-B82A-FDB5EDCB2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4" name="Shape 1">
            <a:extLst xmlns:a="http://schemas.openxmlformats.org/drawingml/2006/main">
              <a:ext uri="{FF2B5EF4-FFF2-40B4-BE49-F238E27FC236}">
                <a16:creationId xmlns:a16="http://schemas.microsoft.com/office/drawing/2014/main" id="{461FAED9-229A-49B7-81C1-625D75889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7472"/>
            <a:ext cx="11173968" cy="6144768"/>
          </a:xfrm>
          <a:prstGeom xmlns:a="http://schemas.openxmlformats.org/drawingml/2006/main" prst="roundRect">
            <a:avLst>
              <a:gd name="adj" fmla="val 279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24568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E5E0E860-709F-4510-8510-277CE3A76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676656"/>
            <a:ext cx="6995160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900" b="1">
                <a:solidFill>
                  <a:srgbClr val="2C3D4C"/>
                </a:solidFill>
                <a:latin typeface="Aptos Display"/>
                <a:ea typeface="Aptos Display"/>
                <a:cs typeface="Aptos Display"/>
              </a:rPr>
              <a:t>Briefpuzzle: Was kommt zuerst?</a:t>
            </a:r>
            <a:endParaRPr sz="2900"/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5EB4D405-CD67-431F-84DB-27EED4DC5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170432"/>
            <a:ext cx="7223760" cy="2834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>
                <a:solidFill>
                  <a:srgbClr val="3E5668"/>
                </a:solidFill>
              </a:rPr>
              <a:t>Reihenfolge üben</a:t>
            </a:r>
            <a:endParaRPr sz="1350"/>
          </a:p>
        </p:txBody>
      </p:sp>
      <p:sp>
        <p:nvSpPr>
          <p:cNvPr id="7" name="Shape 4">
            <a:extLst xmlns:a="http://schemas.openxmlformats.org/drawingml/2006/main">
              <a:ext uri="{FF2B5EF4-FFF2-40B4-BE49-F238E27FC236}">
                <a16:creationId xmlns:a16="http://schemas.microsoft.com/office/drawing/2014/main" id="{CBAA074B-085E-47AA-8740-B1E4685D6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508760"/>
            <a:ext cx="3977640" cy="3520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12700">
            <a:solidFill>
              <a:srgbClr val="E8D4C1"/>
            </a:solidFill>
            <a:prstDash val="solid"/>
          </a:ln>
        </p:spPr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B71B775E-1122-475B-B97D-B3740CADD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618488"/>
            <a:ext cx="3703320" cy="33009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>
                <a:solidFill>
                  <a:srgbClr val="1F2A33"/>
                </a:solidFill>
              </a:rPr>
              <a:t>Grußformel</a:t>
            </a:r>
            <a:endParaRPr sz="1800"/>
          </a:p>
          <a:p xmlns:a="http://schemas.openxmlformats.org/drawingml/2006/main">
            <a:pPr marL="0" indent="0">
              <a:buNone/>
            </a:pPr>
            <a:endParaRPr sz="1800"/>
          </a:p>
          <a:p xmlns:a="http://schemas.openxmlformats.org/drawingml/2006/main">
            <a:pPr marL="0" indent="0">
              <a:buNone/>
            </a:pPr>
            <a:r>
              <a:rPr sz="1800">
                <a:solidFill>
                  <a:srgbClr val="1F2A33"/>
                </a:solidFill>
              </a:rPr>
              <a:t>Dortmund, 07.09.2026</a:t>
            </a:r>
            <a:endParaRPr sz="1800"/>
          </a:p>
          <a:p xmlns:a="http://schemas.openxmlformats.org/drawingml/2006/main">
            <a:pPr marL="0" indent="0">
              <a:buNone/>
            </a:pPr>
            <a:endParaRPr sz="1800"/>
          </a:p>
          <a:p xmlns:a="http://schemas.openxmlformats.org/drawingml/2006/main">
            <a:pPr marL="0" indent="0">
              <a:buNone/>
            </a:pPr>
            <a:r>
              <a:rPr sz="1800">
                <a:solidFill>
                  <a:srgbClr val="1F2A33"/>
                </a:solidFill>
              </a:rPr>
              <a:t>Brieftext</a:t>
            </a:r>
            <a:endParaRPr sz="1800"/>
          </a:p>
          <a:p xmlns:a="http://schemas.openxmlformats.org/drawingml/2006/main">
            <a:pPr marL="0" indent="0">
              <a:buNone/>
            </a:pPr>
            <a:endParaRPr sz="1800"/>
          </a:p>
          <a:p xmlns:a="http://schemas.openxmlformats.org/drawingml/2006/main">
            <a:pPr marL="0" indent="0">
              <a:buNone/>
            </a:pPr>
            <a:r>
              <a:rPr sz="1800">
                <a:solidFill>
                  <a:srgbClr val="1F2A33"/>
                </a:solidFill>
              </a:rPr>
              <a:t>Anrede</a:t>
            </a:r>
            <a:endParaRPr sz="1800"/>
          </a:p>
          <a:p xmlns:a="http://schemas.openxmlformats.org/drawingml/2006/main">
            <a:pPr marL="0" indent="0">
              <a:buNone/>
            </a:pPr>
            <a:endParaRPr sz="1800"/>
          </a:p>
          <a:p xmlns:a="http://schemas.openxmlformats.org/drawingml/2006/main">
            <a:pPr marL="0" indent="0">
              <a:buNone/>
            </a:pPr>
            <a:r>
              <a:rPr sz="1800">
                <a:solidFill>
                  <a:srgbClr val="1F2A33"/>
                </a:solidFill>
              </a:rPr>
              <a:t>Name</a:t>
            </a:r>
            <a:endParaRPr sz="1800"/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33522F31-A0D7-4AF1-8F16-799504E66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3560" y="1645920"/>
            <a:ext cx="4526280" cy="2926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2000" b="0">
                <a:solidFill>
                  <a:srgbClr val="1F2A33"/>
                </a:solidFill>
                <a:latin typeface="Aptos"/>
                <a:ea typeface="Aptos"/>
                <a:cs typeface="Aptos"/>
              </a:rPr>
              <a:t>• Beginne mit Ort und Datum.</a:t>
            </a:r>
          </a:p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2000" b="0">
                <a:solidFill>
                  <a:srgbClr val="1F2A33"/>
                </a:solidFill>
                <a:latin typeface="Aptos"/>
                <a:ea typeface="Aptos"/>
                <a:cs typeface="Aptos"/>
              </a:rPr>
              <a:t>• Dann kommt die Anrede.</a:t>
            </a:r>
          </a:p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2000" b="0">
                <a:solidFill>
                  <a:srgbClr val="1F2A33"/>
                </a:solidFill>
                <a:latin typeface="Aptos"/>
                <a:ea typeface="Aptos"/>
                <a:cs typeface="Aptos"/>
              </a:rPr>
              <a:t>• Wunsch + weiterer passender Satz.</a:t>
            </a:r>
          </a:p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2000" b="0">
                <a:solidFill>
                  <a:srgbClr val="1F2A33"/>
                </a:solidFill>
                <a:latin typeface="Aptos"/>
                <a:ea typeface="Aptos"/>
                <a:cs typeface="Aptos"/>
              </a:rPr>
              <a:t>• Am Ende: Grußformel und Name.</a:t>
            </a:r>
          </a:p>
        </p:txBody>
      </p:sp>
      <p:sp>
        <p:nvSpPr>
          <p:cNvPr id="10" name="Shape 7">
            <a:extLst xmlns:a="http://schemas.openxmlformats.org/drawingml/2006/main">
              <a:ext uri="{FF2B5EF4-FFF2-40B4-BE49-F238E27FC236}">
                <a16:creationId xmlns:a16="http://schemas.microsoft.com/office/drawing/2014/main" id="{653D3A99-48A2-4446-80F8-F9DCE9ED3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4520" y="5285232"/>
            <a:ext cx="7863840" cy="566928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D97A4A">
              <a:alpha val="96000"/>
            </a:srgbClr>
          </a:solidFill>
          <a:ln xmlns:a="http://schemas.openxmlformats.org/drawingml/2006/main" w="12700">
            <a:solidFill>
              <a:srgbClr val="D97A4A">
                <a:alpha val="0"/>
              </a:srgbClr>
            </a:solidFill>
            <a:prstDash val="solid"/>
          </a:ln>
        </p:spPr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973E2176-AD62-4BC9-ACBC-E887E9E0A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0824" y="5394960"/>
            <a:ext cx="757123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FFFFFF"/>
                </a:solidFill>
              </a:rPr>
              <a:t>Auftrag: Bringe den Brief in die richtige Ordnung.</a:t>
            </a:r>
            <a:endParaRPr sz="1800"/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C4634B03-B8B3-4423-9A91-BE0C5A4AB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437376"/>
            <a:ext cx="649224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245688"/>
                </a:solidFill>
              </a:rPr>
              <a:t>Input 2 · Puzzle</a:t>
            </a:r>
            <a:endParaRPr sz="850"/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C4813C43-6063-4AFD-AA50-B1534738A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0" y="6419088"/>
            <a:ext cx="29718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48DCCB"/>
                </a:solidFill>
              </a:rPr>
              <a:t>Planung → Durchführung → Reflexion</a:t>
            </a:r>
            <a:endParaRPr sz="950"/>
          </a:p>
        </p:txBody>
      </p:sp>
      <p:sp>
        <p:nvSpPr>
          <p:cNvPr id="14" name="Otterklasse Rahmen">
            <a:extLst xmlns:a="http://schemas.openxmlformats.org/drawingml/2006/main">
              <a:ext uri="{FF2B5EF4-FFF2-40B4-BE49-F238E27FC236}">
                <a16:creationId xmlns:a16="http://schemas.microsoft.com/office/drawing/2014/main" id="{D88F117B-0C93-4463-BDB0-88F5CB782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95250"/>
            <a:ext cx="12001500" cy="666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245688"/>
            </a:solidFill>
            <a:prstDash val="solid"/>
          </a:ln>
        </p:spPr>
      </p:sp>
      <p:sp>
        <p:nvSpPr>
          <p:cNvPr id="15" name="Akzent Orange">
            <a:extLst xmlns:a="http://schemas.openxmlformats.org/drawingml/2006/main">
              <a:ext uri="{FF2B5EF4-FFF2-40B4-BE49-F238E27FC236}">
                <a16:creationId xmlns:a16="http://schemas.microsoft.com/office/drawing/2014/main" id="{40EBAE0A-4A8A-4AAE-92D1-E0AD6FCF8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95250"/>
            <a:ext cx="571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A66F"/>
          </a:solidFill>
          <a:ln xmlns:a="http://schemas.openxmlformats.org/drawingml/2006/main" w="0">
            <a:solidFill>
              <a:srgbClr val="F0A66F"/>
            </a:solidFill>
            <a:prstDash val="solid"/>
          </a:ln>
        </p:spPr>
      </p:sp>
      <p:sp>
        <p:nvSpPr>
          <p:cNvPr id="16" name="Akzent Mint">
            <a:extLst xmlns:a="http://schemas.openxmlformats.org/drawingml/2006/main">
              <a:ext uri="{FF2B5EF4-FFF2-40B4-BE49-F238E27FC236}">
                <a16:creationId xmlns:a16="http://schemas.microsoft.com/office/drawing/2014/main" id="{92FBB4FD-6902-44DE-932C-09AA57E61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39600" y="6019800"/>
            <a:ext cx="571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8DCCB"/>
          </a:solidFill>
          <a:ln xmlns:a="http://schemas.openxmlformats.org/drawingml/2006/main" w="0">
            <a:solidFill>
              <a:srgbClr val="48DCCB"/>
            </a:solidFill>
            <a:prstDash val="solid"/>
          </a:ln>
        </p:spPr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34b6b505204a07"/>
          <a:stretch xmlns:a="http://schemas.openxmlformats.org/drawingml/2006/main"/>
        </p:blipFill>
        <p:spPr>
          <a:xfrm xmlns:a="http://schemas.openxmlformats.org/drawingml/2006/main">
            <a:off x="10629900" y="498718"/>
            <a:ext cx="781050" cy="65991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7873268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Shape 0">
            <a:extLst xmlns:a="http://schemas.openxmlformats.org/drawingml/2006/main">
              <a:ext uri="{FF2B5EF4-FFF2-40B4-BE49-F238E27FC236}">
                <a16:creationId xmlns:a16="http://schemas.microsoft.com/office/drawing/2014/main" id="{B80C67E5-F847-4BBF-A66C-44E4DA2FF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4" name="Shape 1">
            <a:extLst xmlns:a="http://schemas.openxmlformats.org/drawingml/2006/main">
              <a:ext uri="{FF2B5EF4-FFF2-40B4-BE49-F238E27FC236}">
                <a16:creationId xmlns:a16="http://schemas.microsoft.com/office/drawing/2014/main" id="{59A7BBA3-6404-408D-83A8-4AF899954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7472"/>
            <a:ext cx="11173968" cy="6144768"/>
          </a:xfrm>
          <a:prstGeom xmlns:a="http://schemas.openxmlformats.org/drawingml/2006/main" prst="roundRect">
            <a:avLst>
              <a:gd name="adj" fmla="val 279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24568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AC665B46-6D98-4454-BC76-A8AFE6E0D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676656"/>
            <a:ext cx="6995160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2900" b="1">
                <a:solidFill>
                  <a:srgbClr val="2C3D4C"/>
                </a:solidFill>
                <a:latin typeface="Aptos Display"/>
                <a:ea typeface="Aptos Display"/>
                <a:cs typeface="Aptos Display"/>
              </a:rPr>
              <a:t>Die Anrede passt zur Person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12E4E0BC-5EB3-4A81-88F3-B9B43426E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170432"/>
            <a:ext cx="7223760" cy="2834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>
                <a:solidFill>
                  <a:srgbClr val="3E5668"/>
                </a:solidFill>
              </a:rPr>
              <a:t>Wer bekommt den Brief?</a:t>
            </a:r>
            <a:endParaRPr sz="1350"/>
          </a:p>
        </p:txBody>
      </p:sp>
      <p:sp>
        <p:nvSpPr>
          <p:cNvPr id="7" name="Shape 4">
            <a:extLst xmlns:a="http://schemas.openxmlformats.org/drawingml/2006/main">
              <a:ext uri="{FF2B5EF4-FFF2-40B4-BE49-F238E27FC236}">
                <a16:creationId xmlns:a16="http://schemas.microsoft.com/office/drawing/2014/main" id="{33945404-D3F9-4945-B1F5-80AF50577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1627632"/>
            <a:ext cx="3108960" cy="658368"/>
          </a:xfrm>
          <a:prstGeom xmlns:a="http://schemas.openxmlformats.org/drawingml/2006/main" prst="roundRect">
            <a:avLst>
              <a:gd name="adj" fmla="val 13889"/>
            </a:avLst>
          </a:prstGeom>
          <a:solidFill xmlns:a="http://schemas.openxmlformats.org/drawingml/2006/main">
            <a:srgbClr val="EEF2F4"/>
          </a:solidFill>
          <a:ln xmlns:a="http://schemas.openxmlformats.org/drawingml/2006/main" w="12700">
            <a:solidFill>
              <a:srgbClr val="D8D8D8"/>
            </a:solidFill>
            <a:prstDash val="solid"/>
          </a:ln>
        </p:spPr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FDDB8979-34C8-4B05-BDFB-C259DA95B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1792224"/>
            <a:ext cx="27432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2C3D4C"/>
                </a:solidFill>
              </a:rPr>
              <a:t>Klassenleitung</a:t>
            </a:r>
            <a:endParaRPr sz="1700"/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F7C83584-4EF7-4D2D-A4C7-1B0D071A0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1783080"/>
            <a:ext cx="4114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100" b="1">
                <a:solidFill>
                  <a:srgbClr val="D97A4A"/>
                </a:solidFill>
              </a:rPr>
              <a:t>→</a:t>
            </a:r>
            <a:endParaRPr sz="2100"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6CAFD6AE-9E1E-4D6A-9D73-A650F3BF0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4920" y="1792224"/>
            <a:ext cx="48920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>
                <a:solidFill>
                  <a:srgbClr val="1F2A33"/>
                </a:solidFill>
              </a:rPr>
              <a:t>Liebe Frau …, / Lieber Herr …,</a:t>
            </a:r>
            <a:endParaRPr sz="1700"/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F688EE90-CB82-4019-9FC3-9FCF7265F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2788920"/>
            <a:ext cx="3108960" cy="658368"/>
          </a:xfrm>
          <a:prstGeom xmlns:a="http://schemas.openxmlformats.org/drawingml/2006/main" prst="roundRect">
            <a:avLst>
              <a:gd name="adj" fmla="val 13889"/>
            </a:avLst>
          </a:prstGeom>
          <a:solidFill xmlns:a="http://schemas.openxmlformats.org/drawingml/2006/main">
            <a:srgbClr val="EEF2F4"/>
          </a:solidFill>
          <a:ln xmlns:a="http://schemas.openxmlformats.org/drawingml/2006/main" w="12700">
            <a:solidFill>
              <a:srgbClr val="D8D8D8"/>
            </a:solidFill>
            <a:prstDash val="solid"/>
          </a:ln>
        </p:spPr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D3944CEE-8492-4795-B99A-5F1BABF3C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2953512"/>
            <a:ext cx="27432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2C3D4C"/>
                </a:solidFill>
              </a:rPr>
              <a:t>Schulleitung</a:t>
            </a:r>
            <a:endParaRPr sz="1700"/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189F327B-F7AB-4C87-8F3C-56E3E7EF7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2944368"/>
            <a:ext cx="4114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100" b="1">
                <a:solidFill>
                  <a:srgbClr val="D97A4A"/>
                </a:solidFill>
              </a:rPr>
              <a:t>→</a:t>
            </a:r>
            <a:endParaRPr sz="2100"/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97988234-F7BE-4771-8A8C-0AC9B96A5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4920" y="2953512"/>
            <a:ext cx="48920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>
                <a:solidFill>
                  <a:srgbClr val="1F2A33"/>
                </a:solidFill>
              </a:rPr>
              <a:t>Sehr geehrte Frau …, / Sehr geehrter Herr …,</a:t>
            </a:r>
            <a:endParaRPr sz="1700"/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02AC4438-58D0-42C7-B4DB-0B89F8BB4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3950208"/>
            <a:ext cx="3108960" cy="658368"/>
          </a:xfrm>
          <a:prstGeom xmlns:a="http://schemas.openxmlformats.org/drawingml/2006/main" prst="roundRect">
            <a:avLst>
              <a:gd name="adj" fmla="val 13889"/>
            </a:avLst>
          </a:prstGeom>
          <a:solidFill xmlns:a="http://schemas.openxmlformats.org/drawingml/2006/main">
            <a:srgbClr val="EEF2F4"/>
          </a:solidFill>
          <a:ln xmlns:a="http://schemas.openxmlformats.org/drawingml/2006/main" w="12700">
            <a:solidFill>
              <a:srgbClr val="D8D8D8"/>
            </a:solidFill>
            <a:prstDash val="solid"/>
          </a:ln>
        </p:spPr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41D6726E-BAC3-4981-82C7-AF99FA997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4114800"/>
            <a:ext cx="27432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2C3D4C"/>
                </a:solidFill>
              </a:rPr>
              <a:t>Freund oder Freundin</a:t>
            </a:r>
            <a:endParaRPr sz="1700"/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247A3E21-89EA-4470-BA06-AD9EDEA07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4105656"/>
            <a:ext cx="4114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100" b="1">
                <a:solidFill>
                  <a:srgbClr val="D97A4A"/>
                </a:solidFill>
              </a:rPr>
              <a:t>→</a:t>
            </a:r>
            <a:endParaRPr sz="2100"/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E5AF1054-4475-4B9A-BE9E-FDC5C03F5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4920" y="4114800"/>
            <a:ext cx="48920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>
                <a:solidFill>
                  <a:srgbClr val="1F2A33"/>
                </a:solidFill>
              </a:rPr>
              <a:t>Liebe …, / Lieber …,</a:t>
            </a:r>
            <a:endParaRPr sz="1700"/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66B8359D-089A-4D49-8A3A-3450A7AD8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3080" y="5321808"/>
            <a:ext cx="8229600" cy="530352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7DBB6F">
              <a:alpha val="96000"/>
            </a:srgbClr>
          </a:solidFill>
          <a:ln xmlns:a="http://schemas.openxmlformats.org/drawingml/2006/main" w="12700">
            <a:solidFill>
              <a:srgbClr val="7DBB6F">
                <a:alpha val="0"/>
              </a:srgbClr>
            </a:solidFill>
            <a:prstDash val="solid"/>
          </a:ln>
        </p:spPr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A4A1C940-7402-472B-8816-0E04A1144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9384" y="5431536"/>
            <a:ext cx="7936992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FFFFFF"/>
                </a:solidFill>
              </a:rPr>
              <a:t>Die Anrede muss zur angeschriebenen Person passen.</a:t>
            </a:r>
            <a:endParaRPr sz="1800"/>
          </a:p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BDC53BCC-71D2-4883-BD13-E53F0648B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437376"/>
            <a:ext cx="649224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245688"/>
                </a:solidFill>
              </a:rPr>
              <a:t>Input 2 · Anrede</a:t>
            </a:r>
            <a:endParaRPr sz="850"/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5AB82DBD-08A8-419D-A8D0-24A72226C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0" y="6419088"/>
            <a:ext cx="29718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48DCCB"/>
                </a:solidFill>
              </a:rPr>
              <a:t>Planung → Durchführung → Reflexion</a:t>
            </a:r>
            <a:endParaRPr sz="950"/>
          </a:p>
        </p:txBody>
      </p:sp>
      <p:sp>
        <p:nvSpPr>
          <p:cNvPr id="23" name="Otterklasse Rahmen">
            <a:extLst xmlns:a="http://schemas.openxmlformats.org/drawingml/2006/main">
              <a:ext uri="{FF2B5EF4-FFF2-40B4-BE49-F238E27FC236}">
                <a16:creationId xmlns:a16="http://schemas.microsoft.com/office/drawing/2014/main" id="{C25FB965-9062-4F3E-8A06-303A784C0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95250"/>
            <a:ext cx="12001500" cy="666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245688"/>
            </a:solidFill>
            <a:prstDash val="solid"/>
          </a:ln>
        </p:spPr>
      </p:sp>
      <p:sp>
        <p:nvSpPr>
          <p:cNvPr id="24" name="Akzent Orange">
            <a:extLst xmlns:a="http://schemas.openxmlformats.org/drawingml/2006/main">
              <a:ext uri="{FF2B5EF4-FFF2-40B4-BE49-F238E27FC236}">
                <a16:creationId xmlns:a16="http://schemas.microsoft.com/office/drawing/2014/main" id="{CD2F844D-5D1B-4D05-A8FB-4E996751F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95250"/>
            <a:ext cx="571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A66F"/>
          </a:solidFill>
          <a:ln xmlns:a="http://schemas.openxmlformats.org/drawingml/2006/main" w="0">
            <a:solidFill>
              <a:srgbClr val="F0A66F"/>
            </a:solidFill>
            <a:prstDash val="solid"/>
          </a:ln>
        </p:spPr>
      </p:sp>
      <p:sp>
        <p:nvSpPr>
          <p:cNvPr id="25" name="Akzent Mint">
            <a:extLst xmlns:a="http://schemas.openxmlformats.org/drawingml/2006/main">
              <a:ext uri="{FF2B5EF4-FFF2-40B4-BE49-F238E27FC236}">
                <a16:creationId xmlns:a16="http://schemas.microsoft.com/office/drawing/2014/main" id="{24175849-C04B-426A-9426-FBEA4FA65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39600" y="6019800"/>
            <a:ext cx="571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8DCCB"/>
          </a:solidFill>
          <a:ln xmlns:a="http://schemas.openxmlformats.org/drawingml/2006/main" w="0">
            <a:solidFill>
              <a:srgbClr val="48DCCB"/>
            </a:solidFill>
            <a:prstDash val="solid"/>
          </a:ln>
        </p:spPr>
      </p:sp>
      <p:pic>
        <p:nvPicPr>
          <p:cNvPr id="5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cecf3888ec24f43"/>
          <a:stretch xmlns:a="http://schemas.openxmlformats.org/drawingml/2006/main"/>
        </p:blipFill>
        <p:spPr>
          <a:xfrm xmlns:a="http://schemas.openxmlformats.org/drawingml/2006/main">
            <a:off x="10629900" y="511573"/>
            <a:ext cx="781050" cy="634204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5434982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Shape 0">
            <a:extLst xmlns:a="http://schemas.openxmlformats.org/drawingml/2006/main">
              <a:ext uri="{FF2B5EF4-FFF2-40B4-BE49-F238E27FC236}">
                <a16:creationId xmlns:a16="http://schemas.microsoft.com/office/drawing/2014/main" id="{CD0F5DDF-FD32-4D75-8620-4F7262B46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4" name="Shape 1">
            <a:extLst xmlns:a="http://schemas.openxmlformats.org/drawingml/2006/main">
              <a:ext uri="{FF2B5EF4-FFF2-40B4-BE49-F238E27FC236}">
                <a16:creationId xmlns:a16="http://schemas.microsoft.com/office/drawing/2014/main" id="{C2733131-4BF1-4D42-B119-6079337E6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731520"/>
            <a:ext cx="5852160" cy="5074920"/>
          </a:xfrm>
          <a:prstGeom xmlns:a="http://schemas.openxmlformats.org/drawingml/2006/main" prst="roundRect">
            <a:avLst>
              <a:gd name="adj" fmla="val 3378"/>
            </a:avLst>
          </a:prstGeom>
          <a:solidFill xmlns:a="http://schemas.openxmlformats.org/drawingml/2006/main">
            <a:srgbClr val="DCECF8"/>
          </a:solidFill>
          <a:ln xmlns:a="http://schemas.openxmlformats.org/drawingml/2006/main" w="13335">
            <a:solidFill>
              <a:srgbClr val="24568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6DB474CB-E352-4DCC-8D8C-17C884662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" y="1060704"/>
            <a:ext cx="20116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D97A4A"/>
                </a:solidFill>
              </a:rPr>
              <a:t>Input 3</a:t>
            </a:r>
            <a:endParaRPr sz="1700"/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125F5F43-B5B0-41B5-BFDF-392DDE115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" y="1508760"/>
            <a:ext cx="507492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7059"/>
          </a:bodyPr>
          <a:lstStyle xmlns:a="http://schemas.openxmlformats.org/drawingml/2006/main"/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3400" b="1">
                <a:solidFill>
                  <a:srgbClr val="2C3D4C"/>
                </a:solidFill>
                <a:latin typeface="Aptos Display"/>
                <a:ea typeface="Aptos Display"/>
                <a:cs typeface="Aptos Display"/>
              </a:rPr>
              <a:t>Wünsche freundlich und genau formulieren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163FED00-7824-4706-BA0B-20B442772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" y="2971800"/>
            <a:ext cx="498348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2000" b="0">
                <a:solidFill>
                  <a:srgbClr val="1F2A33"/>
                </a:solidFill>
                <a:latin typeface="Aptos"/>
                <a:ea typeface="Aptos"/>
                <a:cs typeface="Aptos"/>
              </a:rPr>
              <a:t>Du formulierst deinen Wunsch klar und freundlich. Gründe und Daten sind freiwillig.</a:t>
            </a:r>
          </a:p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B9EC03CC-5416-41DE-84F8-47E0E094C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" y="5047488"/>
            <a:ext cx="3200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3E5668"/>
                </a:solidFill>
              </a:rPr>
              <a:t>Impuls für die Klasse</a:t>
            </a:r>
            <a:endParaRPr sz="1400"/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5E376144-11B6-4596-A75F-DC6E9FC49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437376"/>
            <a:ext cx="649224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245688"/>
                </a:solidFill>
              </a:rPr>
              <a:t>Input 3</a:t>
            </a:r>
            <a:endParaRPr sz="850"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8D33F8D6-9EB9-4761-BD96-CF99A8F52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0" y="6419088"/>
            <a:ext cx="29718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48DCCB"/>
                </a:solidFill>
              </a:rPr>
              <a:t>Planung → Durchführung → Reflexion</a:t>
            </a:r>
            <a:endParaRPr sz="950"/>
          </a:p>
        </p:txBody>
      </p:sp>
      <p:sp>
        <p:nvSpPr>
          <p:cNvPr id="11" name="Otterklasse Rahmen">
            <a:extLst xmlns:a="http://schemas.openxmlformats.org/drawingml/2006/main">
              <a:ext uri="{FF2B5EF4-FFF2-40B4-BE49-F238E27FC236}">
                <a16:creationId xmlns:a16="http://schemas.microsoft.com/office/drawing/2014/main" id="{4CACEB24-C661-4B81-AA79-B125813E6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95250"/>
            <a:ext cx="12001500" cy="666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245688"/>
            </a:solidFill>
            <a:prstDash val="solid"/>
          </a:ln>
        </p:spPr>
      </p:sp>
      <p:sp>
        <p:nvSpPr>
          <p:cNvPr id="12" name="Akzent Orange">
            <a:extLst xmlns:a="http://schemas.openxmlformats.org/drawingml/2006/main">
              <a:ext uri="{FF2B5EF4-FFF2-40B4-BE49-F238E27FC236}">
                <a16:creationId xmlns:a16="http://schemas.microsoft.com/office/drawing/2014/main" id="{9CC94583-5538-4397-8311-93AD50276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95250"/>
            <a:ext cx="571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A66F"/>
          </a:solidFill>
          <a:ln xmlns:a="http://schemas.openxmlformats.org/drawingml/2006/main" w="0">
            <a:solidFill>
              <a:srgbClr val="F0A66F"/>
            </a:solidFill>
            <a:prstDash val="solid"/>
          </a:ln>
        </p:spPr>
      </p:sp>
      <p:sp>
        <p:nvSpPr>
          <p:cNvPr id="13" name="Akzent Mint">
            <a:extLst xmlns:a="http://schemas.openxmlformats.org/drawingml/2006/main">
              <a:ext uri="{FF2B5EF4-FFF2-40B4-BE49-F238E27FC236}">
                <a16:creationId xmlns:a16="http://schemas.microsoft.com/office/drawing/2014/main" id="{D703C2C1-D311-48E2-86C1-FA92B3DAF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39600" y="6019800"/>
            <a:ext cx="571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8DCCB"/>
          </a:solidFill>
          <a:ln xmlns:a="http://schemas.openxmlformats.org/drawingml/2006/main" w="0">
            <a:solidFill>
              <a:srgbClr val="48DCCB"/>
            </a:solidFill>
            <a:prstDash val="solid"/>
          </a:ln>
        </p:spPr>
      </p:sp>
      <p:sp>
        <p:nvSpPr>
          <p:cNvPr id="14" name="Otter Bildfeld">
            <a:extLst xmlns:a="http://schemas.openxmlformats.org/drawingml/2006/main">
              <a:ext uri="{FF2B5EF4-FFF2-40B4-BE49-F238E27FC236}">
                <a16:creationId xmlns:a16="http://schemas.microsoft.com/office/drawing/2014/main" id="{D77969C4-B6F7-485B-8388-16602C884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685800"/>
            <a:ext cx="4095750" cy="4953000"/>
          </a:xfrm>
          <a:prstGeom xmlns:a="http://schemas.openxmlformats.org/drawingml/2006/main" prst="roundRect">
            <a:avLst>
              <a:gd name="adj" fmla="val 5581"/>
            </a:avLst>
          </a:prstGeom>
          <a:solidFill xmlns:a="http://schemas.openxmlformats.org/drawingml/2006/main">
            <a:srgbClr val="E0F7F1"/>
          </a:solidFill>
          <a:ln xmlns:a="http://schemas.openxmlformats.org/drawingml/2006/main" w="9525">
            <a:solidFill>
              <a:srgbClr val="245688"/>
            </a:solidFill>
            <a:prstDash val="solid"/>
          </a:ln>
        </p:spPr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0151298794e49cc"/>
          <a:stretch xmlns:a="http://schemas.openxmlformats.org/drawingml/2006/main"/>
        </p:blipFill>
        <p:spPr>
          <a:xfrm xmlns:a="http://schemas.openxmlformats.org/drawingml/2006/main">
            <a:off x="7667625" y="1580259"/>
            <a:ext cx="3238500" cy="2935482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5532573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Shape 0">
            <a:extLst xmlns:a="http://schemas.openxmlformats.org/drawingml/2006/main">
              <a:ext uri="{FF2B5EF4-FFF2-40B4-BE49-F238E27FC236}">
                <a16:creationId xmlns:a16="http://schemas.microsoft.com/office/drawing/2014/main" id="{F07480D8-22F5-4EDE-9AF7-C196E4FCD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4" name="Shape 1">
            <a:extLst xmlns:a="http://schemas.openxmlformats.org/drawingml/2006/main">
              <a:ext uri="{FF2B5EF4-FFF2-40B4-BE49-F238E27FC236}">
                <a16:creationId xmlns:a16="http://schemas.microsoft.com/office/drawing/2014/main" id="{1B07E436-1C46-4099-9E9B-10730AA10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7472"/>
            <a:ext cx="11173968" cy="6144768"/>
          </a:xfrm>
          <a:prstGeom xmlns:a="http://schemas.openxmlformats.org/drawingml/2006/main" prst="roundRect">
            <a:avLst>
              <a:gd name="adj" fmla="val 279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24568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65EA3141-5839-466B-8F99-5E7EF7F7E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676656"/>
            <a:ext cx="6995160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900" b="1">
                <a:solidFill>
                  <a:srgbClr val="2C3D4C"/>
                </a:solidFill>
                <a:latin typeface="Aptos Display"/>
                <a:ea typeface="Aptos Display"/>
                <a:cs typeface="Aptos Display"/>
              </a:rPr>
              <a:t>Freundlich oder fordernd?</a:t>
            </a:r>
            <a:endParaRPr sz="2900"/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4D78190E-E3EE-46ED-8ECD-53CB13863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170432"/>
            <a:ext cx="7223760" cy="2834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>
                <a:solidFill>
                  <a:srgbClr val="3E5668"/>
                </a:solidFill>
              </a:rPr>
              <a:t>Formulierungen vergleichen</a:t>
            </a:r>
            <a:endParaRPr sz="1350"/>
          </a:p>
        </p:txBody>
      </p:sp>
      <p:sp>
        <p:nvSpPr>
          <p:cNvPr id="7" name="Shape 4">
            <a:extLst xmlns:a="http://schemas.openxmlformats.org/drawingml/2006/main">
              <a:ext uri="{FF2B5EF4-FFF2-40B4-BE49-F238E27FC236}">
                <a16:creationId xmlns:a16="http://schemas.microsoft.com/office/drawing/2014/main" id="{229838C6-F4A8-4AA4-9067-35797397E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1554480"/>
            <a:ext cx="4800600" cy="658368"/>
          </a:xfrm>
          <a:prstGeom xmlns:a="http://schemas.openxmlformats.org/drawingml/2006/main" prst="roundRect">
            <a:avLst>
              <a:gd name="adj" fmla="val 13889"/>
            </a:avLst>
          </a:prstGeom>
          <a:solidFill xmlns:a="http://schemas.openxmlformats.org/drawingml/2006/main">
            <a:srgbClr val="F8EEE7"/>
          </a:solidFill>
          <a:ln xmlns:a="http://schemas.openxmlformats.org/drawingml/2006/main" w="12700">
            <a:solidFill>
              <a:srgbClr val="E8C4B3"/>
            </a:solidFill>
            <a:prstDash val="solid"/>
          </a:ln>
        </p:spPr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1E9882B5-8400-4E07-B178-4F56BE965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" y="1719072"/>
            <a:ext cx="443484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4545"/>
          </a:bodyPr>
          <a:lstStyle xmlns:a="http://schemas.openxmlformats.org/drawingml/2006/main"/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7E3B1C"/>
                </a:solidFill>
                <a:latin typeface="Aptos"/>
                <a:ea typeface="Aptos"/>
                <a:cs typeface="Aptos"/>
              </a:rPr>
              <a:t>Gebt uns sofort neue Spiele!</a:t>
            </a:r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0D12B36C-888E-49BA-A7B2-CBBAD5F88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06440" y="1700784"/>
            <a:ext cx="3200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100" b="1">
                <a:solidFill>
                  <a:srgbClr val="D97A4A"/>
                </a:solidFill>
              </a:rPr>
              <a:t>→</a:t>
            </a:r>
            <a:endParaRPr sz="2100"/>
          </a:p>
        </p:txBody>
      </p:sp>
      <p:sp>
        <p:nvSpPr>
          <p:cNvPr id="10" name="Shape 7">
            <a:extLst xmlns:a="http://schemas.openxmlformats.org/drawingml/2006/main">
              <a:ext uri="{FF2B5EF4-FFF2-40B4-BE49-F238E27FC236}">
                <a16:creationId xmlns:a16="http://schemas.microsoft.com/office/drawing/2014/main" id="{5CA3481E-7745-473F-BF0B-5EC4F0291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554480"/>
            <a:ext cx="4846320" cy="658368"/>
          </a:xfrm>
          <a:prstGeom xmlns:a="http://schemas.openxmlformats.org/drawingml/2006/main" prst="roundRect">
            <a:avLst>
              <a:gd name="adj" fmla="val 13889"/>
            </a:avLst>
          </a:prstGeom>
          <a:solidFill xmlns:a="http://schemas.openxmlformats.org/drawingml/2006/main">
            <a:srgbClr val="EDF5EA"/>
          </a:solidFill>
          <a:ln xmlns:a="http://schemas.openxmlformats.org/drawingml/2006/main" w="12700">
            <a:solidFill>
              <a:srgbClr val="C3DBBB"/>
            </a:solidFill>
            <a:prstDash val="solid"/>
          </a:ln>
        </p:spPr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8251B3EB-1675-4AC9-A59D-62AE8640C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1719072"/>
            <a:ext cx="448056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50">
                <a:solidFill>
                  <a:srgbClr val="1D4D25"/>
                </a:solidFill>
              </a:rPr>
              <a:t>Wir wünschen uns neue Spiele für die Pause.</a:t>
            </a:r>
            <a:endParaRPr sz="1650"/>
          </a:p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5815EE71-67AE-4B21-91CD-241218299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2743200"/>
            <a:ext cx="4800600" cy="658368"/>
          </a:xfrm>
          <a:prstGeom xmlns:a="http://schemas.openxmlformats.org/drawingml/2006/main" prst="roundRect">
            <a:avLst>
              <a:gd name="adj" fmla="val 13889"/>
            </a:avLst>
          </a:prstGeom>
          <a:solidFill xmlns:a="http://schemas.openxmlformats.org/drawingml/2006/main">
            <a:srgbClr val="F8EEE7"/>
          </a:solidFill>
          <a:ln xmlns:a="http://schemas.openxmlformats.org/drawingml/2006/main" w="12700">
            <a:solidFill>
              <a:srgbClr val="E8C4B3"/>
            </a:solidFill>
            <a:prstDash val="solid"/>
          </a:ln>
        </p:spPr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CA62B236-7015-40F4-A081-EC21ACFBC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" y="2907792"/>
            <a:ext cx="443484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50">
                <a:solidFill>
                  <a:srgbClr val="7E3B1C"/>
                </a:solidFill>
              </a:rPr>
              <a:t>Kaufen Sie uns eine Leseecke.</a:t>
            </a:r>
            <a:endParaRPr sz="1650"/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8112124F-C5C9-4B86-8BCD-FD82FD4B7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06440" y="2889504"/>
            <a:ext cx="3200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100" b="1">
                <a:solidFill>
                  <a:srgbClr val="D97A4A"/>
                </a:solidFill>
              </a:rPr>
              <a:t>→</a:t>
            </a:r>
            <a:endParaRPr sz="2100"/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5F625B5C-2C77-4C65-9E7F-F51C570EF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2743200"/>
            <a:ext cx="4846320" cy="658368"/>
          </a:xfrm>
          <a:prstGeom xmlns:a="http://schemas.openxmlformats.org/drawingml/2006/main" prst="roundRect">
            <a:avLst>
              <a:gd name="adj" fmla="val 13889"/>
            </a:avLst>
          </a:prstGeom>
          <a:solidFill xmlns:a="http://schemas.openxmlformats.org/drawingml/2006/main">
            <a:srgbClr val="EDF5EA"/>
          </a:solidFill>
          <a:ln xmlns:a="http://schemas.openxmlformats.org/drawingml/2006/main" w="12700">
            <a:solidFill>
              <a:srgbClr val="C3DBBB"/>
            </a:solidFill>
            <a:prstDash val="solid"/>
          </a:ln>
        </p:spPr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166B496C-C75C-47F5-9471-945EA672B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2907792"/>
            <a:ext cx="448056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50">
                <a:solidFill>
                  <a:srgbClr val="1D4D25"/>
                </a:solidFill>
              </a:rPr>
              <a:t>Wir würden uns über eine Leseecke freuen.</a:t>
            </a:r>
            <a:endParaRPr sz="1650"/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AB18962F-8963-4FF2-9218-229C33165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3931920"/>
            <a:ext cx="4800600" cy="658368"/>
          </a:xfrm>
          <a:prstGeom xmlns:a="http://schemas.openxmlformats.org/drawingml/2006/main" prst="roundRect">
            <a:avLst>
              <a:gd name="adj" fmla="val 13889"/>
            </a:avLst>
          </a:prstGeom>
          <a:solidFill xmlns:a="http://schemas.openxmlformats.org/drawingml/2006/main">
            <a:srgbClr val="F8EEE7"/>
          </a:solidFill>
          <a:ln xmlns:a="http://schemas.openxmlformats.org/drawingml/2006/main" w="12700">
            <a:solidFill>
              <a:srgbClr val="E8C4B3"/>
            </a:solidFill>
            <a:prstDash val="solid"/>
          </a:ln>
        </p:spPr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1B62ECCA-4393-4F97-B923-29929E023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" y="4096512"/>
            <a:ext cx="443484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4545"/>
          </a:bodyPr>
          <a:lstStyle xmlns:a="http://schemas.openxmlformats.org/drawingml/2006/main"/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7E3B1C"/>
                </a:solidFill>
                <a:latin typeface="Aptos"/>
                <a:ea typeface="Aptos"/>
                <a:cs typeface="Aptos"/>
              </a:rPr>
              <a:t>Wir brauchen Zeug für die Pause.</a:t>
            </a:r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25E12D8B-A992-41FE-8116-99812BE1A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06440" y="4078224"/>
            <a:ext cx="3200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100" b="1">
                <a:solidFill>
                  <a:srgbClr val="D97A4A"/>
                </a:solidFill>
              </a:rPr>
              <a:t>→</a:t>
            </a:r>
            <a:endParaRPr sz="2100"/>
          </a:p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0D295921-75E6-48A4-8AA0-9BDF6F212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3931920"/>
            <a:ext cx="4846320" cy="658368"/>
          </a:xfrm>
          <a:prstGeom xmlns:a="http://schemas.openxmlformats.org/drawingml/2006/main" prst="roundRect">
            <a:avLst>
              <a:gd name="adj" fmla="val 13889"/>
            </a:avLst>
          </a:prstGeom>
          <a:solidFill xmlns:a="http://schemas.openxmlformats.org/drawingml/2006/main">
            <a:srgbClr val="EDF5EA"/>
          </a:solidFill>
          <a:ln xmlns:a="http://schemas.openxmlformats.org/drawingml/2006/main" w="12700">
            <a:solidFill>
              <a:srgbClr val="C3DBBB"/>
            </a:solidFill>
            <a:prstDash val="solid"/>
          </a:ln>
        </p:spPr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008BAF92-A838-43B2-A53D-95CAA9D9A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4096512"/>
            <a:ext cx="448056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4545"/>
          </a:bodyPr>
          <a:lstStyle xmlns:a="http://schemas.openxmlformats.org/drawingml/2006/main"/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1D4D25"/>
                </a:solidFill>
                <a:latin typeface="Aptos"/>
                <a:ea typeface="Aptos"/>
                <a:cs typeface="Aptos"/>
              </a:rPr>
              <a:t>Ich wünsche mir neue Bälle für die Pause.</a:t>
            </a:r>
          </a:p>
        </p:txBody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40F63045-9471-4E20-AA28-9B9578E45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1720" y="5285232"/>
            <a:ext cx="7315200" cy="54864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7DBB6F">
              <a:alpha val="96000"/>
            </a:srgbClr>
          </a:solidFill>
          <a:ln xmlns:a="http://schemas.openxmlformats.org/drawingml/2006/main" w="12700">
            <a:solidFill>
              <a:srgbClr val="7DBB6F">
                <a:alpha val="0"/>
              </a:srgbClr>
            </a:solidFill>
            <a:prstDash val="solid"/>
          </a:ln>
        </p:spPr>
      </p:sp>
      <p:sp>
        <p:nvSpPr>
          <p:cNvPr id="23" name="Text 20">
            <a:extLst xmlns:a="http://schemas.openxmlformats.org/drawingml/2006/main">
              <a:ext uri="{FF2B5EF4-FFF2-40B4-BE49-F238E27FC236}">
                <a16:creationId xmlns:a16="http://schemas.microsoft.com/office/drawing/2014/main" id="{62208294-D252-4395-A4C8-07C1983AE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8024" y="5394960"/>
            <a:ext cx="7022592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FFFFFF"/>
                </a:solidFill>
              </a:rPr>
              <a:t>Prüfe zwei Dinge: freundlich UND genau.</a:t>
            </a:r>
            <a:endParaRPr sz="1800"/>
          </a:p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FB1DBE01-F419-4570-81ED-D5806491E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437376"/>
            <a:ext cx="649224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245688"/>
                </a:solidFill>
              </a:rPr>
              <a:t>Input 3 · Formulieren</a:t>
            </a:r>
            <a:endParaRPr sz="850"/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A8A9FBD2-E999-4E46-86FC-E17FA74B9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0" y="6419088"/>
            <a:ext cx="29718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48DCCB"/>
                </a:solidFill>
              </a:rPr>
              <a:t>Planung → Durchführung → Reflexion</a:t>
            </a:r>
            <a:endParaRPr sz="950"/>
          </a:p>
        </p:txBody>
      </p:sp>
      <p:sp>
        <p:nvSpPr>
          <p:cNvPr id="26" name="Otterklasse Rahmen">
            <a:extLst xmlns:a="http://schemas.openxmlformats.org/drawingml/2006/main">
              <a:ext uri="{FF2B5EF4-FFF2-40B4-BE49-F238E27FC236}">
                <a16:creationId xmlns:a16="http://schemas.microsoft.com/office/drawing/2014/main" id="{3FD39923-8D02-44F3-AD19-428EC8CCC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95250"/>
            <a:ext cx="12001500" cy="666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245688"/>
            </a:solidFill>
            <a:prstDash val="solid"/>
          </a:ln>
        </p:spPr>
      </p:sp>
      <p:sp>
        <p:nvSpPr>
          <p:cNvPr id="27" name="Akzent Orange">
            <a:extLst xmlns:a="http://schemas.openxmlformats.org/drawingml/2006/main">
              <a:ext uri="{FF2B5EF4-FFF2-40B4-BE49-F238E27FC236}">
                <a16:creationId xmlns:a16="http://schemas.microsoft.com/office/drawing/2014/main" id="{48118575-1D86-4E5E-8B20-A576E4C1A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95250"/>
            <a:ext cx="571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A66F"/>
          </a:solidFill>
          <a:ln xmlns:a="http://schemas.openxmlformats.org/drawingml/2006/main" w="0">
            <a:solidFill>
              <a:srgbClr val="F0A66F"/>
            </a:solidFill>
            <a:prstDash val="solid"/>
          </a:ln>
        </p:spPr>
      </p:sp>
      <p:sp>
        <p:nvSpPr>
          <p:cNvPr id="28" name="Akzent Mint">
            <a:extLst xmlns:a="http://schemas.openxmlformats.org/drawingml/2006/main">
              <a:ext uri="{FF2B5EF4-FFF2-40B4-BE49-F238E27FC236}">
                <a16:creationId xmlns:a16="http://schemas.microsoft.com/office/drawing/2014/main" id="{67E4448A-9620-4D35-8501-9C2C3F2E1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39600" y="6019800"/>
            <a:ext cx="571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8DCCB"/>
          </a:solidFill>
          <a:ln xmlns:a="http://schemas.openxmlformats.org/drawingml/2006/main" w="0">
            <a:solidFill>
              <a:srgbClr val="48DCCB"/>
            </a:solidFill>
            <a:prstDash val="solid"/>
          </a:ln>
        </p:spPr>
      </p:sp>
      <p:pic>
        <p:nvPicPr>
          <p:cNvPr id="5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f780f4fe8b747e8"/>
          <a:stretch xmlns:a="http://schemas.openxmlformats.org/drawingml/2006/main"/>
        </p:blipFill>
        <p:spPr>
          <a:xfrm xmlns:a="http://schemas.openxmlformats.org/drawingml/2006/main">
            <a:off x="10629900" y="498718"/>
            <a:ext cx="781050" cy="65991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796500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Shape 0">
            <a:extLst xmlns:a="http://schemas.openxmlformats.org/drawingml/2006/main">
              <a:ext uri="{FF2B5EF4-FFF2-40B4-BE49-F238E27FC236}">
                <a16:creationId xmlns:a16="http://schemas.microsoft.com/office/drawing/2014/main" id="{0660B554-277C-49F0-969A-DDDA636EA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4" name="Shape 1">
            <a:extLst xmlns:a="http://schemas.openxmlformats.org/drawingml/2006/main">
              <a:ext uri="{FF2B5EF4-FFF2-40B4-BE49-F238E27FC236}">
                <a16:creationId xmlns:a16="http://schemas.microsoft.com/office/drawing/2014/main" id="{907BC4ED-6583-45C3-907C-6812AE6AA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7472"/>
            <a:ext cx="11173968" cy="6144768"/>
          </a:xfrm>
          <a:prstGeom xmlns:a="http://schemas.openxmlformats.org/drawingml/2006/main" prst="roundRect">
            <a:avLst>
              <a:gd name="adj" fmla="val 279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24568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2E615B93-A1C0-4285-B94E-F30D0F603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676656"/>
            <a:ext cx="6995160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900" b="1">
                <a:solidFill>
                  <a:srgbClr val="2C3D4C"/>
                </a:solidFill>
                <a:latin typeface="Aptos Display"/>
                <a:ea typeface="Aptos Display"/>
                <a:cs typeface="Aptos Display"/>
              </a:rPr>
              <a:t>Aus einem Diagramm wird ein Satz</a:t>
            </a:r>
            <a:endParaRPr sz="2900"/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F09820C1-A567-492C-8DCB-69BF1B83F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170432"/>
            <a:ext cx="7223760" cy="2834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1350" b="0">
                <a:solidFill>
                  <a:srgbClr val="3E5668"/>
                </a:solidFill>
                <a:latin typeface="Aptos"/>
                <a:ea typeface="Aptos"/>
                <a:cs typeface="Aptos"/>
              </a:rPr>
              <a:t>Freiwillig · Beispielumfrage: 26 Kinder, mehrere Antworten erlaubt.</a:t>
            </a:r>
          </a:p>
        </p:txBody>
      </p:sp>
      <p:graphicFrame>
        <p:nvGraphicFramePr>
          <p:cNvPr id="23" name="Chart 0"/>
          <p:cNvGraphicFramePr/>
          <p:nvPr/>
        </p:nvGraphicFramePr>
        <p:xfrm>
          <a:off xmlns:a="http://schemas.openxmlformats.org/drawingml/2006/main" x="914400" y="1508760"/>
          <a:ext xmlns:a="http://schemas.openxmlformats.org/drawingml/2006/main" cx="5257800" cy="3429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6c96b0a550743fb"/>
          </a:graphicData>
        </a:graphic>
      </p:graphicFrame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7D9C1A40-82DC-49FE-9A3B-F0D67D1C9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1737360"/>
            <a:ext cx="4480560" cy="2651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1900" b="0">
                <a:solidFill>
                  <a:srgbClr val="1F2A33"/>
                </a:solidFill>
                <a:latin typeface="Aptos"/>
                <a:ea typeface="Aptos"/>
                <a:cs typeface="Aptos"/>
              </a:rPr>
              <a:t>• „20 von 26 Kindern wünschen sich Ablagefächer.“</a:t>
            </a:r>
          </a:p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1900" b="0">
                <a:solidFill>
                  <a:srgbClr val="1F2A33"/>
                </a:solidFill>
                <a:latin typeface="Aptos"/>
                <a:ea typeface="Aptos"/>
                <a:cs typeface="Aptos"/>
              </a:rPr>
              <a:t>• „17 Kinder wünschen sich eine Leseecke.“</a:t>
            </a:r>
          </a:p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1900" b="0">
                <a:solidFill>
                  <a:srgbClr val="1F2A33"/>
                </a:solidFill>
                <a:latin typeface="Aptos"/>
                <a:ea typeface="Aptos"/>
                <a:cs typeface="Aptos"/>
              </a:rPr>
              <a:t>• Die Zahlen sind erfunden. Sie zeigen Wünsche, keine Gründe.</a:t>
            </a:r>
          </a:p>
        </p:txBody>
      </p:sp>
      <p:sp>
        <p:nvSpPr>
          <p:cNvPr id="9" name="Shape 5">
            <a:extLst xmlns:a="http://schemas.openxmlformats.org/drawingml/2006/main">
              <a:ext uri="{FF2B5EF4-FFF2-40B4-BE49-F238E27FC236}">
                <a16:creationId xmlns:a16="http://schemas.microsoft.com/office/drawing/2014/main" id="{28712263-C6DB-40F9-9983-2CED953C8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5303520"/>
            <a:ext cx="8778240" cy="566928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D97A4A">
              <a:alpha val="96000"/>
            </a:srgbClr>
          </a:solidFill>
          <a:ln xmlns:a="http://schemas.openxmlformats.org/drawingml/2006/main" w="12700">
            <a:solidFill>
              <a:srgbClr val="D97A4A">
                <a:alpha val="0"/>
              </a:srgbClr>
            </a:solidFill>
            <a:prstDash val="solid"/>
          </a:ln>
        </p:spPr>
      </p:sp>
      <p:sp>
        <p:nvSpPr>
          <p:cNvPr id="10" name="Text 6">
            <a:extLst xmlns:a="http://schemas.openxmlformats.org/drawingml/2006/main">
              <a:ext uri="{FF2B5EF4-FFF2-40B4-BE49-F238E27FC236}">
                <a16:creationId xmlns:a16="http://schemas.microsoft.com/office/drawing/2014/main" id="{8DB811EB-0BE1-4E30-BE6A-A7559A266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2224" y="5413248"/>
            <a:ext cx="848563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„Alle“ stimmt nur, wenn alle Kinder den Wunsch gewählt haben.</a:t>
            </a:r>
          </a:p>
        </p:txBody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C84E7773-823C-4BDC-AC20-CB2E105CE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437376"/>
            <a:ext cx="649224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245688"/>
                </a:solidFill>
              </a:rPr>
              <a:t>Input 3 · Daten formulieren</a:t>
            </a:r>
            <a:endParaRPr sz="850"/>
          </a:p>
        </p:txBody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FFBF3985-D0B0-401A-BC51-0EA49978C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0" y="6419088"/>
            <a:ext cx="29718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48DCCB"/>
                </a:solidFill>
              </a:rPr>
              <a:t>Planung → Durchführung → Reflexion</a:t>
            </a:r>
            <a:endParaRPr sz="950"/>
          </a:p>
        </p:txBody>
      </p:sp>
      <p:sp>
        <p:nvSpPr>
          <p:cNvPr id="15" name="Otterklasse Rahmen">
            <a:extLst xmlns:a="http://schemas.openxmlformats.org/drawingml/2006/main">
              <a:ext uri="{FF2B5EF4-FFF2-40B4-BE49-F238E27FC236}">
                <a16:creationId xmlns:a16="http://schemas.microsoft.com/office/drawing/2014/main" id="{6F2BBA8C-FA3F-44EC-8DA9-5BCFD248A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95250"/>
            <a:ext cx="12001500" cy="666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245688"/>
            </a:solidFill>
            <a:prstDash val="solid"/>
          </a:ln>
        </p:spPr>
      </p:sp>
      <p:sp>
        <p:nvSpPr>
          <p:cNvPr id="16" name="Akzent Orange">
            <a:extLst xmlns:a="http://schemas.openxmlformats.org/drawingml/2006/main">
              <a:ext uri="{FF2B5EF4-FFF2-40B4-BE49-F238E27FC236}">
                <a16:creationId xmlns:a16="http://schemas.microsoft.com/office/drawing/2014/main" id="{583409E2-11A7-4B7F-92B0-D44F38DC7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95250"/>
            <a:ext cx="571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A66F"/>
          </a:solidFill>
          <a:ln xmlns:a="http://schemas.openxmlformats.org/drawingml/2006/main" w="0">
            <a:solidFill>
              <a:srgbClr val="F0A66F"/>
            </a:solidFill>
            <a:prstDash val="solid"/>
          </a:ln>
        </p:spPr>
      </p:sp>
      <p:sp>
        <p:nvSpPr>
          <p:cNvPr id="17" name="Akzent Mint">
            <a:extLst xmlns:a="http://schemas.openxmlformats.org/drawingml/2006/main">
              <a:ext uri="{FF2B5EF4-FFF2-40B4-BE49-F238E27FC236}">
                <a16:creationId xmlns:a16="http://schemas.microsoft.com/office/drawing/2014/main" id="{792502D1-E7FF-47FE-8ECB-1D36B2EE8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39600" y="6019800"/>
            <a:ext cx="571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8DCCB"/>
          </a:solidFill>
          <a:ln xmlns:a="http://schemas.openxmlformats.org/drawingml/2006/main" w="0">
            <a:solidFill>
              <a:srgbClr val="48DCCB"/>
            </a:solidFill>
            <a:prstDash val="solid"/>
          </a:ln>
        </p:spPr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b91d44272b42df"/>
          <a:stretch xmlns:a="http://schemas.openxmlformats.org/drawingml/2006/main"/>
        </p:blipFill>
        <p:spPr>
          <a:xfrm xmlns:a="http://schemas.openxmlformats.org/drawingml/2006/main">
            <a:off x="10629900" y="575592"/>
            <a:ext cx="781050" cy="506166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891695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Shape 0">
            <a:extLst xmlns:a="http://schemas.openxmlformats.org/drawingml/2006/main">
              <a:ext uri="{FF2B5EF4-FFF2-40B4-BE49-F238E27FC236}">
                <a16:creationId xmlns:a16="http://schemas.microsoft.com/office/drawing/2014/main" id="{9007BE8F-1E23-46F9-AFE0-EC06B983A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4" name="Shape 1">
            <a:extLst xmlns:a="http://schemas.openxmlformats.org/drawingml/2006/main">
              <a:ext uri="{FF2B5EF4-FFF2-40B4-BE49-F238E27FC236}">
                <a16:creationId xmlns:a16="http://schemas.microsoft.com/office/drawing/2014/main" id="{3CD0C6EB-F69A-4973-A734-F8BCF0B4B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7472"/>
            <a:ext cx="11173968" cy="6144768"/>
          </a:xfrm>
          <a:prstGeom xmlns:a="http://schemas.openxmlformats.org/drawingml/2006/main" prst="roundRect">
            <a:avLst>
              <a:gd name="adj" fmla="val 279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24568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7CFDE719-0D64-4FF4-9ED8-BAC264592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676656"/>
            <a:ext cx="6995160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900" b="1">
                <a:solidFill>
                  <a:srgbClr val="2C3D4C"/>
                </a:solidFill>
                <a:latin typeface="Aptos Display"/>
                <a:ea typeface="Aptos Display"/>
                <a:cs typeface="Aptos Display"/>
              </a:rPr>
              <a:t>Satzstarter für Wunschbriefe</a:t>
            </a:r>
            <a:endParaRPr sz="2900"/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D1F23B8B-4E8B-44F4-A470-9874A495C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170432"/>
            <a:ext cx="7223760" cy="2834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>
                <a:solidFill>
                  <a:srgbClr val="3E5668"/>
                </a:solidFill>
              </a:rPr>
              <a:t>Hilfe für eigene Formulierungen</a:t>
            </a:r>
            <a:endParaRPr sz="1350"/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9B3BD176-3961-4CE7-883A-4076BFB79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572768"/>
            <a:ext cx="6675120" cy="3520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1900" b="0">
                <a:solidFill>
                  <a:srgbClr val="1F2A33"/>
                </a:solidFill>
                <a:latin typeface="Aptos"/>
                <a:ea typeface="Aptos"/>
                <a:cs typeface="Aptos"/>
              </a:rPr>
              <a:t>• Für unsere Schule wünsche ich mir …</a:t>
            </a:r>
          </a:p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1900" b="0">
                <a:solidFill>
                  <a:srgbClr val="1F2A33"/>
                </a:solidFill>
                <a:latin typeface="Aptos"/>
                <a:ea typeface="Aptos"/>
                <a:cs typeface="Aptos"/>
              </a:rPr>
              <a:t>• Ich würde mich darüber sehr freuen.</a:t>
            </a:r>
          </a:p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1900" b="0">
                <a:solidFill>
                  <a:srgbClr val="1F2A33"/>
                </a:solidFill>
                <a:latin typeface="Aptos"/>
                <a:ea typeface="Aptos"/>
                <a:cs typeface="Aptos"/>
              </a:rPr>
              <a:t>• Könnten Sie bitte …</a:t>
            </a:r>
          </a:p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1900" b="0">
                <a:solidFill>
                  <a:srgbClr val="1F2A33"/>
                </a:solidFill>
                <a:latin typeface="Aptos"/>
                <a:ea typeface="Aptos"/>
                <a:cs typeface="Aptos"/>
              </a:rPr>
              <a:t/>
            </a:r>
          </a:p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1900" b="0">
                <a:solidFill>
                  <a:srgbClr val="1F2A33"/>
                </a:solidFill>
                <a:latin typeface="Aptos"/>
                <a:ea typeface="Aptos"/>
                <a:cs typeface="Aptos"/>
              </a:rPr>
              <a:t>Freiwillige Zusätze:</a:t>
            </a:r>
          </a:p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1900" b="0">
                <a:solidFill>
                  <a:srgbClr val="1F2A33"/>
                </a:solidFill>
                <a:latin typeface="Aptos"/>
                <a:ea typeface="Aptos"/>
                <a:cs typeface="Aptos"/>
              </a:rPr>
              <a:t>• Das wäre sinnvoll, weil …</a:t>
            </a:r>
          </a:p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1900" b="0">
                <a:solidFill>
                  <a:srgbClr val="1F2A33"/>
                </a:solidFill>
                <a:latin typeface="Aptos"/>
                <a:ea typeface="Aptos"/>
                <a:cs typeface="Aptos"/>
              </a:rPr>
              <a:t>• In der Umfrage wünschen sich … Kinder …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597FC380-A233-4526-80F4-7F7AD799A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0" y="1965960"/>
            <a:ext cx="2926080" cy="2148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12700">
            <a:solidFill>
              <a:srgbClr val="E8D4C1"/>
            </a:solidFill>
            <a:prstDash val="solid"/>
          </a:ln>
        </p:spPr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848FD62A-7E01-41ED-8C10-5ABD52663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2440" y="2075688"/>
            <a:ext cx="2651760" cy="1929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1800" b="0">
                <a:solidFill>
                  <a:srgbClr val="1F2A33"/>
                </a:solidFill>
                <a:latin typeface="Aptos"/>
                <a:ea typeface="Aptos"/>
                <a:cs typeface="Aptos"/>
              </a:rPr>
              <a:t>Wähle passende Satzanfänge.</a:t>
            </a:r>
          </a:p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1800" b="0">
                <a:solidFill>
                  <a:srgbClr val="1F2A33"/>
                </a:solidFill>
                <a:latin typeface="Aptos"/>
                <a:ea typeface="Aptos"/>
                <a:cs typeface="Aptos"/>
              </a:rPr>
              <a:t/>
            </a:r>
          </a:p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1800" b="0">
                <a:solidFill>
                  <a:srgbClr val="1F2A33"/>
                </a:solidFill>
                <a:latin typeface="Aptos"/>
                <a:ea typeface="Aptos"/>
                <a:cs typeface="Aptos"/>
              </a:rPr>
              <a:t>Du brauchst deinen Wunsch und einen weiteren passenden Satz.</a:t>
            </a:r>
          </a:p>
        </p:txBody>
      </p:sp>
      <p:sp>
        <p:nvSpPr>
          <p:cNvPr id="10" name="Shape 7">
            <a:extLst xmlns:a="http://schemas.openxmlformats.org/drawingml/2006/main">
              <a:ext uri="{FF2B5EF4-FFF2-40B4-BE49-F238E27FC236}">
                <a16:creationId xmlns:a16="http://schemas.microsoft.com/office/drawing/2014/main" id="{605E2B1A-3CA3-4FB9-AF5E-731798760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5504688"/>
            <a:ext cx="8138160" cy="512064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7DBB6F">
              <a:alpha val="96000"/>
            </a:srgbClr>
          </a:solidFill>
          <a:ln xmlns:a="http://schemas.openxmlformats.org/drawingml/2006/main" w="12700">
            <a:solidFill>
              <a:srgbClr val="7DBB6F">
                <a:alpha val="0"/>
              </a:srgbClr>
            </a:solidFill>
            <a:prstDash val="solid"/>
          </a:ln>
        </p:spPr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5B0A6056-D6EF-46A3-87DA-D6E8DC130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7984" y="5614416"/>
            <a:ext cx="7845552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FFFFFF"/>
                </a:solidFill>
              </a:rPr>
              <a:t>Ziel: klar, freundlich und passend schreiben.</a:t>
            </a:r>
            <a:endParaRPr sz="1800"/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629FD614-3365-47C4-BF13-34AEAB209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437376"/>
            <a:ext cx="649224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245688"/>
                </a:solidFill>
              </a:rPr>
              <a:t>Input 3 · Satzstarter</a:t>
            </a:r>
            <a:endParaRPr sz="850"/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B3449E31-110E-455D-A5BE-411342599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0" y="6419088"/>
            <a:ext cx="29718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48DCCB"/>
                </a:solidFill>
              </a:rPr>
              <a:t>Planung → Durchführung → Reflexion</a:t>
            </a:r>
            <a:endParaRPr sz="950"/>
          </a:p>
        </p:txBody>
      </p:sp>
      <p:sp>
        <p:nvSpPr>
          <p:cNvPr id="14" name="Otterklasse Rahmen">
            <a:extLst xmlns:a="http://schemas.openxmlformats.org/drawingml/2006/main">
              <a:ext uri="{FF2B5EF4-FFF2-40B4-BE49-F238E27FC236}">
                <a16:creationId xmlns:a16="http://schemas.microsoft.com/office/drawing/2014/main" id="{D43CB598-4D15-4B5C-9C08-704DF2DDE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95250"/>
            <a:ext cx="12001500" cy="666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245688"/>
            </a:solidFill>
            <a:prstDash val="solid"/>
          </a:ln>
        </p:spPr>
      </p:sp>
      <p:sp>
        <p:nvSpPr>
          <p:cNvPr id="15" name="Akzent Orange">
            <a:extLst xmlns:a="http://schemas.openxmlformats.org/drawingml/2006/main">
              <a:ext uri="{FF2B5EF4-FFF2-40B4-BE49-F238E27FC236}">
                <a16:creationId xmlns:a16="http://schemas.microsoft.com/office/drawing/2014/main" id="{7D36304C-63DD-44EB-8031-9EFA4A1F6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95250"/>
            <a:ext cx="571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A66F"/>
          </a:solidFill>
          <a:ln xmlns:a="http://schemas.openxmlformats.org/drawingml/2006/main" w="0">
            <a:solidFill>
              <a:srgbClr val="F0A66F"/>
            </a:solidFill>
            <a:prstDash val="solid"/>
          </a:ln>
        </p:spPr>
      </p:sp>
      <p:sp>
        <p:nvSpPr>
          <p:cNvPr id="16" name="Akzent Mint">
            <a:extLst xmlns:a="http://schemas.openxmlformats.org/drawingml/2006/main">
              <a:ext uri="{FF2B5EF4-FFF2-40B4-BE49-F238E27FC236}">
                <a16:creationId xmlns:a16="http://schemas.microsoft.com/office/drawing/2014/main" id="{2B259B4B-B634-4C88-9DE1-BDD9742B6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39600" y="6019800"/>
            <a:ext cx="571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8DCCB"/>
          </a:solidFill>
          <a:ln xmlns:a="http://schemas.openxmlformats.org/drawingml/2006/main" w="0">
            <a:solidFill>
              <a:srgbClr val="48DCCB"/>
            </a:solidFill>
            <a:prstDash val="solid"/>
          </a:ln>
        </p:spPr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9f357d85314477"/>
          <a:stretch xmlns:a="http://schemas.openxmlformats.org/drawingml/2006/main"/>
        </p:blipFill>
        <p:spPr>
          <a:xfrm xmlns:a="http://schemas.openxmlformats.org/drawingml/2006/main">
            <a:off x="10629900" y="538493"/>
            <a:ext cx="781050" cy="580364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0873784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Shape 0">
            <a:extLst xmlns:a="http://schemas.openxmlformats.org/drawingml/2006/main">
              <a:ext uri="{FF2B5EF4-FFF2-40B4-BE49-F238E27FC236}">
                <a16:creationId xmlns:a16="http://schemas.microsoft.com/office/drawing/2014/main" id="{226F57C5-1448-461A-A620-82501F04D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4" name="Shape 1">
            <a:extLst xmlns:a="http://schemas.openxmlformats.org/drawingml/2006/main">
              <a:ext uri="{FF2B5EF4-FFF2-40B4-BE49-F238E27FC236}">
                <a16:creationId xmlns:a16="http://schemas.microsoft.com/office/drawing/2014/main" id="{9A7CB2A2-2309-4091-AB9E-F304FCEB3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731520"/>
            <a:ext cx="5852160" cy="5074920"/>
          </a:xfrm>
          <a:prstGeom xmlns:a="http://schemas.openxmlformats.org/drawingml/2006/main" prst="roundRect">
            <a:avLst>
              <a:gd name="adj" fmla="val 3378"/>
            </a:avLst>
          </a:prstGeom>
          <a:solidFill xmlns:a="http://schemas.openxmlformats.org/drawingml/2006/main">
            <a:srgbClr val="DCECF8"/>
          </a:solidFill>
          <a:ln xmlns:a="http://schemas.openxmlformats.org/drawingml/2006/main" w="13335">
            <a:solidFill>
              <a:srgbClr val="24568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C74C19FA-7029-465B-955B-66B9492F3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" y="1060704"/>
            <a:ext cx="20116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D97A4A"/>
                </a:solidFill>
              </a:rPr>
              <a:t>Input 4</a:t>
            </a:r>
            <a:endParaRPr sz="1700"/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537E27D6-4243-4C7B-A5CE-B62323991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" y="1508760"/>
            <a:ext cx="507492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400" b="1">
                <a:solidFill>
                  <a:srgbClr val="2C3D4C"/>
                </a:solidFill>
                <a:latin typeface="Aptos Display"/>
                <a:ea typeface="Aptos Display"/>
                <a:cs typeface="Aptos Display"/>
              </a:rPr>
              <a:t>Vom Schreibauftrag zum Wunschbrief</a:t>
            </a:r>
            <a:endParaRPr sz="3400"/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4C0040E1-A908-45FF-AC92-05C8B7B93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" y="2971800"/>
            <a:ext cx="498348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2000" b="0">
                <a:solidFill>
                  <a:srgbClr val="1F2A33"/>
                </a:solidFill>
                <a:latin typeface="Aptos"/>
                <a:ea typeface="Aptos"/>
                <a:cs typeface="Aptos"/>
              </a:rPr>
              <a:t>Du planst, schreibst und prüfst einen vollständigen Brief.</a:t>
            </a:r>
          </a:p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8331CC67-0A92-475E-A6CE-30AE5D73F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" y="5047488"/>
            <a:ext cx="3200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3E5668"/>
                </a:solidFill>
              </a:rPr>
              <a:t>Impuls für die Klasse</a:t>
            </a:r>
            <a:endParaRPr sz="1400"/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13B83837-EE5A-4952-91BD-669F6F590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437376"/>
            <a:ext cx="649224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245688"/>
                </a:solidFill>
              </a:rPr>
              <a:t>Input 4</a:t>
            </a:r>
            <a:endParaRPr sz="850"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906B1691-FCFC-488F-BF1F-7D658AC5A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0" y="6419088"/>
            <a:ext cx="29718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48DCCB"/>
                </a:solidFill>
              </a:rPr>
              <a:t>Planung → Durchführung → Reflexion</a:t>
            </a:r>
            <a:endParaRPr sz="950"/>
          </a:p>
        </p:txBody>
      </p:sp>
      <p:sp>
        <p:nvSpPr>
          <p:cNvPr id="11" name="Otterklasse Rahmen">
            <a:extLst xmlns:a="http://schemas.openxmlformats.org/drawingml/2006/main">
              <a:ext uri="{FF2B5EF4-FFF2-40B4-BE49-F238E27FC236}">
                <a16:creationId xmlns:a16="http://schemas.microsoft.com/office/drawing/2014/main" id="{774B1461-926B-4A99-9F4B-EDC41A549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95250"/>
            <a:ext cx="12001500" cy="666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245688"/>
            </a:solidFill>
            <a:prstDash val="solid"/>
          </a:ln>
        </p:spPr>
      </p:sp>
      <p:sp>
        <p:nvSpPr>
          <p:cNvPr id="12" name="Akzent Orange">
            <a:extLst xmlns:a="http://schemas.openxmlformats.org/drawingml/2006/main">
              <a:ext uri="{FF2B5EF4-FFF2-40B4-BE49-F238E27FC236}">
                <a16:creationId xmlns:a16="http://schemas.microsoft.com/office/drawing/2014/main" id="{0D955847-8511-4385-804A-05C20C5E8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95250"/>
            <a:ext cx="571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A66F"/>
          </a:solidFill>
          <a:ln xmlns:a="http://schemas.openxmlformats.org/drawingml/2006/main" w="0">
            <a:solidFill>
              <a:srgbClr val="F0A66F"/>
            </a:solidFill>
            <a:prstDash val="solid"/>
          </a:ln>
        </p:spPr>
      </p:sp>
      <p:sp>
        <p:nvSpPr>
          <p:cNvPr id="13" name="Akzent Mint">
            <a:extLst xmlns:a="http://schemas.openxmlformats.org/drawingml/2006/main">
              <a:ext uri="{FF2B5EF4-FFF2-40B4-BE49-F238E27FC236}">
                <a16:creationId xmlns:a16="http://schemas.microsoft.com/office/drawing/2014/main" id="{4345B94D-CDFE-40DA-8693-6DCFF4C29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39600" y="6019800"/>
            <a:ext cx="571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8DCCB"/>
          </a:solidFill>
          <a:ln xmlns:a="http://schemas.openxmlformats.org/drawingml/2006/main" w="0">
            <a:solidFill>
              <a:srgbClr val="48DCCB"/>
            </a:solidFill>
            <a:prstDash val="solid"/>
          </a:ln>
        </p:spPr>
      </p:sp>
      <p:sp>
        <p:nvSpPr>
          <p:cNvPr id="14" name="Otter Bildfeld">
            <a:extLst xmlns:a="http://schemas.openxmlformats.org/drawingml/2006/main">
              <a:ext uri="{FF2B5EF4-FFF2-40B4-BE49-F238E27FC236}">
                <a16:creationId xmlns:a16="http://schemas.microsoft.com/office/drawing/2014/main" id="{26704114-F0F8-436D-AB10-BD7128343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685800"/>
            <a:ext cx="4095750" cy="4953000"/>
          </a:xfrm>
          <a:prstGeom xmlns:a="http://schemas.openxmlformats.org/drawingml/2006/main" prst="roundRect">
            <a:avLst>
              <a:gd name="adj" fmla="val 5581"/>
            </a:avLst>
          </a:prstGeom>
          <a:solidFill xmlns:a="http://schemas.openxmlformats.org/drawingml/2006/main">
            <a:srgbClr val="E0F7F1"/>
          </a:solidFill>
          <a:ln xmlns:a="http://schemas.openxmlformats.org/drawingml/2006/main" w="9525">
            <a:solidFill>
              <a:srgbClr val="245688"/>
            </a:solidFill>
            <a:prstDash val="solid"/>
          </a:ln>
        </p:spPr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517bae5422a40ff"/>
          <a:stretch xmlns:a="http://schemas.openxmlformats.org/drawingml/2006/main"/>
        </p:blipFill>
        <p:spPr>
          <a:xfrm xmlns:a="http://schemas.openxmlformats.org/drawingml/2006/main">
            <a:off x="7667625" y="2002060"/>
            <a:ext cx="3238500" cy="2091881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9185431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Shape 0">
            <a:extLst xmlns:a="http://schemas.openxmlformats.org/drawingml/2006/main">
              <a:ext uri="{FF2B5EF4-FFF2-40B4-BE49-F238E27FC236}">
                <a16:creationId xmlns:a16="http://schemas.microsoft.com/office/drawing/2014/main" id="{C2E57F1F-CF9E-4680-8465-868F65F6A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4" name="Shape 1">
            <a:extLst xmlns:a="http://schemas.openxmlformats.org/drawingml/2006/main">
              <a:ext uri="{FF2B5EF4-FFF2-40B4-BE49-F238E27FC236}">
                <a16:creationId xmlns:a16="http://schemas.microsoft.com/office/drawing/2014/main" id="{5AF54F38-9623-41BF-A7AB-9694ABF48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7472"/>
            <a:ext cx="11173968" cy="6144768"/>
          </a:xfrm>
          <a:prstGeom xmlns:a="http://schemas.openxmlformats.org/drawingml/2006/main" prst="roundRect">
            <a:avLst>
              <a:gd name="adj" fmla="val 279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24568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BADA56DA-B341-48FE-9907-8046CB687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676656"/>
            <a:ext cx="6995160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900" b="1">
                <a:solidFill>
                  <a:srgbClr val="2C3D4C"/>
                </a:solidFill>
                <a:latin typeface="Aptos Display"/>
                <a:ea typeface="Aptos Display"/>
                <a:cs typeface="Aptos Display"/>
              </a:rPr>
              <a:t>Erst planen, dann schreiben</a:t>
            </a:r>
            <a:endParaRPr sz="2900"/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D6A0DBFD-E073-46F4-BA66-6429D935A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170432"/>
            <a:ext cx="7223760" cy="2834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>
                <a:solidFill>
                  <a:srgbClr val="3E5668"/>
                </a:solidFill>
              </a:rPr>
              <a:t>Schreibauftrag Schritt für Schritt</a:t>
            </a:r>
            <a:endParaRPr sz="1350"/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0B106B17-A3D8-4D02-8588-96EA535BF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508760"/>
            <a:ext cx="5486400" cy="3611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1900" b="0">
                <a:solidFill>
                  <a:srgbClr val="1F2A33"/>
                </a:solidFill>
                <a:latin typeface="Aptos"/>
                <a:ea typeface="Aptos"/>
                <a:cs typeface="Aptos"/>
              </a:rPr>
              <a:t>• 1. Lies den Auftrag.</a:t>
            </a:r>
          </a:p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1900" b="0">
                <a:solidFill>
                  <a:srgbClr val="1F2A33"/>
                </a:solidFill>
                <a:latin typeface="Aptos"/>
                <a:ea typeface="Aptos"/>
                <a:cs typeface="Aptos"/>
              </a:rPr>
              <a:t>• 2. Kläre: Wer bekommt den Brief?</a:t>
            </a:r>
          </a:p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1900" b="0">
                <a:solidFill>
                  <a:srgbClr val="1F2A33"/>
                </a:solidFill>
                <a:latin typeface="Aptos"/>
                <a:ea typeface="Aptos"/>
                <a:cs typeface="Aptos"/>
              </a:rPr>
              <a:t>• 3. Notiere deinen Wunsch.</a:t>
            </a:r>
          </a:p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1900" b="0">
                <a:solidFill>
                  <a:srgbClr val="1F2A33"/>
                </a:solidFill>
                <a:latin typeface="Aptos"/>
                <a:ea typeface="Aptos"/>
                <a:cs typeface="Aptos"/>
              </a:rPr>
              <a:t>• 4. Plane einen weiteren Satz.</a:t>
            </a:r>
          </a:p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1900" b="0">
                <a:solidFill>
                  <a:srgbClr val="1F2A33"/>
                </a:solidFill>
                <a:latin typeface="Aptos"/>
                <a:ea typeface="Aptos"/>
                <a:cs typeface="Aptos"/>
              </a:rPr>
              <a:t>• 5. Schreibe deinen Brief.</a:t>
            </a:r>
          </a:p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1900" b="0">
                <a:solidFill>
                  <a:srgbClr val="1F2A33"/>
                </a:solidFill>
                <a:latin typeface="Aptos"/>
                <a:ea typeface="Aptos"/>
                <a:cs typeface="Aptos"/>
              </a:rPr>
              <a:t>• 6. Prüfe mit der Checkliste.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8BB5D31F-B882-4BE1-9FA8-522A48B4B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828800"/>
            <a:ext cx="3291840" cy="22402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12700">
            <a:solidFill>
              <a:srgbClr val="E8D4C1"/>
            </a:solidFill>
            <a:prstDash val="solid"/>
          </a:ln>
        </p:spPr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DDE66EC1-E16F-4D46-BE47-AC791C409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2360" y="1938528"/>
            <a:ext cx="3017520" cy="20208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1800" b="0">
                <a:solidFill>
                  <a:srgbClr val="1F2A33"/>
                </a:solidFill>
                <a:latin typeface="Aptos"/>
                <a:ea typeface="Aptos"/>
                <a:cs typeface="Aptos"/>
              </a:rPr>
              <a:t>Stichwörter reichen.</a:t>
            </a:r>
          </a:p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1800" b="0">
                <a:solidFill>
                  <a:srgbClr val="1F2A33"/>
                </a:solidFill>
                <a:latin typeface="Aptos"/>
                <a:ea typeface="Aptos"/>
                <a:cs typeface="Aptos"/>
              </a:rPr>
              <a:t/>
            </a:r>
          </a:p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1800" b="0">
                <a:solidFill>
                  <a:srgbClr val="1F2A33"/>
                </a:solidFill>
                <a:latin typeface="Aptos"/>
                <a:ea typeface="Aptos"/>
                <a:cs typeface="Aptos"/>
              </a:rPr>
              <a:t>Blatt 17 hilft dir bei Bedarf.</a:t>
            </a:r>
          </a:p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1800" b="0">
                <a:solidFill>
                  <a:srgbClr val="1F2A33"/>
                </a:solidFill>
                <a:latin typeface="Aptos"/>
                <a:ea typeface="Aptos"/>
                <a:cs typeface="Aptos"/>
              </a:rPr>
              <a:t/>
            </a:r>
          </a:p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1800" b="0">
                <a:solidFill>
                  <a:srgbClr val="1F2A33"/>
                </a:solidFill>
                <a:latin typeface="Aptos"/>
                <a:ea typeface="Aptos"/>
                <a:cs typeface="Aptos"/>
              </a:rPr>
              <a:t>Gründe und Daten sind freiwillig.</a:t>
            </a:r>
          </a:p>
        </p:txBody>
      </p:sp>
      <p:sp>
        <p:nvSpPr>
          <p:cNvPr id="10" name="Shape 7">
            <a:extLst xmlns:a="http://schemas.openxmlformats.org/drawingml/2006/main">
              <a:ext uri="{FF2B5EF4-FFF2-40B4-BE49-F238E27FC236}">
                <a16:creationId xmlns:a16="http://schemas.microsoft.com/office/drawing/2014/main" id="{F1E81818-3441-4119-9FC8-A366A3914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5623560"/>
            <a:ext cx="6675120" cy="45720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D97A4A">
              <a:alpha val="96000"/>
            </a:srgbClr>
          </a:solidFill>
          <a:ln xmlns:a="http://schemas.openxmlformats.org/drawingml/2006/main" w="12700">
            <a:solidFill>
              <a:srgbClr val="D97A4A">
                <a:alpha val="0"/>
              </a:srgbClr>
            </a:solidFill>
            <a:prstDash val="solid"/>
          </a:ln>
        </p:spPr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130FE349-64A8-4FDF-8CFB-EA398EB42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9504" y="5733288"/>
            <a:ext cx="6382512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FFFFFF"/>
                </a:solidFill>
              </a:rPr>
              <a:t>Dein Schreibplan ist dein Geländer.</a:t>
            </a:r>
            <a:endParaRPr sz="1800"/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E3801CA0-C8D0-4C81-B503-B3510C545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437376"/>
            <a:ext cx="649224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245688"/>
                </a:solidFill>
              </a:rPr>
              <a:t>Input 4 · Schreibplan</a:t>
            </a:r>
            <a:endParaRPr sz="850"/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D2229803-8777-4B4A-9109-B2E766B9E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0" y="6419088"/>
            <a:ext cx="29718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48DCCB"/>
                </a:solidFill>
              </a:rPr>
              <a:t>Planung → Durchführung → Reflexion</a:t>
            </a:r>
            <a:endParaRPr sz="950"/>
          </a:p>
        </p:txBody>
      </p:sp>
      <p:sp>
        <p:nvSpPr>
          <p:cNvPr id="14" name="Otterklasse Rahmen">
            <a:extLst xmlns:a="http://schemas.openxmlformats.org/drawingml/2006/main">
              <a:ext uri="{FF2B5EF4-FFF2-40B4-BE49-F238E27FC236}">
                <a16:creationId xmlns:a16="http://schemas.microsoft.com/office/drawing/2014/main" id="{9804DC48-9B44-4334-BEA7-E0E6CD25B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95250"/>
            <a:ext cx="12001500" cy="666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245688"/>
            </a:solidFill>
            <a:prstDash val="solid"/>
          </a:ln>
        </p:spPr>
      </p:sp>
      <p:sp>
        <p:nvSpPr>
          <p:cNvPr id="15" name="Akzent Orange">
            <a:extLst xmlns:a="http://schemas.openxmlformats.org/drawingml/2006/main">
              <a:ext uri="{FF2B5EF4-FFF2-40B4-BE49-F238E27FC236}">
                <a16:creationId xmlns:a16="http://schemas.microsoft.com/office/drawing/2014/main" id="{BC98EF20-9DED-4FDD-85CC-3348C6F03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95250"/>
            <a:ext cx="571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A66F"/>
          </a:solidFill>
          <a:ln xmlns:a="http://schemas.openxmlformats.org/drawingml/2006/main" w="0">
            <a:solidFill>
              <a:srgbClr val="F0A66F"/>
            </a:solidFill>
            <a:prstDash val="solid"/>
          </a:ln>
        </p:spPr>
      </p:sp>
      <p:sp>
        <p:nvSpPr>
          <p:cNvPr id="16" name="Akzent Mint">
            <a:extLst xmlns:a="http://schemas.openxmlformats.org/drawingml/2006/main">
              <a:ext uri="{FF2B5EF4-FFF2-40B4-BE49-F238E27FC236}">
                <a16:creationId xmlns:a16="http://schemas.microsoft.com/office/drawing/2014/main" id="{534DD145-2910-458D-BF1E-1B7F64D04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39600" y="6019800"/>
            <a:ext cx="571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8DCCB"/>
          </a:solidFill>
          <a:ln xmlns:a="http://schemas.openxmlformats.org/drawingml/2006/main" w="0">
            <a:solidFill>
              <a:srgbClr val="48DCCB"/>
            </a:solidFill>
            <a:prstDash val="solid"/>
          </a:ln>
        </p:spPr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0539767aab4005"/>
          <a:stretch xmlns:a="http://schemas.openxmlformats.org/drawingml/2006/main"/>
        </p:blipFill>
        <p:spPr>
          <a:xfrm xmlns:a="http://schemas.openxmlformats.org/drawingml/2006/main">
            <a:off x="10629900" y="474690"/>
            <a:ext cx="781050" cy="707969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7760525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Shape 0">
            <a:extLst xmlns:a="http://schemas.openxmlformats.org/drawingml/2006/main">
              <a:ext uri="{FF2B5EF4-FFF2-40B4-BE49-F238E27FC236}">
                <a16:creationId xmlns:a16="http://schemas.microsoft.com/office/drawing/2014/main" id="{F5A4B598-CA84-44F7-AC2F-C91141C1F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4" name="Shape 1">
            <a:extLst xmlns:a="http://schemas.openxmlformats.org/drawingml/2006/main">
              <a:ext uri="{FF2B5EF4-FFF2-40B4-BE49-F238E27FC236}">
                <a16:creationId xmlns:a16="http://schemas.microsoft.com/office/drawing/2014/main" id="{7C3A6BE8-97C0-4955-A8E1-DFAF5EAF0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7472"/>
            <a:ext cx="11173968" cy="6144768"/>
          </a:xfrm>
          <a:prstGeom xmlns:a="http://schemas.openxmlformats.org/drawingml/2006/main" prst="roundRect">
            <a:avLst>
              <a:gd name="adj" fmla="val 279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24568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A184FE7A-B1BA-4771-9D82-97F0551CB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676656"/>
            <a:ext cx="6995160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900" b="1">
                <a:solidFill>
                  <a:srgbClr val="2C3D4C"/>
                </a:solidFill>
                <a:latin typeface="Aptos Display"/>
                <a:ea typeface="Aptos Display"/>
                <a:cs typeface="Aptos Display"/>
              </a:rPr>
              <a:t>Ein Musterbrief entsteht</a:t>
            </a:r>
            <a:endParaRPr sz="2900"/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1A7E1A00-B96E-48E4-B805-E1AD96250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170432"/>
            <a:ext cx="7223760" cy="2834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>
                <a:solidFill>
                  <a:srgbClr val="3E5668"/>
                </a:solidFill>
              </a:rPr>
              <a:t>Gemeinsam laut denken</a:t>
            </a:r>
            <a:endParaRPr sz="1350"/>
          </a:p>
        </p:txBody>
      </p:sp>
      <p:sp>
        <p:nvSpPr>
          <p:cNvPr id="7" name="Shape 4">
            <a:extLst xmlns:a="http://schemas.openxmlformats.org/drawingml/2006/main">
              <a:ext uri="{FF2B5EF4-FFF2-40B4-BE49-F238E27FC236}">
                <a16:creationId xmlns:a16="http://schemas.microsoft.com/office/drawing/2014/main" id="{C81C4E15-39C4-4379-B993-AB8EB7C3E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1417320"/>
            <a:ext cx="6492240" cy="4160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12700">
            <a:solidFill>
              <a:srgbClr val="E8D4C1"/>
            </a:solidFill>
            <a:prstDash val="solid"/>
          </a:ln>
        </p:spPr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B55FB42D-B7EF-40E5-A043-E712E9235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1527048"/>
            <a:ext cx="6217920" cy="3941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1800" b="0">
                <a:solidFill>
                  <a:srgbClr val="1F2A33"/>
                </a:solidFill>
                <a:latin typeface="Aptos"/>
                <a:ea typeface="Aptos"/>
                <a:cs typeface="Aptos"/>
              </a:rPr>
              <a:t>Dortmund, 08.09.2026</a:t>
            </a:r>
          </a:p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1800" b="0">
                <a:solidFill>
                  <a:srgbClr val="1F2A33"/>
                </a:solidFill>
                <a:latin typeface="Aptos"/>
                <a:ea typeface="Aptos"/>
                <a:cs typeface="Aptos"/>
              </a:rPr>
              <a:t/>
            </a:r>
          </a:p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1800" b="0">
                <a:solidFill>
                  <a:srgbClr val="1F2A33"/>
                </a:solidFill>
                <a:latin typeface="Aptos"/>
                <a:ea typeface="Aptos"/>
                <a:cs typeface="Aptos"/>
              </a:rPr>
              <a:t>Sehr geehrte Frau Schneider,</a:t>
            </a:r>
          </a:p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1800" b="0">
                <a:solidFill>
                  <a:srgbClr val="1F2A33"/>
                </a:solidFill>
                <a:latin typeface="Aptos"/>
                <a:ea typeface="Aptos"/>
                <a:cs typeface="Aptos"/>
              </a:rPr>
              <a:t/>
            </a:r>
          </a:p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1800" b="0">
                <a:solidFill>
                  <a:srgbClr val="1F2A33"/>
                </a:solidFill>
                <a:latin typeface="Aptos"/>
                <a:ea typeface="Aptos"/>
                <a:cs typeface="Aptos"/>
              </a:rPr>
              <a:t>für unsere Klasse wünsche ich mir eine Leseecke. Ich würde mich darüber sehr freuen.</a:t>
            </a:r>
          </a:p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1800" b="0">
                <a:solidFill>
                  <a:srgbClr val="1F2A33"/>
                </a:solidFill>
                <a:latin typeface="Aptos"/>
                <a:ea typeface="Aptos"/>
                <a:cs typeface="Aptos"/>
              </a:rPr>
              <a:t/>
            </a:r>
          </a:p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1800" b="0">
                <a:solidFill>
                  <a:srgbClr val="1F2A33"/>
                </a:solidFill>
                <a:latin typeface="Aptos"/>
                <a:ea typeface="Aptos"/>
                <a:cs typeface="Aptos"/>
              </a:rPr>
              <a:t>Freundliche Grüße</a:t>
            </a:r>
          </a:p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1800" b="0">
                <a:solidFill>
                  <a:srgbClr val="1F2A33"/>
                </a:solidFill>
                <a:latin typeface="Aptos"/>
                <a:ea typeface="Aptos"/>
                <a:cs typeface="Aptos"/>
              </a:rPr>
              <a:t>Mila</a:t>
            </a:r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E1E9EA3E-2C47-4178-B922-FDF6A7040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8120" y="1645920"/>
            <a:ext cx="3017520" cy="2834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1850" b="0">
                <a:solidFill>
                  <a:srgbClr val="1F2A33"/>
                </a:solidFill>
                <a:latin typeface="Aptos"/>
                <a:ea typeface="Aptos"/>
                <a:cs typeface="Aptos"/>
              </a:rPr>
              <a:t>• Ort, Datum und Anrede.</a:t>
            </a:r>
          </a:p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1850" b="0">
                <a:solidFill>
                  <a:srgbClr val="1F2A33"/>
                </a:solidFill>
                <a:latin typeface="Aptos"/>
                <a:ea typeface="Aptos"/>
                <a:cs typeface="Aptos"/>
              </a:rPr>
              <a:t>• Ein klarer Wunsch.</a:t>
            </a:r>
          </a:p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1850" b="0">
                <a:solidFill>
                  <a:srgbClr val="1F2A33"/>
                </a:solidFill>
                <a:latin typeface="Aptos"/>
                <a:ea typeface="Aptos"/>
                <a:cs typeface="Aptos"/>
              </a:rPr>
              <a:t>• Ein weiterer Satz.</a:t>
            </a:r>
          </a:p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1850" b="0">
                <a:solidFill>
                  <a:srgbClr val="1F2A33"/>
                </a:solidFill>
                <a:latin typeface="Aptos"/>
                <a:ea typeface="Aptos"/>
                <a:cs typeface="Aptos"/>
              </a:rPr>
              <a:t>• Grußformel und Name.</a:t>
            </a:r>
          </a:p>
        </p:txBody>
      </p:sp>
      <p:sp>
        <p:nvSpPr>
          <p:cNvPr id="10" name="Shape 7">
            <a:extLst xmlns:a="http://schemas.openxmlformats.org/drawingml/2006/main">
              <a:ext uri="{FF2B5EF4-FFF2-40B4-BE49-F238E27FC236}">
                <a16:creationId xmlns:a16="http://schemas.microsoft.com/office/drawing/2014/main" id="{E52C2433-505D-4E32-9EBB-020A4F6C4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5669280"/>
            <a:ext cx="8869680" cy="493776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7DBB6F">
              <a:alpha val="96000"/>
            </a:srgbClr>
          </a:solidFill>
          <a:ln xmlns:a="http://schemas.openxmlformats.org/drawingml/2006/main" w="12700">
            <a:solidFill>
              <a:srgbClr val="7DBB6F">
                <a:alpha val="0"/>
              </a:srgbClr>
            </a:solidFill>
            <a:prstDash val="solid"/>
          </a:ln>
        </p:spPr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0CB23E47-C521-4345-9604-42DC4B393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2224" y="5779008"/>
            <a:ext cx="8577072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 fontScale="99815"/>
          </a:bodyPr>
          <a:lstStyle xmlns:a="http://schemas.openxmlformats.org/drawingml/2006/main"/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Ein kurzer Brief kann alle Grundpunkte erreichen.</a:t>
            </a:r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D0FC59DF-01E9-4F94-852A-6FCF34A5B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437376"/>
            <a:ext cx="649224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245688"/>
                </a:solidFill>
              </a:rPr>
              <a:t>Input 4 · Musterbrief</a:t>
            </a:r>
            <a:endParaRPr sz="850"/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68DFD4A2-4D66-4E90-AE3F-49F892AD4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0" y="6419088"/>
            <a:ext cx="29718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48DCCB"/>
                </a:solidFill>
              </a:rPr>
              <a:t>Planung → Durchführung → Reflexion</a:t>
            </a:r>
            <a:endParaRPr sz="950"/>
          </a:p>
        </p:txBody>
      </p:sp>
      <p:sp>
        <p:nvSpPr>
          <p:cNvPr id="14" name="Otterklasse Rahmen">
            <a:extLst xmlns:a="http://schemas.openxmlformats.org/drawingml/2006/main">
              <a:ext uri="{FF2B5EF4-FFF2-40B4-BE49-F238E27FC236}">
                <a16:creationId xmlns:a16="http://schemas.microsoft.com/office/drawing/2014/main" id="{541E5B27-D982-4E20-9C5B-7C82CA4CC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95250"/>
            <a:ext cx="12001500" cy="666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245688"/>
            </a:solidFill>
            <a:prstDash val="solid"/>
          </a:ln>
        </p:spPr>
      </p:sp>
      <p:sp>
        <p:nvSpPr>
          <p:cNvPr id="15" name="Akzent Orange">
            <a:extLst xmlns:a="http://schemas.openxmlformats.org/drawingml/2006/main">
              <a:ext uri="{FF2B5EF4-FFF2-40B4-BE49-F238E27FC236}">
                <a16:creationId xmlns:a16="http://schemas.microsoft.com/office/drawing/2014/main" id="{7EF7D751-693E-48A5-97F9-3A8DB4CC9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95250"/>
            <a:ext cx="571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A66F"/>
          </a:solidFill>
          <a:ln xmlns:a="http://schemas.openxmlformats.org/drawingml/2006/main" w="0">
            <a:solidFill>
              <a:srgbClr val="F0A66F"/>
            </a:solidFill>
            <a:prstDash val="solid"/>
          </a:ln>
        </p:spPr>
      </p:sp>
      <p:sp>
        <p:nvSpPr>
          <p:cNvPr id="16" name="Akzent Mint">
            <a:extLst xmlns:a="http://schemas.openxmlformats.org/drawingml/2006/main">
              <a:ext uri="{FF2B5EF4-FFF2-40B4-BE49-F238E27FC236}">
                <a16:creationId xmlns:a16="http://schemas.microsoft.com/office/drawing/2014/main" id="{534D3FC2-0C17-4A72-96FA-A131E477A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39600" y="6019800"/>
            <a:ext cx="571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8DCCB"/>
          </a:solidFill>
          <a:ln xmlns:a="http://schemas.openxmlformats.org/drawingml/2006/main" w="0">
            <a:solidFill>
              <a:srgbClr val="48DCCB"/>
            </a:solidFill>
            <a:prstDash val="solid"/>
          </a:ln>
        </p:spPr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42bb11875c14090"/>
          <a:stretch xmlns:a="http://schemas.openxmlformats.org/drawingml/2006/main"/>
        </p:blipFill>
        <p:spPr>
          <a:xfrm xmlns:a="http://schemas.openxmlformats.org/drawingml/2006/main">
            <a:off x="10629900" y="538493"/>
            <a:ext cx="781050" cy="580364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0253414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Shape 0">
            <a:extLst xmlns:a="http://schemas.openxmlformats.org/drawingml/2006/main">
              <a:ext uri="{FF2B5EF4-FFF2-40B4-BE49-F238E27FC236}">
                <a16:creationId xmlns:a16="http://schemas.microsoft.com/office/drawing/2014/main" id="{A0FBCD1B-50EB-4331-A9E1-513889AE0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4" name="Shape 1">
            <a:extLst xmlns:a="http://schemas.openxmlformats.org/drawingml/2006/main">
              <a:ext uri="{FF2B5EF4-FFF2-40B4-BE49-F238E27FC236}">
                <a16:creationId xmlns:a16="http://schemas.microsoft.com/office/drawing/2014/main" id="{977BDFA3-E56B-4530-9536-572EB0823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7472"/>
            <a:ext cx="11173968" cy="6144768"/>
          </a:xfrm>
          <a:prstGeom xmlns:a="http://schemas.openxmlformats.org/drawingml/2006/main" prst="roundRect">
            <a:avLst>
              <a:gd name="adj" fmla="val 279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24568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C7304EAC-5304-437E-8A7C-3522D1E56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676656"/>
            <a:ext cx="6995160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900" b="1">
                <a:solidFill>
                  <a:srgbClr val="2C3D4C"/>
                </a:solidFill>
                <a:latin typeface="Aptos Display"/>
                <a:ea typeface="Aptos Display"/>
                <a:cs typeface="Aptos Display"/>
              </a:rPr>
              <a:t>Checkliste: Ist mein Brief fertig?</a:t>
            </a:r>
            <a:endParaRPr sz="2900"/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F3544B88-09FA-4BC2-B7A8-D579F5918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170432"/>
            <a:ext cx="7223760" cy="2834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>
                <a:solidFill>
                  <a:srgbClr val="3E5668"/>
                </a:solidFill>
              </a:rPr>
              <a:t>Kontrolle als Teil des Lernens</a:t>
            </a:r>
            <a:endParaRPr sz="1350"/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AE4EEF72-9946-4AE4-A97B-2AD29CC96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1600200"/>
            <a:ext cx="347472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100">
                <a:solidFill>
                  <a:srgbClr val="D97A4A"/>
                </a:solidFill>
              </a:rPr>
              <a:t>☐</a:t>
            </a:r>
            <a:endParaRPr sz="2100"/>
          </a:p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690641F6-1DDD-44B7-86C9-9BE5F6F46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1640" y="1636776"/>
            <a:ext cx="36576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1800" b="0">
                <a:solidFill>
                  <a:srgbClr val="1F2A33"/>
                </a:solidFill>
                <a:latin typeface="Aptos"/>
                <a:ea typeface="Aptos"/>
                <a:cs typeface="Aptos"/>
              </a:rPr>
              <a:t>Ort/Datum + passende Anrede</a:t>
            </a:r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57BE2E71-FABF-493B-8914-54D8DFA5B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2587752"/>
            <a:ext cx="347472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100">
                <a:solidFill>
                  <a:srgbClr val="D97A4A"/>
                </a:solidFill>
              </a:rPr>
              <a:t>☐</a:t>
            </a:r>
            <a:endParaRPr sz="2100"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F40991B1-7644-44B8-B42C-D162546C2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1640" y="2624328"/>
            <a:ext cx="36576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>
                <a:solidFill>
                  <a:srgbClr val="1F2A33"/>
                </a:solidFill>
              </a:rPr>
              <a:t>Wunsch ist deutlich.</a:t>
            </a:r>
            <a:endParaRPr sz="1800"/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D643636F-8C1E-465F-912D-71637ACE3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3575304"/>
            <a:ext cx="347472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100">
                <a:solidFill>
                  <a:srgbClr val="D97A4A"/>
                </a:solidFill>
              </a:rPr>
              <a:t>☐</a:t>
            </a:r>
            <a:endParaRPr sz="2100"/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A807336B-79F5-46DF-8438-A1FDA8F5E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1640" y="3611880"/>
            <a:ext cx="36576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>
                <a:solidFill>
                  <a:srgbClr val="1F2A33"/>
                </a:solidFill>
              </a:rPr>
              <a:t>Sprache ist freundlich.</a:t>
            </a:r>
            <a:endParaRPr sz="1800"/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16DD64FC-89A5-48F4-BF39-259A71B9B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600200"/>
            <a:ext cx="347472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100">
                <a:solidFill>
                  <a:srgbClr val="D97A4A"/>
                </a:solidFill>
              </a:rPr>
              <a:t>☐</a:t>
            </a:r>
            <a:endParaRPr sz="2100"/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B8D3CCFC-45B9-4DED-AEC4-2398BFD86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1636776"/>
            <a:ext cx="36576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1800" b="0">
                <a:solidFill>
                  <a:srgbClr val="1F2A33"/>
                </a:solidFill>
                <a:latin typeface="Aptos"/>
                <a:ea typeface="Aptos"/>
                <a:cs typeface="Aptos"/>
              </a:rPr>
              <a:t>Ganze Sätze, lesbare Schrift</a:t>
            </a:r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19C0C6ED-D3A1-4521-99CF-7CEFC6CEC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587752"/>
            <a:ext cx="347472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100">
                <a:solidFill>
                  <a:srgbClr val="D97A4A"/>
                </a:solidFill>
              </a:rPr>
              <a:t>☐</a:t>
            </a:r>
            <a:endParaRPr sz="2100"/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583B6563-53A4-414B-8246-73D901767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2624328"/>
            <a:ext cx="36576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>
                <a:solidFill>
                  <a:srgbClr val="1F2A33"/>
                </a:solidFill>
              </a:rPr>
              <a:t>Grußformel und Name stehen da.</a:t>
            </a:r>
            <a:endParaRPr sz="1800"/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6D88A6C8-CD4D-47A4-A093-CC8CDA926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575304"/>
            <a:ext cx="347472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100">
                <a:solidFill>
                  <a:srgbClr val="D97A4A"/>
                </a:solidFill>
              </a:rPr>
              <a:t>☐</a:t>
            </a:r>
            <a:endParaRPr sz="2100"/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64EC340E-CB48-4149-947B-7F3E4FB44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3611880"/>
            <a:ext cx="36576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1800" b="0">
                <a:solidFill>
                  <a:srgbClr val="1F2A33"/>
                </a:solidFill>
                <a:latin typeface="Aptos"/>
                <a:ea typeface="Aptos"/>
                <a:cs typeface="Aptos"/>
              </a:rPr>
              <a:t>Ein weiterer Satz passt.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7546A698-93D1-4374-8BC3-6DE4F213D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3160" y="5394960"/>
            <a:ext cx="7406640" cy="585216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D97A4A">
              <a:alpha val="96000"/>
            </a:srgbClr>
          </a:solidFill>
          <a:ln xmlns:a="http://schemas.openxmlformats.org/drawingml/2006/main" w="12700">
            <a:solidFill>
              <a:srgbClr val="D97A4A">
                <a:alpha val="0"/>
              </a:srgbClr>
            </a:solidFill>
            <a:prstDash val="solid"/>
          </a:ln>
        </p:spPr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8FC657FD-ECBB-4720-B2F3-3263E3B0E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9464" y="5504688"/>
            <a:ext cx="7114032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Prüfe Zusätze nur, wenn du sie nutzt.</a:t>
            </a:r>
          </a:p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074BE7A3-54EF-4A5B-8521-A9B41256F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437376"/>
            <a:ext cx="649224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245688"/>
                </a:solidFill>
              </a:rPr>
              <a:t>Input 4 · Kontrolle</a:t>
            </a:r>
            <a:endParaRPr sz="850"/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DEE11746-53EE-4C14-8AB9-D7932A022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0" y="6419088"/>
            <a:ext cx="29718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48DCCB"/>
                </a:solidFill>
              </a:rPr>
              <a:t>Planung → Durchführung → Reflexion</a:t>
            </a:r>
            <a:endParaRPr sz="950"/>
          </a:p>
        </p:txBody>
      </p:sp>
      <p:sp>
        <p:nvSpPr>
          <p:cNvPr id="23" name="Otterklasse Rahmen">
            <a:extLst xmlns:a="http://schemas.openxmlformats.org/drawingml/2006/main">
              <a:ext uri="{FF2B5EF4-FFF2-40B4-BE49-F238E27FC236}">
                <a16:creationId xmlns:a16="http://schemas.microsoft.com/office/drawing/2014/main" id="{529E5F2A-AAD4-4DEE-9C56-5BF4D37F8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95250"/>
            <a:ext cx="12001500" cy="666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245688"/>
            </a:solidFill>
            <a:prstDash val="solid"/>
          </a:ln>
        </p:spPr>
      </p:sp>
      <p:sp>
        <p:nvSpPr>
          <p:cNvPr id="24" name="Akzent Orange">
            <a:extLst xmlns:a="http://schemas.openxmlformats.org/drawingml/2006/main">
              <a:ext uri="{FF2B5EF4-FFF2-40B4-BE49-F238E27FC236}">
                <a16:creationId xmlns:a16="http://schemas.microsoft.com/office/drawing/2014/main" id="{B91A9F7C-E3A8-4EC4-9B84-781A8353D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95250"/>
            <a:ext cx="571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A66F"/>
          </a:solidFill>
          <a:ln xmlns:a="http://schemas.openxmlformats.org/drawingml/2006/main" w="0">
            <a:solidFill>
              <a:srgbClr val="F0A66F"/>
            </a:solidFill>
            <a:prstDash val="solid"/>
          </a:ln>
        </p:spPr>
      </p:sp>
      <p:sp>
        <p:nvSpPr>
          <p:cNvPr id="25" name="Akzent Mint">
            <a:extLst xmlns:a="http://schemas.openxmlformats.org/drawingml/2006/main">
              <a:ext uri="{FF2B5EF4-FFF2-40B4-BE49-F238E27FC236}">
                <a16:creationId xmlns:a16="http://schemas.microsoft.com/office/drawing/2014/main" id="{E6709CB9-96DA-46B3-87F0-9CF0615A4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39600" y="6019800"/>
            <a:ext cx="571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8DCCB"/>
          </a:solidFill>
          <a:ln xmlns:a="http://schemas.openxmlformats.org/drawingml/2006/main" w="0">
            <a:solidFill>
              <a:srgbClr val="48DCCB"/>
            </a:solidFill>
            <a:prstDash val="solid"/>
          </a:ln>
        </p:spPr>
      </p:sp>
      <p:pic>
        <p:nvPicPr>
          <p:cNvPr id="5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0ed2234160411f"/>
          <a:stretch xmlns:a="http://schemas.openxmlformats.org/drawingml/2006/main"/>
        </p:blipFill>
        <p:spPr>
          <a:xfrm xmlns:a="http://schemas.openxmlformats.org/drawingml/2006/main">
            <a:off x="10629900" y="498718"/>
            <a:ext cx="781050" cy="65991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647359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Shape 0">
            <a:extLst xmlns:a="http://schemas.openxmlformats.org/drawingml/2006/main">
              <a:ext uri="{FF2B5EF4-FFF2-40B4-BE49-F238E27FC236}">
                <a16:creationId xmlns:a16="http://schemas.microsoft.com/office/drawing/2014/main" id="{5E8C0201-C588-4120-B893-C141B176C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4" name="Shape 1">
            <a:extLst xmlns:a="http://schemas.openxmlformats.org/drawingml/2006/main">
              <a:ext uri="{FF2B5EF4-FFF2-40B4-BE49-F238E27FC236}">
                <a16:creationId xmlns:a16="http://schemas.microsoft.com/office/drawing/2014/main" id="{DD4FA65C-9D7C-4A4F-93D8-EEB8BD9EC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731520"/>
            <a:ext cx="5852160" cy="5074920"/>
          </a:xfrm>
          <a:prstGeom xmlns:a="http://schemas.openxmlformats.org/drawingml/2006/main" prst="roundRect">
            <a:avLst>
              <a:gd name="adj" fmla="val 3378"/>
            </a:avLst>
          </a:prstGeom>
          <a:solidFill xmlns:a="http://schemas.openxmlformats.org/drawingml/2006/main">
            <a:srgbClr val="DCECF8"/>
          </a:solidFill>
          <a:ln xmlns:a="http://schemas.openxmlformats.org/drawingml/2006/main" w="13335">
            <a:solidFill>
              <a:srgbClr val="24568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D8F85D88-C16F-4106-BB0B-C0F10AAE7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" y="1060704"/>
            <a:ext cx="20116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D97A4A"/>
                </a:solidFill>
              </a:rPr>
              <a:t>Input 5</a:t>
            </a:r>
            <a:endParaRPr sz="1700"/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0F7210A6-B946-4193-AB9D-1CA281B1C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" y="1508760"/>
            <a:ext cx="507492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400" b="1">
                <a:solidFill>
                  <a:srgbClr val="2C3D4C"/>
                </a:solidFill>
                <a:latin typeface="Aptos Display"/>
                <a:ea typeface="Aptos Display"/>
                <a:cs typeface="Aptos Display"/>
              </a:rPr>
              <a:t>Probearbeit und Prüfungsreife</a:t>
            </a:r>
            <a:endParaRPr sz="3400"/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8F2EE133-C5B0-42D7-AF76-FD20A57AC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" y="2971800"/>
            <a:ext cx="498348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81" tIns="381" rIns="381" bIns="381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2000" b="0">
                <a:solidFill>
                  <a:srgbClr val="1F2A33"/>
                </a:solidFill>
                <a:latin typeface="Aptos"/>
                <a:ea typeface="Aptos"/>
                <a:cs typeface="Aptos"/>
              </a:rPr>
              <a:t>Du zeigst, was dir schon gelingt. Mit der Lehrkraft besprichst du deinen nächsten Schritt.</a:t>
            </a:r>
          </a:p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3B008809-7837-4CBE-A5FE-1728997D4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" y="5047488"/>
            <a:ext cx="3200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rgbClr val="3E5668"/>
                </a:solidFill>
              </a:rPr>
              <a:t>Impuls für die Klasse</a:t>
            </a:r>
            <a:endParaRPr sz="1400"/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609931D5-4106-4646-847E-BF17D1481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437376"/>
            <a:ext cx="649224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245688"/>
                </a:solidFill>
              </a:rPr>
              <a:t>Input 5</a:t>
            </a:r>
            <a:endParaRPr sz="850"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51AFCA77-0825-4E49-A5BD-5AB04904B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0" y="6419088"/>
            <a:ext cx="29718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48DCCB"/>
                </a:solidFill>
              </a:rPr>
              <a:t>Planung → Durchführung → Reflexion</a:t>
            </a:r>
            <a:endParaRPr sz="950"/>
          </a:p>
        </p:txBody>
      </p:sp>
      <p:sp>
        <p:nvSpPr>
          <p:cNvPr id="11" name="Otterklasse Rahmen">
            <a:extLst xmlns:a="http://schemas.openxmlformats.org/drawingml/2006/main">
              <a:ext uri="{FF2B5EF4-FFF2-40B4-BE49-F238E27FC236}">
                <a16:creationId xmlns:a16="http://schemas.microsoft.com/office/drawing/2014/main" id="{35FEE414-C518-454A-BFC3-ECF3AC32F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95250"/>
            <a:ext cx="12001500" cy="666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245688"/>
            </a:solidFill>
            <a:prstDash val="solid"/>
          </a:ln>
        </p:spPr>
      </p:sp>
      <p:sp>
        <p:nvSpPr>
          <p:cNvPr id="12" name="Akzent Orange">
            <a:extLst xmlns:a="http://schemas.openxmlformats.org/drawingml/2006/main">
              <a:ext uri="{FF2B5EF4-FFF2-40B4-BE49-F238E27FC236}">
                <a16:creationId xmlns:a16="http://schemas.microsoft.com/office/drawing/2014/main" id="{DF1FD80E-9ED0-4C47-894B-1E3052366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95250"/>
            <a:ext cx="571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A66F"/>
          </a:solidFill>
          <a:ln xmlns:a="http://schemas.openxmlformats.org/drawingml/2006/main" w="0">
            <a:solidFill>
              <a:srgbClr val="F0A66F"/>
            </a:solidFill>
            <a:prstDash val="solid"/>
          </a:ln>
        </p:spPr>
      </p:sp>
      <p:sp>
        <p:nvSpPr>
          <p:cNvPr id="13" name="Akzent Mint">
            <a:extLst xmlns:a="http://schemas.openxmlformats.org/drawingml/2006/main">
              <a:ext uri="{FF2B5EF4-FFF2-40B4-BE49-F238E27FC236}">
                <a16:creationId xmlns:a16="http://schemas.microsoft.com/office/drawing/2014/main" id="{E15B5EEE-CF28-448E-840A-FC5D0B7C0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39600" y="6019800"/>
            <a:ext cx="571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8DCCB"/>
          </a:solidFill>
          <a:ln xmlns:a="http://schemas.openxmlformats.org/drawingml/2006/main" w="0">
            <a:solidFill>
              <a:srgbClr val="48DCCB"/>
            </a:solidFill>
            <a:prstDash val="solid"/>
          </a:ln>
        </p:spPr>
      </p:sp>
      <p:sp>
        <p:nvSpPr>
          <p:cNvPr id="14" name="Otter Bildfeld">
            <a:extLst xmlns:a="http://schemas.openxmlformats.org/drawingml/2006/main">
              <a:ext uri="{FF2B5EF4-FFF2-40B4-BE49-F238E27FC236}">
                <a16:creationId xmlns:a16="http://schemas.microsoft.com/office/drawing/2014/main" id="{C0177A26-7A81-4EF7-966E-D17681B78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685800"/>
            <a:ext cx="4095750" cy="4953000"/>
          </a:xfrm>
          <a:prstGeom xmlns:a="http://schemas.openxmlformats.org/drawingml/2006/main" prst="roundRect">
            <a:avLst>
              <a:gd name="adj" fmla="val 5581"/>
            </a:avLst>
          </a:prstGeom>
          <a:solidFill xmlns:a="http://schemas.openxmlformats.org/drawingml/2006/main">
            <a:srgbClr val="E0F7F1"/>
          </a:solidFill>
          <a:ln xmlns:a="http://schemas.openxmlformats.org/drawingml/2006/main" w="9525">
            <a:solidFill>
              <a:srgbClr val="245688"/>
            </a:solidFill>
            <a:prstDash val="solid"/>
          </a:ln>
        </p:spPr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a45dcc47d6482a"/>
          <a:stretch xmlns:a="http://schemas.openxmlformats.org/drawingml/2006/main"/>
        </p:blipFill>
        <p:spPr>
          <a:xfrm xmlns:a="http://schemas.openxmlformats.org/drawingml/2006/main">
            <a:off x="7667625" y="1733187"/>
            <a:ext cx="3238500" cy="2629627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7780841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Shape 0">
            <a:extLst xmlns:a="http://schemas.openxmlformats.org/drawingml/2006/main">
              <a:ext uri="{FF2B5EF4-FFF2-40B4-BE49-F238E27FC236}">
                <a16:creationId xmlns:a16="http://schemas.microsoft.com/office/drawing/2014/main" id="{166AD8A1-96E3-4BC5-AC29-729D3172C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4" name="Shape 1">
            <a:extLst xmlns:a="http://schemas.openxmlformats.org/drawingml/2006/main">
              <a:ext uri="{FF2B5EF4-FFF2-40B4-BE49-F238E27FC236}">
                <a16:creationId xmlns:a16="http://schemas.microsoft.com/office/drawing/2014/main" id="{CA2CD45D-E525-40B0-A548-087256DCC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7472"/>
            <a:ext cx="11173968" cy="6144768"/>
          </a:xfrm>
          <a:prstGeom xmlns:a="http://schemas.openxmlformats.org/drawingml/2006/main" prst="roundRect">
            <a:avLst>
              <a:gd name="adj" fmla="val 279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24568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12583D91-AFC9-4DFF-B8B8-B5AF0650D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676656"/>
            <a:ext cx="6995160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900" b="1">
                <a:solidFill>
                  <a:srgbClr val="2C3D4C"/>
                </a:solidFill>
                <a:latin typeface="Aptos Display"/>
                <a:ea typeface="Aptos Display"/>
                <a:cs typeface="Aptos Display"/>
              </a:rPr>
              <a:t>Die Probearbeit ist Training</a:t>
            </a:r>
            <a:endParaRPr sz="2900"/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DCA23B1B-0E61-4165-B2F7-869DCC80A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170432"/>
            <a:ext cx="7223760" cy="2834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1350" b="0">
                <a:solidFill>
                  <a:srgbClr val="3E5668"/>
                </a:solidFill>
                <a:latin typeface="Aptos"/>
                <a:ea typeface="Aptos"/>
                <a:cs typeface="Aptos"/>
              </a:rPr>
              <a:t>Verpflichtend und ohne Note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13BF898E-B7A2-45BA-B1F5-511D229CB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1463040"/>
            <a:ext cx="5212080" cy="3749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100">
                <a:solidFill>
                  <a:srgbClr val="1F2A33"/>
                </a:solidFill>
              </a:rPr>
              <a:t>• Du liest eine Situation.
</a:t>
            </a:r>
            <a:r>
              <a:rPr sz="2100">
                <a:solidFill>
                  <a:srgbClr val="1F2A33"/>
                </a:solidFill>
              </a:rPr>
              <a:t>• Du nutzt einen Schreibplan.
</a:t>
            </a:r>
            <a:r>
              <a:rPr sz="2100">
                <a:solidFill>
                  <a:srgbClr val="1F2A33"/>
                </a:solidFill>
              </a:rPr>
              <a:t>• Du schreibst einen Wunschbrief.
</a:t>
            </a:r>
            <a:r>
              <a:rPr sz="2100">
                <a:solidFill>
                  <a:srgbClr val="1F2A33"/>
                </a:solidFill>
              </a:rPr>
              <a:t>• Du kontrollierst deinen Brief.
</a:t>
            </a:r>
            <a:r>
              <a:rPr sz="2100">
                <a:solidFill>
                  <a:srgbClr val="1F2A33"/>
                </a:solidFill>
              </a:rPr>
              <a:t>• Du siehst: Was kann ich schon?</a:t>
            </a:r>
            <a:endParaRPr sz="2100"/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DDBACAB1-D6C3-441B-8644-CBECD0A5B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1737360"/>
            <a:ext cx="3794760" cy="2560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12700">
            <a:solidFill>
              <a:srgbClr val="E8D4C1"/>
            </a:solidFill>
            <a:prstDash val="solid"/>
          </a:ln>
        </p:spPr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7822E8F0-888F-4259-B287-75AA2B6F8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1847088"/>
            <a:ext cx="3520440" cy="23408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1800" b="0">
                <a:solidFill>
                  <a:srgbClr val="1F2A33"/>
                </a:solidFill>
                <a:latin typeface="Aptos"/>
                <a:ea typeface="Aptos"/>
                <a:cs typeface="Aptos"/>
              </a:rPr>
              <a:t>Nutze zuerst die Hilfen wie bei der Arbeit.</a:t>
            </a:r>
          </a:p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1800" b="0">
                <a:solidFill>
                  <a:srgbClr val="1F2A33"/>
                </a:solidFill>
                <a:latin typeface="Aptos"/>
                <a:ea typeface="Aptos"/>
                <a:cs typeface="Aptos"/>
              </a:rPr>
              <a:t/>
            </a:r>
          </a:p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1800" b="0">
                <a:solidFill>
                  <a:srgbClr val="1F2A33"/>
                </a:solidFill>
                <a:latin typeface="Aptos"/>
                <a:ea typeface="Aptos"/>
                <a:cs typeface="Aptos"/>
              </a:rPr>
              <a:t>Du steckst fest? Frage die Lehrkraft. Zusätzliche Hilfe wird notiert.</a:t>
            </a:r>
          </a:p>
        </p:txBody>
      </p:sp>
      <p:sp>
        <p:nvSpPr>
          <p:cNvPr id="10" name="Shape 7">
            <a:extLst xmlns:a="http://schemas.openxmlformats.org/drawingml/2006/main">
              <a:ext uri="{FF2B5EF4-FFF2-40B4-BE49-F238E27FC236}">
                <a16:creationId xmlns:a16="http://schemas.microsoft.com/office/drawing/2014/main" id="{68F6E8D8-1A5D-47AB-AF7B-B643F63F0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5440680"/>
            <a:ext cx="7589520" cy="566928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7DBB6F">
              <a:alpha val="96000"/>
            </a:srgbClr>
          </a:solidFill>
          <a:ln xmlns:a="http://schemas.openxmlformats.org/drawingml/2006/main" w="12700">
            <a:solidFill>
              <a:srgbClr val="7DBB6F">
                <a:alpha val="0"/>
              </a:srgbClr>
            </a:solidFill>
            <a:prstDash val="solid"/>
          </a:ln>
        </p:spPr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AF1DE3AF-3B69-46D5-87A2-857EEAD4C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0864" y="5550408"/>
            <a:ext cx="729691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Deine erste Fassung und die Überarbeitung bleiben erkennbar.</a:t>
            </a:r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A1564979-6013-430E-A735-1427091FC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437376"/>
            <a:ext cx="649224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245688"/>
                </a:solidFill>
              </a:rPr>
              <a:t>Input 5 · Probearbeit</a:t>
            </a:r>
            <a:endParaRPr sz="850"/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AC99E034-D812-42C1-B43C-8A65E9F01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0" y="6419088"/>
            <a:ext cx="29718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48DCCB"/>
                </a:solidFill>
              </a:rPr>
              <a:t>Planung → Durchführung → Reflexion</a:t>
            </a:r>
            <a:endParaRPr sz="950"/>
          </a:p>
        </p:txBody>
      </p:sp>
      <p:sp>
        <p:nvSpPr>
          <p:cNvPr id="14" name="Otterklasse Rahmen">
            <a:extLst xmlns:a="http://schemas.openxmlformats.org/drawingml/2006/main">
              <a:ext uri="{FF2B5EF4-FFF2-40B4-BE49-F238E27FC236}">
                <a16:creationId xmlns:a16="http://schemas.microsoft.com/office/drawing/2014/main" id="{FFABF9D8-C954-40F2-847D-365E026EF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95250"/>
            <a:ext cx="12001500" cy="666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245688"/>
            </a:solidFill>
            <a:prstDash val="solid"/>
          </a:ln>
        </p:spPr>
      </p:sp>
      <p:sp>
        <p:nvSpPr>
          <p:cNvPr id="15" name="Akzent Orange">
            <a:extLst xmlns:a="http://schemas.openxmlformats.org/drawingml/2006/main">
              <a:ext uri="{FF2B5EF4-FFF2-40B4-BE49-F238E27FC236}">
                <a16:creationId xmlns:a16="http://schemas.microsoft.com/office/drawing/2014/main" id="{BE2B9975-609B-4FA8-B887-BDFFE0535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95250"/>
            <a:ext cx="571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A66F"/>
          </a:solidFill>
          <a:ln xmlns:a="http://schemas.openxmlformats.org/drawingml/2006/main" w="0">
            <a:solidFill>
              <a:srgbClr val="F0A66F"/>
            </a:solidFill>
            <a:prstDash val="solid"/>
          </a:ln>
        </p:spPr>
      </p:sp>
      <p:sp>
        <p:nvSpPr>
          <p:cNvPr id="16" name="Akzent Mint">
            <a:extLst xmlns:a="http://schemas.openxmlformats.org/drawingml/2006/main">
              <a:ext uri="{FF2B5EF4-FFF2-40B4-BE49-F238E27FC236}">
                <a16:creationId xmlns:a16="http://schemas.microsoft.com/office/drawing/2014/main" id="{9C09E3D6-26B6-4F02-8810-A1CDE1218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39600" y="6019800"/>
            <a:ext cx="571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8DCCB"/>
          </a:solidFill>
          <a:ln xmlns:a="http://schemas.openxmlformats.org/drawingml/2006/main" w="0">
            <a:solidFill>
              <a:srgbClr val="48DCCB"/>
            </a:solidFill>
            <a:prstDash val="solid"/>
          </a:ln>
        </p:spPr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4d6a86360064fdc"/>
          <a:stretch xmlns:a="http://schemas.openxmlformats.org/drawingml/2006/main"/>
        </p:blipFill>
        <p:spPr>
          <a:xfrm xmlns:a="http://schemas.openxmlformats.org/drawingml/2006/main">
            <a:off x="10629900" y="548585"/>
            <a:ext cx="781050" cy="560179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877151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Shape 0">
            <a:extLst xmlns:a="http://schemas.openxmlformats.org/drawingml/2006/main">
              <a:ext uri="{FF2B5EF4-FFF2-40B4-BE49-F238E27FC236}">
                <a16:creationId xmlns:a16="http://schemas.microsoft.com/office/drawing/2014/main" id="{A2B8FDBD-4A5C-4F12-B527-5651ADF3C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4" name="Shape 1">
            <a:extLst xmlns:a="http://schemas.openxmlformats.org/drawingml/2006/main">
              <a:ext uri="{FF2B5EF4-FFF2-40B4-BE49-F238E27FC236}">
                <a16:creationId xmlns:a16="http://schemas.microsoft.com/office/drawing/2014/main" id="{43A9E0A0-2A06-4ABB-9A26-6A810EEFE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7472"/>
            <a:ext cx="11173968" cy="6144768"/>
          </a:xfrm>
          <a:prstGeom xmlns:a="http://schemas.openxmlformats.org/drawingml/2006/main" prst="roundRect">
            <a:avLst>
              <a:gd name="adj" fmla="val 279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24568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8CB482FE-A67A-4064-AE77-11E4F5912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676656"/>
            <a:ext cx="6995160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900" b="1">
                <a:solidFill>
                  <a:srgbClr val="2C3D4C"/>
                </a:solidFill>
                <a:latin typeface="Aptos Display"/>
                <a:ea typeface="Aptos Display"/>
                <a:cs typeface="Aptos Display"/>
              </a:rPr>
              <a:t>Bin ich bereit?</a:t>
            </a:r>
            <a:endParaRPr sz="2900"/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9F8E51D8-34E7-4B94-890D-85C200116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170432"/>
            <a:ext cx="7223760" cy="2834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>
                <a:solidFill>
                  <a:srgbClr val="3E5668"/>
                </a:solidFill>
              </a:rPr>
              <a:t>Prüfungsreife einschätzen</a:t>
            </a:r>
            <a:endParaRPr sz="1350"/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5580DCF7-4971-4308-94D8-CB1CC3159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1463040"/>
            <a:ext cx="6126480" cy="3566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2000" b="0">
                <a:solidFill>
                  <a:srgbClr val="1F2A33"/>
                </a:solidFill>
                <a:latin typeface="Aptos"/>
                <a:ea typeface="Aptos"/>
                <a:cs typeface="Aptos"/>
              </a:rPr>
              <a:t>• Zeige deinen Wunsch im Brief.</a:t>
            </a:r>
          </a:p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2000" b="0">
                <a:solidFill>
                  <a:srgbClr val="1F2A33"/>
                </a:solidFill>
                <a:latin typeface="Aptos"/>
                <a:ea typeface="Aptos"/>
                <a:cs typeface="Aptos"/>
              </a:rPr>
              <a:t>• Finde den weiteren passenden Satz.</a:t>
            </a:r>
          </a:p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2000" b="0">
                <a:solidFill>
                  <a:srgbClr val="1F2A33"/>
                </a:solidFill>
                <a:latin typeface="Aptos"/>
                <a:ea typeface="Aptos"/>
                <a:cs typeface="Aptos"/>
              </a:rPr>
              <a:t>• Prüfe Briefteile, Sprache und Schrift.</a:t>
            </a:r>
          </a:p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2000" b="0">
                <a:solidFill>
                  <a:srgbClr val="1F2A33"/>
                </a:solidFill>
                <a:latin typeface="Aptos"/>
                <a:ea typeface="Aptos"/>
                <a:cs typeface="Aptos"/>
              </a:rPr>
              <a:t>• Nutze „Dein Wunschbrief: Das zählt“.</a:t>
            </a:r>
          </a:p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2000" b="0">
                <a:solidFill>
                  <a:srgbClr val="1F2A33"/>
                </a:solidFill>
                <a:latin typeface="Aptos"/>
                <a:ea typeface="Aptos"/>
                <a:cs typeface="Aptos"/>
              </a:rPr>
              <a:t>• Besprich deinen nächsten Schritt.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322BBFE8-33ED-4F5B-B83A-1A472B406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8120" y="1874520"/>
            <a:ext cx="2971800" cy="2011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12700">
            <a:solidFill>
              <a:srgbClr val="E8D4C1"/>
            </a:solidFill>
            <a:prstDash val="solid"/>
          </a:ln>
        </p:spPr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C7B0394D-308A-4D07-9E4D-AEA87A4A2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0" y="1984248"/>
            <a:ext cx="2697480" cy="17922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1800" b="0">
                <a:solidFill>
                  <a:srgbClr val="1F2A33"/>
                </a:solidFill>
                <a:latin typeface="Aptos"/>
                <a:ea typeface="Aptos"/>
                <a:cs typeface="Aptos"/>
              </a:rPr>
              <a:t>Nutze deine erste Fassung als Beleg.</a:t>
            </a:r>
          </a:p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1800" b="0">
                <a:solidFill>
                  <a:srgbClr val="1F2A33"/>
                </a:solidFill>
                <a:latin typeface="Aptos"/>
                <a:ea typeface="Aptos"/>
                <a:cs typeface="Aptos"/>
              </a:rPr>
              <a:t/>
            </a:r>
          </a:p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1800" b="0">
                <a:solidFill>
                  <a:srgbClr val="1F2A33"/>
                </a:solidFill>
                <a:latin typeface="Aptos"/>
                <a:ea typeface="Aptos"/>
                <a:cs typeface="Aptos"/>
              </a:rPr>
              <a:t>Welche Hilfe hast du dabei gebraucht?</a:t>
            </a:r>
          </a:p>
        </p:txBody>
      </p:sp>
      <p:sp>
        <p:nvSpPr>
          <p:cNvPr id="10" name="Shape 7">
            <a:extLst xmlns:a="http://schemas.openxmlformats.org/drawingml/2006/main">
              <a:ext uri="{FF2B5EF4-FFF2-40B4-BE49-F238E27FC236}">
                <a16:creationId xmlns:a16="http://schemas.microsoft.com/office/drawing/2014/main" id="{9A343ED7-38AA-4238-9891-E84AA8F50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7440" y="5349240"/>
            <a:ext cx="7223760" cy="566928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D97A4A">
              <a:alpha val="96000"/>
            </a:srgbClr>
          </a:solidFill>
          <a:ln xmlns:a="http://schemas.openxmlformats.org/drawingml/2006/main" w="12700">
            <a:solidFill>
              <a:srgbClr val="D97A4A">
                <a:alpha val="0"/>
              </a:srgbClr>
            </a:solidFill>
            <a:prstDash val="solid"/>
          </a:ln>
        </p:spPr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894B5A16-ED3D-49E6-B844-3C5132309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3744" y="5458968"/>
            <a:ext cx="693115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FFFFFF"/>
                </a:solidFill>
              </a:rPr>
              <a:t>Bereit sein heißt: Ich kann es zeigen.</a:t>
            </a:r>
            <a:endParaRPr sz="1800"/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4C7AB0A4-68B6-4ADD-B3C2-9A8686ED9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437376"/>
            <a:ext cx="649224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245688"/>
                </a:solidFill>
              </a:rPr>
              <a:t>Input 5 · Prüfungsreife</a:t>
            </a:r>
            <a:endParaRPr sz="850"/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EFFD9EA1-49F4-4907-B37B-0FB39AE97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0" y="6419088"/>
            <a:ext cx="29718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48DCCB"/>
                </a:solidFill>
              </a:rPr>
              <a:t>Planung → Durchführung → Reflexion</a:t>
            </a:r>
            <a:endParaRPr sz="950"/>
          </a:p>
        </p:txBody>
      </p:sp>
      <p:sp>
        <p:nvSpPr>
          <p:cNvPr id="14" name="Otterklasse Rahmen">
            <a:extLst xmlns:a="http://schemas.openxmlformats.org/drawingml/2006/main">
              <a:ext uri="{FF2B5EF4-FFF2-40B4-BE49-F238E27FC236}">
                <a16:creationId xmlns:a16="http://schemas.microsoft.com/office/drawing/2014/main" id="{6479FF98-803F-4691-9B61-0645168AB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95250"/>
            <a:ext cx="12001500" cy="666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245688"/>
            </a:solidFill>
            <a:prstDash val="solid"/>
          </a:ln>
        </p:spPr>
      </p:sp>
      <p:sp>
        <p:nvSpPr>
          <p:cNvPr id="15" name="Akzent Orange">
            <a:extLst xmlns:a="http://schemas.openxmlformats.org/drawingml/2006/main">
              <a:ext uri="{FF2B5EF4-FFF2-40B4-BE49-F238E27FC236}">
                <a16:creationId xmlns:a16="http://schemas.microsoft.com/office/drawing/2014/main" id="{7E9A667B-4C8C-4D8B-AC12-0842EE592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95250"/>
            <a:ext cx="571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A66F"/>
          </a:solidFill>
          <a:ln xmlns:a="http://schemas.openxmlformats.org/drawingml/2006/main" w="0">
            <a:solidFill>
              <a:srgbClr val="F0A66F"/>
            </a:solidFill>
            <a:prstDash val="solid"/>
          </a:ln>
        </p:spPr>
      </p:sp>
      <p:sp>
        <p:nvSpPr>
          <p:cNvPr id="16" name="Akzent Mint">
            <a:extLst xmlns:a="http://schemas.openxmlformats.org/drawingml/2006/main">
              <a:ext uri="{FF2B5EF4-FFF2-40B4-BE49-F238E27FC236}">
                <a16:creationId xmlns:a16="http://schemas.microsoft.com/office/drawing/2014/main" id="{C4158C03-175E-45E5-8D17-01CF5F49D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39600" y="6019800"/>
            <a:ext cx="571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8DCCB"/>
          </a:solidFill>
          <a:ln xmlns:a="http://schemas.openxmlformats.org/drawingml/2006/main" w="0">
            <a:solidFill>
              <a:srgbClr val="48DCCB"/>
            </a:solidFill>
            <a:prstDash val="solid"/>
          </a:ln>
        </p:spPr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820de90baca4e68"/>
          <a:stretch xmlns:a="http://schemas.openxmlformats.org/drawingml/2006/main"/>
        </p:blipFill>
        <p:spPr>
          <a:xfrm xmlns:a="http://schemas.openxmlformats.org/drawingml/2006/main">
            <a:off x="10629900" y="498718"/>
            <a:ext cx="781050" cy="65991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9716232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Shape 0">
            <a:extLst xmlns:a="http://schemas.openxmlformats.org/drawingml/2006/main">
              <a:ext uri="{FF2B5EF4-FFF2-40B4-BE49-F238E27FC236}">
                <a16:creationId xmlns:a16="http://schemas.microsoft.com/office/drawing/2014/main" id="{04F845FE-74DC-422D-8C66-B1506C576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4" name="Shape 1">
            <a:extLst xmlns:a="http://schemas.openxmlformats.org/drawingml/2006/main">
              <a:ext uri="{FF2B5EF4-FFF2-40B4-BE49-F238E27FC236}">
                <a16:creationId xmlns:a16="http://schemas.microsoft.com/office/drawing/2014/main" id="{CBC2085E-73CA-4B56-8962-9ADEB2D38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7472"/>
            <a:ext cx="11173968" cy="6144768"/>
          </a:xfrm>
          <a:prstGeom xmlns:a="http://schemas.openxmlformats.org/drawingml/2006/main" prst="roundRect">
            <a:avLst>
              <a:gd name="adj" fmla="val 279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24568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CACC6CDD-26DA-4DCE-98B5-2B0960FD8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676656"/>
            <a:ext cx="6995160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900" b="1">
                <a:solidFill>
                  <a:srgbClr val="2C3D4C"/>
                </a:solidFill>
                <a:latin typeface="Aptos Display"/>
                <a:ea typeface="Aptos Display"/>
                <a:cs typeface="Aptos Display"/>
              </a:rPr>
              <a:t>Das Prüfungsfenster</a:t>
            </a:r>
            <a:endParaRPr sz="2900"/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026E545E-524C-4620-90ED-CED8699BE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170432"/>
            <a:ext cx="7223760" cy="2834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1350" b="0">
                <a:solidFill>
                  <a:srgbClr val="3E5668"/>
                </a:solidFill>
                <a:latin typeface="Aptos"/>
                <a:ea typeface="Aptos"/>
                <a:cs typeface="Aptos"/>
              </a:rPr>
              <a:t>Alle Termine: gleicher Aufbau, gleiche Hilfen.</a:t>
            </a:r>
          </a:p>
        </p:txBody>
      </p:sp>
      <p:sp>
        <p:nvSpPr>
          <p:cNvPr id="7" name="Shape 4">
            <a:extLst xmlns:a="http://schemas.openxmlformats.org/drawingml/2006/main">
              <a:ext uri="{FF2B5EF4-FFF2-40B4-BE49-F238E27FC236}">
                <a16:creationId xmlns:a16="http://schemas.microsoft.com/office/drawing/2014/main" id="{4A2223F8-F900-4B82-8052-2990E9935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1508760"/>
            <a:ext cx="2743200" cy="749808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3E5668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49670739-CEDA-46B6-871A-74C0F549C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1709928"/>
            <a:ext cx="2377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FFFFFF"/>
                </a:solidFill>
              </a:rPr>
              <a:t>Termin 1</a:t>
            </a:r>
            <a:endParaRPr sz="1700"/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D6B15911-107E-44A6-BCE0-310C6DD43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960" y="1709928"/>
            <a:ext cx="3657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200" b="1">
                <a:solidFill>
                  <a:srgbClr val="D97A4A"/>
                </a:solidFill>
              </a:rPr>
              <a:t>→</a:t>
            </a:r>
            <a:endParaRPr sz="2200"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95C53D71-F3CE-41D5-BA67-69A9E94C3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1691640"/>
            <a:ext cx="50292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1800" b="0">
                <a:solidFill>
                  <a:srgbClr val="1F2A33"/>
                </a:solidFill>
                <a:latin typeface="Aptos"/>
                <a:ea typeface="Aptos"/>
                <a:cs typeface="Aptos"/>
              </a:rPr>
              <a:t>Du schreibst zum vereinbarten Termin.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C61BF4E8-A280-4940-9A1C-73FFF1078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2651760"/>
            <a:ext cx="2743200" cy="749808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3E5668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4B75DECD-F82D-4D00-8BCD-E41FAADF7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2852928"/>
            <a:ext cx="2377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FFFFFF"/>
                </a:solidFill>
              </a:rPr>
              <a:t>Termin 2</a:t>
            </a:r>
            <a:endParaRPr sz="1700"/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B5F579AC-3308-4805-BF76-8DEC2A574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960" y="2852928"/>
            <a:ext cx="3657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200" b="1">
                <a:solidFill>
                  <a:srgbClr val="D97A4A"/>
                </a:solidFill>
              </a:rPr>
              <a:t>→</a:t>
            </a:r>
            <a:endParaRPr sz="2200"/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D2DE3EA6-34D0-4CFF-80C7-E92FDC45A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2834640"/>
            <a:ext cx="50292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1800" b="0">
                <a:solidFill>
                  <a:srgbClr val="1F2A33"/>
                </a:solidFill>
                <a:latin typeface="Aptos"/>
                <a:ea typeface="Aptos"/>
                <a:cs typeface="Aptos"/>
              </a:rPr>
              <a:t>Du übst gezielt bis zu deinem Termin.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68B5D759-220E-4DDC-8A84-5FEC6B600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3794760"/>
            <a:ext cx="2743200" cy="749808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3E5668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3E7E41C2-15EE-4A8C-B648-09FED45D2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3995928"/>
            <a:ext cx="2377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FFFFFF"/>
                </a:solidFill>
              </a:rPr>
              <a:t>Termin 3</a:t>
            </a:r>
            <a:endParaRPr sz="1700"/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C156BAA8-6D0B-427E-9539-D02C80A0F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960" y="3995928"/>
            <a:ext cx="3657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200" b="1">
                <a:solidFill>
                  <a:srgbClr val="D97A4A"/>
                </a:solidFill>
              </a:rPr>
              <a:t>→</a:t>
            </a:r>
            <a:endParaRPr sz="2200"/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7248DA6B-444D-48BD-98F9-A754919DD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3977640"/>
            <a:ext cx="50292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1800" b="0">
                <a:solidFill>
                  <a:srgbClr val="1F2A33"/>
                </a:solidFill>
                <a:latin typeface="Aptos"/>
                <a:ea typeface="Aptos"/>
                <a:cs typeface="Aptos"/>
              </a:rPr>
              <a:t>Du übst gezielt bis zu deinem Termin.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23049448-30DF-452A-956A-E160C0DC3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5257800"/>
            <a:ext cx="8778240" cy="64008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7DBB6F">
              <a:alpha val="96000"/>
            </a:srgbClr>
          </a:solidFill>
          <a:ln xmlns:a="http://schemas.openxmlformats.org/drawingml/2006/main" w="12700">
            <a:solidFill>
              <a:srgbClr val="7DBB6F">
                <a:alpha val="0"/>
              </a:srgbClr>
            </a:solidFill>
            <a:prstDash val="solid"/>
          </a:ln>
        </p:spPr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6A405A6D-982D-4862-BD47-E67F9D218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2224" y="5367528"/>
            <a:ext cx="8485632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Besprich deinen Termin mit der Lehrkraft. Tempo gibt keine Punkte.</a:t>
            </a:r>
          </a:p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643F212D-DA00-4EB4-800A-FF4FEA515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437376"/>
            <a:ext cx="649224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245688"/>
                </a:solidFill>
              </a:rPr>
              <a:t>Input 5 · Prüfungsfenster</a:t>
            </a:r>
            <a:endParaRPr sz="850"/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3A8EA273-3AF0-425D-BFAD-3BB80FA24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0" y="6419088"/>
            <a:ext cx="29718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48DCCB"/>
                </a:solidFill>
              </a:rPr>
              <a:t>Planung → Durchführung → Reflexion</a:t>
            </a:r>
            <a:endParaRPr sz="950"/>
          </a:p>
        </p:txBody>
      </p:sp>
      <p:sp>
        <p:nvSpPr>
          <p:cNvPr id="23" name="Otterklasse Rahmen">
            <a:extLst xmlns:a="http://schemas.openxmlformats.org/drawingml/2006/main">
              <a:ext uri="{FF2B5EF4-FFF2-40B4-BE49-F238E27FC236}">
                <a16:creationId xmlns:a16="http://schemas.microsoft.com/office/drawing/2014/main" id="{FA34E468-FD6C-42AD-92B5-179E694A6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95250"/>
            <a:ext cx="12001500" cy="666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245688"/>
            </a:solidFill>
            <a:prstDash val="solid"/>
          </a:ln>
        </p:spPr>
      </p:sp>
      <p:sp>
        <p:nvSpPr>
          <p:cNvPr id="24" name="Akzent Orange">
            <a:extLst xmlns:a="http://schemas.openxmlformats.org/drawingml/2006/main">
              <a:ext uri="{FF2B5EF4-FFF2-40B4-BE49-F238E27FC236}">
                <a16:creationId xmlns:a16="http://schemas.microsoft.com/office/drawing/2014/main" id="{24557CF7-F30F-4098-A666-4F6E365E9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95250"/>
            <a:ext cx="571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A66F"/>
          </a:solidFill>
          <a:ln xmlns:a="http://schemas.openxmlformats.org/drawingml/2006/main" w="0">
            <a:solidFill>
              <a:srgbClr val="F0A66F"/>
            </a:solidFill>
            <a:prstDash val="solid"/>
          </a:ln>
        </p:spPr>
      </p:sp>
      <p:sp>
        <p:nvSpPr>
          <p:cNvPr id="25" name="Akzent Mint">
            <a:extLst xmlns:a="http://schemas.openxmlformats.org/drawingml/2006/main">
              <a:ext uri="{FF2B5EF4-FFF2-40B4-BE49-F238E27FC236}">
                <a16:creationId xmlns:a16="http://schemas.microsoft.com/office/drawing/2014/main" id="{36136278-88A5-45FE-B737-02C01EE7D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39600" y="6019800"/>
            <a:ext cx="571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8DCCB"/>
          </a:solidFill>
          <a:ln xmlns:a="http://schemas.openxmlformats.org/drawingml/2006/main" w="0">
            <a:solidFill>
              <a:srgbClr val="48DCCB"/>
            </a:solidFill>
            <a:prstDash val="solid"/>
          </a:ln>
        </p:spPr>
      </p:sp>
      <p:pic>
        <p:nvPicPr>
          <p:cNvPr id="5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2f31f56bef4250"/>
          <a:stretch xmlns:a="http://schemas.openxmlformats.org/drawingml/2006/main"/>
        </p:blipFill>
        <p:spPr>
          <a:xfrm xmlns:a="http://schemas.openxmlformats.org/drawingml/2006/main">
            <a:off x="10629900" y="474690"/>
            <a:ext cx="781050" cy="707969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1720491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Shape 0">
            <a:extLst xmlns:a="http://schemas.openxmlformats.org/drawingml/2006/main">
              <a:ext uri="{FF2B5EF4-FFF2-40B4-BE49-F238E27FC236}">
                <a16:creationId xmlns:a16="http://schemas.microsoft.com/office/drawing/2014/main" id="{F4F87118-236B-4F6C-B3E9-3E0324F06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4" name="Shape 1">
            <a:extLst xmlns:a="http://schemas.openxmlformats.org/drawingml/2006/main">
              <a:ext uri="{FF2B5EF4-FFF2-40B4-BE49-F238E27FC236}">
                <a16:creationId xmlns:a16="http://schemas.microsoft.com/office/drawing/2014/main" id="{559A551C-5C8E-4805-B273-6C68A107F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47472"/>
            <a:ext cx="11173968" cy="6144768"/>
          </a:xfrm>
          <a:prstGeom xmlns:a="http://schemas.openxmlformats.org/drawingml/2006/main" prst="roundRect">
            <a:avLst>
              <a:gd name="adj" fmla="val 279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24568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23A93139-EA70-4C4F-8E4D-D5DD9D555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676656"/>
            <a:ext cx="6995160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900" b="1">
                <a:solidFill>
                  <a:srgbClr val="2C3D4C"/>
                </a:solidFill>
                <a:latin typeface="Aptos Display"/>
                <a:ea typeface="Aptos Display"/>
                <a:cs typeface="Aptos Display"/>
              </a:rPr>
              <a:t>Kontroll-Kiosk nutzen</a:t>
            </a:r>
            <a:endParaRPr sz="2900"/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D5128BCD-5F24-4B09-84E7-D503474B7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170432"/>
            <a:ext cx="7223760" cy="2834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1350" b="0">
                <a:solidFill>
                  <a:srgbClr val="3E5668"/>
                </a:solidFill>
                <a:latin typeface="Aptos"/>
                <a:ea typeface="Aptos"/>
                <a:cs typeface="Aptos"/>
              </a:rPr>
              <a:t>Am Laptop im Raum · nur beim Üben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02AD7132-BD53-4A53-A6AD-F1D394ED1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1554480"/>
            <a:ext cx="256032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100" b="1">
                <a:solidFill>
                  <a:srgbClr val="7DBB6F"/>
                </a:solidFill>
              </a:rPr>
              <a:t>Tipp</a:t>
            </a:r>
            <a:endParaRPr sz="3100"/>
          </a:p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28E23415-267D-41E7-9CA1-94A7B5EC4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2331720"/>
            <a:ext cx="297180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1800" b="0">
                <a:solidFill>
                  <a:srgbClr val="1F2A33"/>
                </a:solidFill>
                <a:latin typeface="Aptos"/>
                <a:ea typeface="Aptos"/>
                <a:cs typeface="Aptos"/>
              </a:rPr>
              <a:t>Du holst dir einen Hinweis und arbeitest selbst weiter.</a:t>
            </a:r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12BD1FC5-1055-4BCC-A518-797B18F93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80" y="1554480"/>
            <a:ext cx="256032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100" b="1">
                <a:solidFill>
                  <a:srgbClr val="D97A4A"/>
                </a:solidFill>
              </a:rPr>
              <a:t>Lösung</a:t>
            </a:r>
            <a:endParaRPr sz="3100"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97E858CA-09E0-4E93-A6E6-67AC3BAAD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9560" y="2331720"/>
            <a:ext cx="297180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1800" b="0">
                <a:solidFill>
                  <a:srgbClr val="1F2A33"/>
                </a:solidFill>
                <a:latin typeface="Aptos"/>
                <a:ea typeface="Aptos"/>
                <a:cs typeface="Aptos"/>
              </a:rPr>
              <a:t>Du vergleichst dein Ergebnis. Ändere nur, was nötig ist.</a:t>
            </a:r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E49F9BC7-77B3-4C83-96CC-F4D33C742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4520" y="3858768"/>
            <a:ext cx="20116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2C3D4C"/>
                </a:solidFill>
              </a:rPr>
              <a:t>1. auswählen</a:t>
            </a:r>
            <a:endParaRPr sz="1700"/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EE32DC06-4D38-4D91-BD0A-60CD4833D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0" y="3858768"/>
            <a:ext cx="26060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2C3D4C"/>
                </a:solidFill>
              </a:rPr>
              <a:t>2. Blattnummer eingeben</a:t>
            </a:r>
            <a:endParaRPr sz="1700"/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C810EDC0-7D73-4232-93BC-D4A1C4EE6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3858768"/>
            <a:ext cx="20116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1700" b="1">
                <a:solidFill>
                  <a:srgbClr val="2C3D4C"/>
                </a:solidFill>
                <a:latin typeface="Aptos"/>
                <a:ea typeface="Aptos"/>
                <a:cs typeface="Aptos"/>
              </a:rPr>
              <a:t>3. lesen und zurück</a:t>
            </a:r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DD3F38A4-F820-402A-B35C-26D7FC65D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5257800"/>
            <a:ext cx="8001000" cy="594360"/>
          </a:xfrm>
          <a:prstGeom xmlns:a="http://schemas.openxmlformats.org/drawingml/2006/main" prst="roundRect">
            <a:avLst>
              <a:gd name="adj" fmla="val 18462"/>
            </a:avLst>
          </a:prstGeom>
          <a:solidFill xmlns:a="http://schemas.openxmlformats.org/drawingml/2006/main">
            <a:srgbClr val="D97A4A">
              <a:alpha val="96000"/>
            </a:srgbClr>
          </a:solidFill>
          <a:ln xmlns:a="http://schemas.openxmlformats.org/drawingml/2006/main" w="12700">
            <a:solidFill>
              <a:srgbClr val="D97A4A">
                <a:alpha val="0"/>
              </a:srgbClr>
            </a:solidFill>
            <a:prstDash val="solid"/>
          </a:ln>
        </p:spPr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05D1254B-231A-409D-B273-A630916F0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9424" y="5367528"/>
            <a:ext cx="7708392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Lies in Ruhe. Kehre danach zu deiner Papieraufgabe zurück.</a:t>
            </a:r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8F8AEC0F-883C-4311-9A0C-2DF8EC4DA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437376"/>
            <a:ext cx="649224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245688"/>
                </a:solidFill>
              </a:rPr>
              <a:t>Kontroll-Kiosk</a:t>
            </a:r>
            <a:endParaRPr sz="850"/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9FF17476-2C27-4A50-914E-B4AE4B0CC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0" y="6419088"/>
            <a:ext cx="29718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48DCCB"/>
                </a:solidFill>
              </a:rPr>
              <a:t>Planung → Durchführung → Reflexion</a:t>
            </a:r>
            <a:endParaRPr sz="950"/>
          </a:p>
        </p:txBody>
      </p:sp>
      <p:sp>
        <p:nvSpPr>
          <p:cNvPr id="18" name="Otterklasse Rahmen">
            <a:extLst xmlns:a="http://schemas.openxmlformats.org/drawingml/2006/main">
              <a:ext uri="{FF2B5EF4-FFF2-40B4-BE49-F238E27FC236}">
                <a16:creationId xmlns:a16="http://schemas.microsoft.com/office/drawing/2014/main" id="{902DD027-D9D0-4F2C-A3FF-8E1EBA7A9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95250"/>
            <a:ext cx="12001500" cy="666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245688"/>
            </a:solidFill>
            <a:prstDash val="solid"/>
          </a:ln>
        </p:spPr>
      </p:sp>
      <p:sp>
        <p:nvSpPr>
          <p:cNvPr id="19" name="Akzent Orange">
            <a:extLst xmlns:a="http://schemas.openxmlformats.org/drawingml/2006/main">
              <a:ext uri="{FF2B5EF4-FFF2-40B4-BE49-F238E27FC236}">
                <a16:creationId xmlns:a16="http://schemas.microsoft.com/office/drawing/2014/main" id="{2917B3DD-3287-4060-94AE-E94F41E1F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95250"/>
            <a:ext cx="571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A66F"/>
          </a:solidFill>
          <a:ln xmlns:a="http://schemas.openxmlformats.org/drawingml/2006/main" w="0">
            <a:solidFill>
              <a:srgbClr val="F0A66F"/>
            </a:solidFill>
            <a:prstDash val="solid"/>
          </a:ln>
        </p:spPr>
      </p:sp>
      <p:sp>
        <p:nvSpPr>
          <p:cNvPr id="20" name="Akzent Mint">
            <a:extLst xmlns:a="http://schemas.openxmlformats.org/drawingml/2006/main">
              <a:ext uri="{FF2B5EF4-FFF2-40B4-BE49-F238E27FC236}">
                <a16:creationId xmlns:a16="http://schemas.microsoft.com/office/drawing/2014/main" id="{8FB2F286-7742-4E4C-AB23-2F4C905F3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39600" y="6019800"/>
            <a:ext cx="571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8DCCB"/>
          </a:solidFill>
          <a:ln xmlns:a="http://schemas.openxmlformats.org/drawingml/2006/main" w="0">
            <a:solidFill>
              <a:srgbClr val="48DCCB"/>
            </a:solidFill>
            <a:prstDash val="solid"/>
          </a:ln>
        </p:spPr>
      </p:sp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3030a2853774e77"/>
          <a:stretch xmlns:a="http://schemas.openxmlformats.org/drawingml/2006/main"/>
        </p:blipFill>
        <p:spPr>
          <a:xfrm xmlns:a="http://schemas.openxmlformats.org/drawingml/2006/main">
            <a:off x="10629900" y="575592"/>
            <a:ext cx="781050" cy="506166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5444284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Shape 0">
            <a:extLst xmlns:a="http://schemas.openxmlformats.org/drawingml/2006/main">
              <a:ext uri="{FF2B5EF4-FFF2-40B4-BE49-F238E27FC236}">
                <a16:creationId xmlns:a16="http://schemas.microsoft.com/office/drawing/2014/main" id="{008C0A3D-0059-4312-9383-4AF41B970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4" name="Shape 1">
            <a:extLst xmlns:a="http://schemas.openxmlformats.org/drawingml/2006/main">
              <a:ext uri="{FF2B5EF4-FFF2-40B4-BE49-F238E27FC236}">
                <a16:creationId xmlns:a16="http://schemas.microsoft.com/office/drawing/2014/main" id="{B0FDE577-4D28-4FF1-9411-0D4B0073A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777240"/>
            <a:ext cx="6035040" cy="5212080"/>
          </a:xfrm>
          <a:prstGeom xmlns:a="http://schemas.openxmlformats.org/drawingml/2006/main" prst="roundRect">
            <a:avLst>
              <a:gd name="adj" fmla="val 3289"/>
            </a:avLst>
          </a:prstGeom>
          <a:solidFill xmlns:a="http://schemas.openxmlformats.org/drawingml/2006/main">
            <a:srgbClr val="DCECF8"/>
          </a:solidFill>
          <a:ln xmlns:a="http://schemas.openxmlformats.org/drawingml/2006/main" w="13335">
            <a:solidFill>
              <a:srgbClr val="24568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4CB23137-BD13-4ABA-9BB8-E96EC7741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1051560"/>
            <a:ext cx="50292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00" b="1">
                <a:solidFill>
                  <a:srgbClr val="D97A4A"/>
                </a:solidFill>
              </a:rPr>
              <a:t>Abschluss der Impulse</a:t>
            </a:r>
            <a:endParaRPr sz="2000"/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F0AC5A29-1EB0-41DF-A22C-831D076C1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1828800"/>
            <a:ext cx="525780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800" b="1">
                <a:solidFill>
                  <a:srgbClr val="2C3D4C"/>
                </a:solidFill>
                <a:latin typeface="Aptos Display"/>
                <a:ea typeface="Aptos Display"/>
                <a:cs typeface="Aptos Display"/>
              </a:rPr>
              <a:t>Du lernst nicht nur Briefe zu schreiben.</a:t>
            </a:r>
            <a:endParaRPr sz="2800"/>
          </a:p>
          <a:p xmlns:a="http://schemas.openxmlformats.org/drawingml/2006/main">
            <a:pPr marL="0" indent="0">
              <a:buNone/>
            </a:pPr>
            <a:r>
              <a:rPr sz="2800" b="1">
                <a:solidFill>
                  <a:srgbClr val="2C3D4C"/>
                </a:solidFill>
                <a:latin typeface="Aptos Display"/>
                <a:ea typeface="Aptos Display"/>
                <a:cs typeface="Aptos Display"/>
              </a:rPr>
              <a:t>Du lernst auch, dein Lernen zu steuern.</a:t>
            </a:r>
            <a:endParaRPr sz="2800"/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DB5B3B81-A92A-4A2B-8695-E6ACD75C9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005072"/>
            <a:ext cx="5029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100" b="1">
                <a:solidFill>
                  <a:srgbClr val="7DBB6F"/>
                </a:solidFill>
              </a:rPr>
              <a:t>Planung → Durchführung → Reflexion</a:t>
            </a:r>
            <a:endParaRPr sz="2100"/>
          </a:p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DA179872-503B-4740-BCE9-CA3E76488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800600"/>
            <a:ext cx="43434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>
              <a:spcBef>
                <a:spcPts val="0"/>
              </a:spcBef>
              <a:spcAft>
                <a:spcPts val="0"/>
              </a:spcAft>
              <a:buNone/>
            </a:pPr>
            <a:r>
              <a:rPr sz="1700" b="0">
                <a:solidFill>
                  <a:srgbClr val="1F2A33"/>
                </a:solidFill>
                <a:latin typeface="Aptos"/>
                <a:ea typeface="Aptos"/>
                <a:cs typeface="Aptos"/>
              </a:rPr>
              <a:t>Wähle deinen nächsten Schritt im Papierlernweg.</a:t>
            </a:r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B5C693E4-3F60-42DB-91A8-287D70770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437376"/>
            <a:ext cx="649224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245688"/>
                </a:solidFill>
              </a:rPr>
              <a:t>Abschluss</a:t>
            </a:r>
            <a:endParaRPr sz="850"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C13AEEBC-ED6A-4C82-BEE9-A872105CB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0" y="6419088"/>
            <a:ext cx="29718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48DCCB"/>
                </a:solidFill>
              </a:rPr>
              <a:t>Planung → Durchführung → Reflexion</a:t>
            </a:r>
            <a:endParaRPr sz="950"/>
          </a:p>
        </p:txBody>
      </p:sp>
      <p:sp>
        <p:nvSpPr>
          <p:cNvPr id="11" name="Otterklasse Rahmen">
            <a:extLst xmlns:a="http://schemas.openxmlformats.org/drawingml/2006/main">
              <a:ext uri="{FF2B5EF4-FFF2-40B4-BE49-F238E27FC236}">
                <a16:creationId xmlns:a16="http://schemas.microsoft.com/office/drawing/2014/main" id="{BE2840A8-25F2-4F4B-874F-B9FAE25DD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95250"/>
            <a:ext cx="12001500" cy="666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245688"/>
            </a:solidFill>
            <a:prstDash val="solid"/>
          </a:ln>
        </p:spPr>
      </p:sp>
      <p:sp>
        <p:nvSpPr>
          <p:cNvPr id="12" name="Akzent Orange">
            <a:extLst xmlns:a="http://schemas.openxmlformats.org/drawingml/2006/main">
              <a:ext uri="{FF2B5EF4-FFF2-40B4-BE49-F238E27FC236}">
                <a16:creationId xmlns:a16="http://schemas.microsoft.com/office/drawing/2014/main" id="{083D2503-3D2B-4B82-A6E5-68899673D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95250"/>
            <a:ext cx="571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A66F"/>
          </a:solidFill>
          <a:ln xmlns:a="http://schemas.openxmlformats.org/drawingml/2006/main" w="0">
            <a:solidFill>
              <a:srgbClr val="F0A66F"/>
            </a:solidFill>
            <a:prstDash val="solid"/>
          </a:ln>
        </p:spPr>
      </p:sp>
      <p:sp>
        <p:nvSpPr>
          <p:cNvPr id="13" name="Akzent Mint">
            <a:extLst xmlns:a="http://schemas.openxmlformats.org/drawingml/2006/main">
              <a:ext uri="{FF2B5EF4-FFF2-40B4-BE49-F238E27FC236}">
                <a16:creationId xmlns:a16="http://schemas.microsoft.com/office/drawing/2014/main" id="{81D85547-4CC8-4C51-A44F-F9A986856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39600" y="6019800"/>
            <a:ext cx="571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8DCCB"/>
          </a:solidFill>
          <a:ln xmlns:a="http://schemas.openxmlformats.org/drawingml/2006/main" w="0">
            <a:solidFill>
              <a:srgbClr val="48DCCB"/>
            </a:solidFill>
            <a:prstDash val="solid"/>
          </a:ln>
        </p:spPr>
      </p:sp>
      <p:sp>
        <p:nvSpPr>
          <p:cNvPr id="14" name="Otter Bildfeld">
            <a:extLst xmlns:a="http://schemas.openxmlformats.org/drawingml/2006/main">
              <a:ext uri="{FF2B5EF4-FFF2-40B4-BE49-F238E27FC236}">
                <a16:creationId xmlns:a16="http://schemas.microsoft.com/office/drawing/2014/main" id="{ADC1715B-CDC2-4DC3-838A-76AF5CEF0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685800"/>
            <a:ext cx="4095750" cy="4953000"/>
          </a:xfrm>
          <a:prstGeom xmlns:a="http://schemas.openxmlformats.org/drawingml/2006/main" prst="roundRect">
            <a:avLst>
              <a:gd name="adj" fmla="val 5581"/>
            </a:avLst>
          </a:prstGeom>
          <a:solidFill xmlns:a="http://schemas.openxmlformats.org/drawingml/2006/main">
            <a:srgbClr val="E0F7F1"/>
          </a:solidFill>
          <a:ln xmlns:a="http://schemas.openxmlformats.org/drawingml/2006/main" w="9525">
            <a:solidFill>
              <a:srgbClr val="245688"/>
            </a:solidFill>
            <a:prstDash val="solid"/>
          </a:ln>
        </p:spPr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ee379e7b5f427a"/>
          <a:stretch xmlns:a="http://schemas.openxmlformats.org/drawingml/2006/main"/>
        </p:blipFill>
        <p:spPr>
          <a:xfrm xmlns:a="http://schemas.openxmlformats.org/drawingml/2006/main">
            <a:off x="7667625" y="1679884"/>
            <a:ext cx="3238500" cy="2736233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6403611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  <a:effectStyle>
          <a:effectLst>
            <a:outerShdw blurRad="133350" dist="51294" dir="4091915">
              <a:srgbClr val="203444">
                <a:alpha val="10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2026-09-12T20:51:07.4670000Z</dcterms:created>
  <dcterms:modified xsi:type="dcterms:W3CDTF">2026-09-12T20:51:07.4670000Z</dcterms:modified>
</coreProperties>
</file>