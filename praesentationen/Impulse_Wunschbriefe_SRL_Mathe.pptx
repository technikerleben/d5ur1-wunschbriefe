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f2cb4ca7da49a7" /><Relationship Type="http://schemas.openxmlformats.org/officeDocument/2006/relationships/extended-properties" Target="/docProps/app.xml" Id="Rb4ca3df333be4a78" /><Relationship Type="http://schemas.openxmlformats.org/officeDocument/2006/relationships/officeDocument" Target="/ppt/presentation.xml" Id="Ra68c1546b25643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73685a46b54042"/>
  </p:sldMasterIdLst>
  <p:notesMasterIdLst>
    <p:notesMasterId xmlns:r="http://schemas.openxmlformats.org/officeDocument/2006/relationships" r:id="R88f1e9990e8b4fa2"/>
  </p:notesMasterIdLst>
  <p:sldIdLst>
    <p:sldId xmlns:r="http://schemas.openxmlformats.org/officeDocument/2006/relationships" id="256" r:id="Re5705213f26c48ce"/>
    <p:sldId xmlns:r="http://schemas.openxmlformats.org/officeDocument/2006/relationships" id="257" r:id="R8d36956e33a04a95"/>
    <p:sldId xmlns:r="http://schemas.openxmlformats.org/officeDocument/2006/relationships" id="258" r:id="R47b75fa9f53048b8"/>
    <p:sldId xmlns:r="http://schemas.openxmlformats.org/officeDocument/2006/relationships" id="259" r:id="Ra309f9a0784540c6"/>
    <p:sldId xmlns:r="http://schemas.openxmlformats.org/officeDocument/2006/relationships" id="260" r:id="Rce80b585368f4dac"/>
    <p:sldId xmlns:r="http://schemas.openxmlformats.org/officeDocument/2006/relationships" id="261" r:id="Rcb6b7759fee8404c"/>
    <p:sldId xmlns:r="http://schemas.openxmlformats.org/officeDocument/2006/relationships" id="262" r:id="Rdfd94d5cf665484e"/>
    <p:sldId xmlns:r="http://schemas.openxmlformats.org/officeDocument/2006/relationships" id="263" r:id="R64d0489072a2428b"/>
    <p:sldId xmlns:r="http://schemas.openxmlformats.org/officeDocument/2006/relationships" id="264" r:id="R48c2a1e3ebce4e52"/>
    <p:sldId xmlns:r="http://schemas.openxmlformats.org/officeDocument/2006/relationships" id="265" r:id="R5820d8601bd14312"/>
    <p:sldId xmlns:r="http://schemas.openxmlformats.org/officeDocument/2006/relationships" id="266" r:id="R4ade093de5584bde"/>
    <p:sldId xmlns:r="http://schemas.openxmlformats.org/officeDocument/2006/relationships" id="267" r:id="Rc9339fa1a45846fb"/>
    <p:sldId xmlns:r="http://schemas.openxmlformats.org/officeDocument/2006/relationships" id="268" r:id="R0902e2f8e85f414c"/>
    <p:sldId xmlns:r="http://schemas.openxmlformats.org/officeDocument/2006/relationships" id="269" r:id="Ra92597a01c7a4f28"/>
    <p:sldId xmlns:r="http://schemas.openxmlformats.org/officeDocument/2006/relationships" id="270" r:id="Rc50f7e4b2a7e4ae4"/>
    <p:sldId xmlns:r="http://schemas.openxmlformats.org/officeDocument/2006/relationships" id="271" r:id="R05889d85f05b4990"/>
    <p:sldId xmlns:r="http://schemas.openxmlformats.org/officeDocument/2006/relationships" id="272" r:id="R58e68b4154a44383"/>
    <p:sldId xmlns:r="http://schemas.openxmlformats.org/officeDocument/2006/relationships" id="273" r:id="R06ae3b6fbc0f4879"/>
    <p:sldId xmlns:r="http://schemas.openxmlformats.org/officeDocument/2006/relationships" id="274" r:id="R6205ede60e2848fa"/>
    <p:sldId xmlns:r="http://schemas.openxmlformats.org/officeDocument/2006/relationships" id="275" r:id="R2c0f61a09f604484"/>
    <p:sldId xmlns:r="http://schemas.openxmlformats.org/officeDocument/2006/relationships" id="276" r:id="R6ddc35b6c69b4c07"/>
    <p:sldId xmlns:r="http://schemas.openxmlformats.org/officeDocument/2006/relationships" id="277" r:id="Ree9cedfaec504840"/>
    <p:sldId xmlns:r="http://schemas.openxmlformats.org/officeDocument/2006/relationships" id="278" r:id="R6ff4d37dfb9743b7"/>
    <p:sldId xmlns:r="http://schemas.openxmlformats.org/officeDocument/2006/relationships" id="279" r:id="Rc677cf6346a146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9f28ba9f5b445d" /><Relationship Type="http://schemas.openxmlformats.org/officeDocument/2006/relationships/slideMaster" Target="/ppt/slideMasters/slideMaster1.xml" Id="R0a73685a46b54042" /><Relationship Type="http://schemas.openxmlformats.org/officeDocument/2006/relationships/notesMaster" Target="/ppt/notesMasters/notesMaster1.xml" Id="R88f1e9990e8b4fa2" /><Relationship Type="http://schemas.openxmlformats.org/officeDocument/2006/relationships/presProps" Target="/ppt/presProps.xml" Id="R8d037e3ab5da4fb5" /><Relationship Type="http://schemas.openxmlformats.org/officeDocument/2006/relationships/viewProps" Target="/ppt/viewProps.xml" Id="Rb0fb25ec909a4a95" /><Relationship Type="http://schemas.openxmlformats.org/officeDocument/2006/relationships/tableStyles" Target="/ppt/tableStyles.xml" Id="Rd4709890505e4781" /><Relationship Type="http://schemas.openxmlformats.org/officeDocument/2006/relationships/slide" Target="/ppt/slides/slide1.xml" Id="Re5705213f26c48ce" /><Relationship Type="http://schemas.openxmlformats.org/officeDocument/2006/relationships/slide" Target="/ppt/slides/slide2.xml" Id="R8d36956e33a04a95" /><Relationship Type="http://schemas.openxmlformats.org/officeDocument/2006/relationships/slide" Target="/ppt/slides/slide3.xml" Id="R47b75fa9f53048b8" /><Relationship Type="http://schemas.openxmlformats.org/officeDocument/2006/relationships/slide" Target="/ppt/slides/slide4.xml" Id="Ra309f9a0784540c6" /><Relationship Type="http://schemas.openxmlformats.org/officeDocument/2006/relationships/slide" Target="/ppt/slides/slide5.xml" Id="Rce80b585368f4dac" /><Relationship Type="http://schemas.openxmlformats.org/officeDocument/2006/relationships/slide" Target="/ppt/slides/slide6.xml" Id="Rcb6b7759fee8404c" /><Relationship Type="http://schemas.openxmlformats.org/officeDocument/2006/relationships/slide" Target="/ppt/slides/slide7.xml" Id="Rdfd94d5cf665484e" /><Relationship Type="http://schemas.openxmlformats.org/officeDocument/2006/relationships/slide" Target="/ppt/slides/slide8.xml" Id="R64d0489072a2428b" /><Relationship Type="http://schemas.openxmlformats.org/officeDocument/2006/relationships/slide" Target="/ppt/slides/slide9.xml" Id="R48c2a1e3ebce4e52" /><Relationship Type="http://schemas.openxmlformats.org/officeDocument/2006/relationships/slide" Target="/ppt/slides/slide10.xml" Id="R5820d8601bd14312" /><Relationship Type="http://schemas.openxmlformats.org/officeDocument/2006/relationships/slide" Target="/ppt/slides/slide11.xml" Id="R4ade093de5584bde" /><Relationship Type="http://schemas.openxmlformats.org/officeDocument/2006/relationships/slide" Target="/ppt/slides/slide12.xml" Id="Rc9339fa1a45846fb" /><Relationship Type="http://schemas.openxmlformats.org/officeDocument/2006/relationships/slide" Target="/ppt/slides/slide13.xml" Id="R0902e2f8e85f414c" /><Relationship Type="http://schemas.openxmlformats.org/officeDocument/2006/relationships/slide" Target="/ppt/slides/slide14.xml" Id="Ra92597a01c7a4f28" /><Relationship Type="http://schemas.openxmlformats.org/officeDocument/2006/relationships/slide" Target="/ppt/slides/slide15.xml" Id="Rc50f7e4b2a7e4ae4" /><Relationship Type="http://schemas.openxmlformats.org/officeDocument/2006/relationships/slide" Target="/ppt/slides/slide16.xml" Id="R05889d85f05b4990" /><Relationship Type="http://schemas.openxmlformats.org/officeDocument/2006/relationships/slide" Target="/ppt/slides/slide17.xml" Id="R58e68b4154a44383" /><Relationship Type="http://schemas.openxmlformats.org/officeDocument/2006/relationships/slide" Target="/ppt/slides/slide18.xml" Id="R06ae3b6fbc0f4879" /><Relationship Type="http://schemas.openxmlformats.org/officeDocument/2006/relationships/slide" Target="/ppt/slides/slide19.xml" Id="R6205ede60e2848fa" /><Relationship Type="http://schemas.openxmlformats.org/officeDocument/2006/relationships/slide" Target="/ppt/slides/slide20.xml" Id="R2c0f61a09f604484" /><Relationship Type="http://schemas.openxmlformats.org/officeDocument/2006/relationships/slide" Target="/ppt/slides/slide21.xml" Id="R6ddc35b6c69b4c07" /><Relationship Type="http://schemas.openxmlformats.org/officeDocument/2006/relationships/slide" Target="/ppt/slides/slide22.xml" Id="Ree9cedfaec504840" /><Relationship Type="http://schemas.openxmlformats.org/officeDocument/2006/relationships/slide" Target="/ppt/slides/slide23.xml" Id="R6ff4d37dfb9743b7" /><Relationship Type="http://schemas.openxmlformats.org/officeDocument/2006/relationships/slide" Target="/ppt/slides/slide24.xml" Id="Rc677cf6346a146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b7698cd3d544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d63ce32d9044a7" /><Relationship Type="http://schemas.openxmlformats.org/officeDocument/2006/relationships/notesMaster" Target="/ppt/notesMasters/notesMaster1.xml" Id="Rd5fa57648a0249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dc5ad92934f4de3" /><Relationship Type="http://schemas.openxmlformats.org/officeDocument/2006/relationships/notesMaster" Target="/ppt/notesMasters/notesMaster1.xml" Id="R6b74c8fb8794411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e124bc83624b39" /><Relationship Type="http://schemas.openxmlformats.org/officeDocument/2006/relationships/notesMaster" Target="/ppt/notesMasters/notesMaster1.xml" Id="Re730d55fc0994c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ae8d17b3d84bb1" /><Relationship Type="http://schemas.openxmlformats.org/officeDocument/2006/relationships/notesMaster" Target="/ppt/notesMasters/notesMaster1.xml" Id="Rb6da9b31b8c347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c98494cb794e3f" /><Relationship Type="http://schemas.openxmlformats.org/officeDocument/2006/relationships/notesMaster" Target="/ppt/notesMasters/notesMaster1.xml" Id="R715db69af1d3467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4a520603e814afa" /><Relationship Type="http://schemas.openxmlformats.org/officeDocument/2006/relationships/notesMaster" Target="/ppt/notesMasters/notesMaster1.xml" Id="R4e34309b2bb44c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7608c861114ef5" /><Relationship Type="http://schemas.openxmlformats.org/officeDocument/2006/relationships/notesMaster" Target="/ppt/notesMasters/notesMaster1.xml" Id="R80c56525fb3c4d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9a45096bd14084" /><Relationship Type="http://schemas.openxmlformats.org/officeDocument/2006/relationships/notesMaster" Target="/ppt/notesMasters/notesMaster1.xml" Id="R9d47b64d78a747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03f23ab1ba4cdc" /><Relationship Type="http://schemas.openxmlformats.org/officeDocument/2006/relationships/notesMaster" Target="/ppt/notesMasters/notesMaster1.xml" Id="R34700e3e27c94e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5d8abe852346af" /><Relationship Type="http://schemas.openxmlformats.org/officeDocument/2006/relationships/notesMaster" Target="/ppt/notesMasters/notesMaster1.xml" Id="R8b9cdc29ee0a40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557a61c6274099" /><Relationship Type="http://schemas.openxmlformats.org/officeDocument/2006/relationships/notesMaster" Target="/ppt/notesMasters/notesMaster1.xml" Id="Rfc627587e04d447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ec225f11642473b" /><Relationship Type="http://schemas.openxmlformats.org/officeDocument/2006/relationships/notesMaster" Target="/ppt/notesMasters/notesMaster1.xml" Id="Ra440809ef20c4b6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06087b0d7084a11" /><Relationship Type="http://schemas.openxmlformats.org/officeDocument/2006/relationships/notesMaster" Target="/ppt/notesMasters/notesMaster1.xml" Id="R2457e0c4e10947b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dddc97dc5ce4680" /><Relationship Type="http://schemas.openxmlformats.org/officeDocument/2006/relationships/notesMaster" Target="/ppt/notesMasters/notesMaster1.xml" Id="Re2e0f9fa74bd46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ffff6ee48374da7" /><Relationship Type="http://schemas.openxmlformats.org/officeDocument/2006/relationships/notesMaster" Target="/ppt/notesMasters/notesMaster1.xml" Id="Rf7c6be519be74d6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7f0af0ac30e4d65" /><Relationship Type="http://schemas.openxmlformats.org/officeDocument/2006/relationships/notesMaster" Target="/ppt/notesMasters/notesMaster1.xml" Id="R89c57a42c3df413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e6d053b73b42ea" /><Relationship Type="http://schemas.openxmlformats.org/officeDocument/2006/relationships/notesMaster" Target="/ppt/notesMasters/notesMaster1.xml" Id="R80f764efe3c946c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377bf1f0912432d" /><Relationship Type="http://schemas.openxmlformats.org/officeDocument/2006/relationships/notesMaster" Target="/ppt/notesMasters/notesMaster1.xml" Id="Rd022e81d954d492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2ede24ca48f4d50" /><Relationship Type="http://schemas.openxmlformats.org/officeDocument/2006/relationships/notesMaster" Target="/ppt/notesMasters/notesMaster1.xml" Id="Re60ad0d73e0349a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5d9b0aed72f4f5f" /><Relationship Type="http://schemas.openxmlformats.org/officeDocument/2006/relationships/notesMaster" Target="/ppt/notesMasters/notesMaster1.xml" Id="R8b96ac1062e8438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ff460acc12c40c1" /><Relationship Type="http://schemas.openxmlformats.org/officeDocument/2006/relationships/notesMaster" Target="/ppt/notesMasters/notesMaster1.xml" Id="Rb93eb9d3f718423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721e4b7199345dd" /><Relationship Type="http://schemas.openxmlformats.org/officeDocument/2006/relationships/notesMaster" Target="/ppt/notesMasters/notesMaster1.xml" Id="R2230ebce1e484a8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d9707da36724128" /><Relationship Type="http://schemas.openxmlformats.org/officeDocument/2006/relationships/notesMaster" Target="/ppt/notesMasters/notesMaster1.xml" Id="R6960025542954bd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e96db3a40814c44" /><Relationship Type="http://schemas.openxmlformats.org/officeDocument/2006/relationships/notesMaster" Target="/ppt/notesMasters/notesMaster1.xml" Id="Re7a0196dada14a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5828410c5c469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6632f52d6a45e5" /><Relationship Type="http://schemas.openxmlformats.org/officeDocument/2006/relationships/slideLayout" Target="/ppt/slideLayouts/slideLayout1.xml" Id="R14529087c49545d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529087c49545d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7c13eefa54908" /><Relationship Type="http://schemas.openxmlformats.org/officeDocument/2006/relationships/image" Target="/ppt/media/image.png" Id="Rd345e739b5834af3" /><Relationship Type="http://schemas.openxmlformats.org/officeDocument/2006/relationships/notesSlide" Target="/ppt/notesSlides/notesSlide1.xml" Id="R12bc2abfabd54f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1d7fe610d14be9" /><Relationship Type="http://schemas.openxmlformats.org/officeDocument/2006/relationships/image" Target="/ppt/media/image2.png" Id="Ra55f27f5c35448e9" /><Relationship Type="http://schemas.openxmlformats.org/officeDocument/2006/relationships/notesSlide" Target="/ppt/notesSlides/notesSlide2.xml" Id="R58911feedd984d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26bd1478449b5" /><Relationship Type="http://schemas.openxmlformats.org/officeDocument/2006/relationships/image" Target="/ppt/media/image3.png" Id="R2375c2da0ad84c79" /><Relationship Type="http://schemas.openxmlformats.org/officeDocument/2006/relationships/notesSlide" Target="/ppt/notesSlides/notesSlide3.xml" Id="Rfb41081e46e047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20e83d6864a8d" /><Relationship Type="http://schemas.openxmlformats.org/officeDocument/2006/relationships/image" Target="/ppt/media/image4.png" Id="R83c131dc1e2045c8" /><Relationship Type="http://schemas.openxmlformats.org/officeDocument/2006/relationships/notesSlide" Target="/ppt/notesSlides/notesSlide4.xml" Id="R9534d0e463124b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e48f2e73224988" /><Relationship Type="http://schemas.openxmlformats.org/officeDocument/2006/relationships/image" Target="/ppt/media/image5.png" Id="Rb2c24a22bca7426a" /><Relationship Type="http://schemas.openxmlformats.org/officeDocument/2006/relationships/notesSlide" Target="/ppt/notesSlides/notesSlide5.xml" Id="R78010a34286d47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0071707c14c7a" /><Relationship Type="http://schemas.openxmlformats.org/officeDocument/2006/relationships/image" Target="/ppt/media/image6.png" Id="Rff98a9ccb0f54ab5" /><Relationship Type="http://schemas.openxmlformats.org/officeDocument/2006/relationships/chart" Target="/ppt/slides/charts/chart1.xml" Id="R94b4142d2a1c4d91" /><Relationship Type="http://schemas.openxmlformats.org/officeDocument/2006/relationships/notesSlide" Target="/ppt/notesSlides/notesSlide6.xml" Id="Raa0e0f0da20b44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7ff76af3104390" /><Relationship Type="http://schemas.openxmlformats.org/officeDocument/2006/relationships/image" Target="/ppt/media/image7.png" Id="R7695cc2857cd4415" /><Relationship Type="http://schemas.openxmlformats.org/officeDocument/2006/relationships/notesSlide" Target="/ppt/notesSlides/notesSlide7.xml" Id="Ra80e83caafcb4a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fb96aa088247cd" /><Relationship Type="http://schemas.openxmlformats.org/officeDocument/2006/relationships/image" Target="/ppt/media/image8.png" Id="Rf26eaaabee314b62" /><Relationship Type="http://schemas.openxmlformats.org/officeDocument/2006/relationships/notesSlide" Target="/ppt/notesSlides/notesSlide8.xml" Id="R81b973147ca2459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252e9c0754664" /><Relationship Type="http://schemas.openxmlformats.org/officeDocument/2006/relationships/image" Target="/ppt/media/image9.png" Id="Rae4b58815f6d4bf7" /><Relationship Type="http://schemas.openxmlformats.org/officeDocument/2006/relationships/notesSlide" Target="/ppt/notesSlides/notesSlide9.xml" Id="R9533580aef944c3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a5fb7304d4756" /><Relationship Type="http://schemas.openxmlformats.org/officeDocument/2006/relationships/image" Target="/ppt/media/image10.png" Id="Raae1f2d7d0fb4377" /><Relationship Type="http://schemas.openxmlformats.org/officeDocument/2006/relationships/notesSlide" Target="/ppt/notesSlides/notesSlide10.xml" Id="Rb7f5d76d5dc344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071911e39841c0" /><Relationship Type="http://schemas.openxmlformats.org/officeDocument/2006/relationships/image" Target="/ppt/media/image11.png" Id="R0374296a4e3a42c8" /><Relationship Type="http://schemas.openxmlformats.org/officeDocument/2006/relationships/notesSlide" Target="/ppt/notesSlides/notesSlide11.xml" Id="R395154be84b0400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cf317713e84629" /><Relationship Type="http://schemas.openxmlformats.org/officeDocument/2006/relationships/image" Target="/ppt/media/image12.png" Id="R4cbb9c45f9154edc" /><Relationship Type="http://schemas.openxmlformats.org/officeDocument/2006/relationships/notesSlide" Target="/ppt/notesSlides/notesSlide12.xml" Id="Re00da9deea124bd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c11297bfa486c" /><Relationship Type="http://schemas.openxmlformats.org/officeDocument/2006/relationships/image" Target="/ppt/media/image13.png" Id="R26cc36a3f9414351" /><Relationship Type="http://schemas.openxmlformats.org/officeDocument/2006/relationships/chart" Target="/ppt/slides/charts/chart2.xml" Id="Rc746533bfb8644fe" /><Relationship Type="http://schemas.openxmlformats.org/officeDocument/2006/relationships/notesSlide" Target="/ppt/notesSlides/notesSlide13.xml" Id="R73bffc09db76440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ec5b6244e247db" /><Relationship Type="http://schemas.openxmlformats.org/officeDocument/2006/relationships/image" Target="/ppt/media/image14.png" Id="Re101569792ae4758" /><Relationship Type="http://schemas.openxmlformats.org/officeDocument/2006/relationships/notesSlide" Target="/ppt/notesSlides/notesSlide14.xml" Id="Re94b8f554dfa460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fa978f50b450d" /><Relationship Type="http://schemas.openxmlformats.org/officeDocument/2006/relationships/image" Target="/ppt/media/image15.png" Id="Rd5ec2145649f4557" /><Relationship Type="http://schemas.openxmlformats.org/officeDocument/2006/relationships/notesSlide" Target="/ppt/notesSlides/notesSlide15.xml" Id="Red957ceae207498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1974e3bb9469e" /><Relationship Type="http://schemas.openxmlformats.org/officeDocument/2006/relationships/image" Target="/ppt/media/image16.png" Id="Rf3aa6414742d473c" /><Relationship Type="http://schemas.openxmlformats.org/officeDocument/2006/relationships/notesSlide" Target="/ppt/notesSlides/notesSlide16.xml" Id="R38466fcf10d94e2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ff0ce35dd49b3" /><Relationship Type="http://schemas.openxmlformats.org/officeDocument/2006/relationships/image" Target="/ppt/media/image17.png" Id="R50d2287f8fe4435c" /><Relationship Type="http://schemas.openxmlformats.org/officeDocument/2006/relationships/notesSlide" Target="/ppt/notesSlides/notesSlide17.xml" Id="R47a99f2e4a76477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fb9230bd6468d" /><Relationship Type="http://schemas.openxmlformats.org/officeDocument/2006/relationships/image" Target="/ppt/media/image18.png" Id="R36620ddced744a2a" /><Relationship Type="http://schemas.openxmlformats.org/officeDocument/2006/relationships/notesSlide" Target="/ppt/notesSlides/notesSlide18.xml" Id="R809eed79ffe7439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b26c67d45c43e1" /><Relationship Type="http://schemas.openxmlformats.org/officeDocument/2006/relationships/image" Target="/ppt/media/image19.png" Id="Ra62dc448ea5844e2" /><Relationship Type="http://schemas.openxmlformats.org/officeDocument/2006/relationships/notesSlide" Target="/ppt/notesSlides/notesSlide19.xml" Id="R563337464548418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48d89f9cf4e82" /><Relationship Type="http://schemas.openxmlformats.org/officeDocument/2006/relationships/image" Target="/ppt/media/image20.png" Id="Re4bdc34a3d1e4605" /><Relationship Type="http://schemas.openxmlformats.org/officeDocument/2006/relationships/notesSlide" Target="/ppt/notesSlides/notesSlide20.xml" Id="R3d059d64cb75426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65c8253a042b7" /><Relationship Type="http://schemas.openxmlformats.org/officeDocument/2006/relationships/image" Target="/ppt/media/image21.png" Id="R9591728dec914ad3" /><Relationship Type="http://schemas.openxmlformats.org/officeDocument/2006/relationships/notesSlide" Target="/ppt/notesSlides/notesSlide21.xml" Id="R454cd0b290d3445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8959ff9a124420" /><Relationship Type="http://schemas.openxmlformats.org/officeDocument/2006/relationships/image" Target="/ppt/media/image22.png" Id="R58312737793e485f" /><Relationship Type="http://schemas.openxmlformats.org/officeDocument/2006/relationships/notesSlide" Target="/ppt/notesSlides/notesSlide22.xml" Id="R93f3f2eaf1c748b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ca7c0e3b7f4827" /><Relationship Type="http://schemas.openxmlformats.org/officeDocument/2006/relationships/image" Target="/ppt/media/image23.png" Id="R8ef729a693c94750" /><Relationship Type="http://schemas.openxmlformats.org/officeDocument/2006/relationships/notesSlide" Target="/ppt/notesSlides/notesSlide23.xml" Id="Re7784462358c4f5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0ce371262e4df4" /><Relationship Type="http://schemas.openxmlformats.org/officeDocument/2006/relationships/image" Target="/ppt/media/image24.png" Id="Rd540a1a096624d9f" /><Relationship Type="http://schemas.openxmlformats.org/officeDocument/2006/relationships/notesSlide" Target="/ppt/notesSlides/notesSlide24.xml" Id="Ra53b83bb7cfd440f" /></Relationships>
</file>

<file path=ppt/slides/charts/chart1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Kinder</c:v>
                </c:pt>
              </c:strCache>
            </c:strRef>
          </c:tx>
          <c:spPr>
            <a:solidFill xmlns:a="http://schemas.openxmlformats.org/drawingml/2006/main">
              <a:srgbClr val="3E5668"/>
            </a:solidFill>
          </c:spP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Spieleausleihe</c:v>
                </c:pt>
                <c:pt idx="1">
                  <c:v>neue Bälle</c:v>
                </c:pt>
                <c:pt idx="2">
                  <c:v>ruhiger Pausenraum</c:v>
                </c:pt>
                <c:pt idx="3">
                  <c:v>Sitzplätze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15</c:v>
                </c:pt>
                <c:pt idx="2">
                  <c:v>9</c:v>
                </c:pt>
                <c:pt idx="3">
                  <c:v>12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 i="0" u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26"/>
          <c:min val="0"/>
        </c:scaling>
        <c:delete val="0"/>
        <c:axPos val="l"/>
        <c:majorGridlines>
          <c:spPr>
            <a:ln xmlns:a="http://schemas.openxmlformats.org/drawingml/2006/main" w="12700">
              <a:solidFill>
                <a:srgbClr val="888888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4"/>
        <c:crosses val="autoZero"/>
        <c:crossBetween val="between"/>
        <c:majorUnit val="5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charts/chart2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Kinder</c:v>
                </c:pt>
              </c:strCache>
            </c:strRef>
          </c:tx>
          <c:spPr>
            <a:solidFill xmlns:a="http://schemas.openxmlformats.org/drawingml/2006/main">
              <a:srgbClr val="3E5668"/>
            </a:solidFill>
          </c:spP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Leseecke</c:v>
                </c:pt>
                <c:pt idx="1">
                  <c:v>Pflanzen</c:v>
                </c:pt>
                <c:pt idx="2">
                  <c:v>Ablagefächer</c:v>
                </c:pt>
                <c:pt idx="3">
                  <c:v>Sitzplätze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</c:v>
                </c:pt>
                <c:pt idx="1">
                  <c:v>11</c:v>
                </c:pt>
                <c:pt idx="2">
                  <c:v>20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 i="0" u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26"/>
          <c:min val="0"/>
        </c:scaling>
        <c:delete val="0"/>
        <c:axPos val="l"/>
        <c:majorGridlines>
          <c:spPr>
            <a:ln xmlns:a="http://schemas.openxmlformats.org/drawingml/2006/main" w="12700">
              <a:solidFill>
                <a:srgbClr val="888888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4"/>
        <c:crosses val="autoZero"/>
        <c:crossBetween val="between"/>
        <c:majorUnit val="5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45e739b5834af3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3CF7640E-D40A-4A86-AD85-4613D85C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85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3E6D490-DD20-4819-B321-51B9E413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3232"/>
            <a:ext cx="5669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5F4F1"/>
                </a:solidFill>
                <a:latin typeface="Aptos Display"/>
                <a:ea typeface="Aptos Display"/>
                <a:cs typeface="Aptos Display"/>
              </a:rPr>
              <a:t>Impuls-Präsentationen</a:t>
            </a:r>
            <a:endParaRPr sz="3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9225F69-1A47-4D63-9767-FBA1178B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603504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200" b="1">
                <a:solidFill>
                  <a:srgbClr val="F5F4F1"/>
                </a:solidFill>
                <a:latin typeface="Aptos Display"/>
                <a:ea typeface="Aptos Display"/>
                <a:cs typeface="Aptos Display"/>
              </a:rPr>
              <a:t>Unsere Wünsche</a:t>
            </a:r>
            <a:endParaRPr sz="4200"/>
          </a:p>
          <a:p xmlns:a="http://schemas.openxmlformats.org/drawingml/2006/main">
            <a:pPr marL="0" indent="0">
              <a:buNone/>
            </a:pPr>
            <a:r>
              <a:rPr sz="4200" b="1">
                <a:solidFill>
                  <a:srgbClr val="F5F4F1"/>
                </a:solidFill>
                <a:latin typeface="Aptos Display"/>
                <a:ea typeface="Aptos Display"/>
                <a:cs typeface="Aptos Display"/>
              </a:rPr>
              <a:t>für die neue Schule</a:t>
            </a:r>
            <a:endParaRPr sz="42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B39FEF47-8AD4-4D59-A26C-8DF94715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44952"/>
            <a:ext cx="434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7A4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07CC45F-E52F-4932-8F1F-76DEA9F4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46120"/>
            <a:ext cx="6217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E8DED4"/>
                </a:solidFill>
                <a:latin typeface="Aptos"/>
                <a:ea typeface="Aptos"/>
                <a:cs typeface="Aptos"/>
              </a:rPr>
              <a:t>Deutsch 5 · Wunschbriefe · Daten als freiwilliger Zusatz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528209F-F8ED-470A-8BF7-F0F90BFE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961888"/>
            <a:ext cx="8412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D4C7B8"/>
                </a:solidFill>
              </a:rPr>
              <a:t>Input → Übung → Vertiefung → Probearbeit → Projekte → Lernerfolgskontrolle (Arbeit)</a:t>
            </a:r>
            <a:endParaRPr sz="13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0D4BBFF-6FA5-4330-A946-9F15D4B3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Startfolie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DE90348-7614-49A1-92FD-2F5C4A09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6948113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5f27f5c35448e9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B8B5E260-7F4D-4593-9E54-B802BEEB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388618FB-4E85-4A53-8681-6631093E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39479EE-41B7-4F59-B3CB-98CE026E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Der Lernweg dieser Reihe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46E257B-FC46-4DB3-B65D-A7077E48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E5668"/>
                </a:solidFill>
                <a:latin typeface="Aptos"/>
                <a:ea typeface="Aptos"/>
                <a:cs typeface="Aptos"/>
              </a:rPr>
              <a:t>Dein Papierlernweg zeigt dir den nächsten Schritt.</a:t>
            </a: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74727E02-58E9-492F-A5DB-D19496A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94560"/>
            <a:ext cx="1325880" cy="914400"/>
          </a:xfrm>
          <a:prstGeom xmlns:a="http://schemas.openxmlformats.org/drawingml/2006/main" prst="roundRect">
            <a:avLst>
              <a:gd name="adj" fmla="val 13000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7871130-E3AA-4A32-853F-A959115C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404872"/>
            <a:ext cx="11795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FFFFFF"/>
                </a:solidFill>
              </a:rPr>
              <a:t>Input</a:t>
            </a:r>
            <a:endParaRPr sz="145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F713CD60-5D37-479E-9AB9-64593BCC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992" y="2423160"/>
            <a:ext cx="29260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D97A4A"/>
                </a:solidFill>
              </a:rPr>
              <a:t>→</a:t>
            </a:r>
            <a:endParaRPr sz="23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27A4C467-3E36-4CCF-B2E8-5E55B96E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194560"/>
            <a:ext cx="1325880" cy="914400"/>
          </a:xfrm>
          <a:prstGeom xmlns:a="http://schemas.openxmlformats.org/drawingml/2006/main" prst="roundRect">
            <a:avLst>
              <a:gd name="adj" fmla="val 13000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920DF4A-C8D0-4C27-A329-39B66DAE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192" y="2404872"/>
            <a:ext cx="11795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FFFFFF"/>
                </a:solidFill>
              </a:rPr>
              <a:t>Übung</a:t>
            </a:r>
            <a:endParaRPr sz="145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B5D3760A-D15A-49AD-8F21-ACDB2883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9352" y="2423160"/>
            <a:ext cx="29260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D97A4A"/>
                </a:solidFill>
              </a:rPr>
              <a:t>→</a:t>
            </a:r>
            <a:endParaRPr sz="23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BF48A12-4E2D-413B-8E3C-E8EB3593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94560"/>
            <a:ext cx="1325880" cy="914400"/>
          </a:xfrm>
          <a:prstGeom xmlns:a="http://schemas.openxmlformats.org/drawingml/2006/main" prst="roundRect">
            <a:avLst>
              <a:gd name="adj" fmla="val 13000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6CB37D2C-A22D-421D-8A62-BA998B36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2404872"/>
            <a:ext cx="11795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FFFFFF"/>
                </a:solidFill>
              </a:rPr>
              <a:t>Vertiefung</a:t>
            </a:r>
            <a:endParaRPr sz="145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797246F-4BC1-4D19-AF51-02E63A22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712" y="2423160"/>
            <a:ext cx="29260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D97A4A"/>
                </a:solidFill>
              </a:rPr>
              <a:t>→</a:t>
            </a:r>
            <a:endParaRPr sz="23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0DEA1D54-3901-43C2-843B-DFDAA7A4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194560"/>
            <a:ext cx="1325880" cy="914400"/>
          </a:xfrm>
          <a:prstGeom xmlns:a="http://schemas.openxmlformats.org/drawingml/2006/main" prst="roundRect">
            <a:avLst>
              <a:gd name="adj" fmla="val 13000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02FE41F-4C21-4F68-A741-DC932445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912" y="2404872"/>
            <a:ext cx="11795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FFFFFF"/>
                </a:solidFill>
              </a:rPr>
              <a:t>Probearbeit</a:t>
            </a:r>
            <a:endParaRPr sz="14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D03691F-E7FC-48E2-A223-B477B16F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423160"/>
            <a:ext cx="29260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D97A4A"/>
                </a:solidFill>
              </a:rPr>
              <a:t>→</a:t>
            </a:r>
            <a:endParaRPr sz="23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BC513934-FA38-4EFF-BE67-DBD83ACF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2194560"/>
            <a:ext cx="1325880" cy="914400"/>
          </a:xfrm>
          <a:prstGeom xmlns:a="http://schemas.openxmlformats.org/drawingml/2006/main" prst="roundRect">
            <a:avLst>
              <a:gd name="adj" fmla="val 13000"/>
            </a:avLst>
          </a:prstGeom>
          <a:solidFill xmlns:a="http://schemas.openxmlformats.org/drawingml/2006/main">
            <a:srgbClr val="F4E9D5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7E91AB3-64D6-4EFF-9756-B77C992A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2404872"/>
            <a:ext cx="11795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2C3D4C"/>
                </a:solidFill>
              </a:rPr>
              <a:t>Projekte</a:t>
            </a:r>
            <a:endParaRPr sz="145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27EE3BF2-A703-4273-B82B-A4EF92D2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1432" y="2423160"/>
            <a:ext cx="29260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D97A4A"/>
                </a:solidFill>
              </a:rPr>
              <a:t>→</a:t>
            </a:r>
            <a:endParaRPr sz="230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B3EF2859-9600-403E-AED2-7397EF8C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194560"/>
            <a:ext cx="1325880" cy="914400"/>
          </a:xfrm>
          <a:prstGeom xmlns:a="http://schemas.openxmlformats.org/drawingml/2006/main" prst="roundRect">
            <a:avLst>
              <a:gd name="adj" fmla="val 13000"/>
            </a:avLst>
          </a:prstGeom>
          <a:solidFill xmlns:a="http://schemas.openxmlformats.org/drawingml/2006/main">
            <a:srgbClr val="D97A4A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04B7EE14-712D-4081-A63B-381F1A8A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8632" y="2257425"/>
            <a:ext cx="1179576" cy="800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Lernerfolgs-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kontrolle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(Arbeit)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8B05BBB9-657C-4B04-9AA8-1EB33EEF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3410712"/>
            <a:ext cx="228600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C17B00">
              <a:alpha val="96000"/>
            </a:srgbClr>
          </a:solidFill>
          <a:ln xmlns:a="http://schemas.openxmlformats.org/drawingml/2006/main" w="12700">
            <a:solidFill>
              <a:srgbClr val="C17B00">
                <a:alpha val="0"/>
              </a:srgbClr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6A3EA07F-FFF7-4D2D-BB71-1654F032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438525"/>
            <a:ext cx="1993392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83852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Zusätze und Projekte: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freiwillig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9C3B043B-85A5-4597-BADF-7C3BD764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709160"/>
            <a:ext cx="9966960" cy="621792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EF48517B-1392-4D0D-83CC-4FE6B373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4818888"/>
            <a:ext cx="967435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Jede Lernzeit folgt: Planung → Durchführung → Reflexion</a:t>
            </a:r>
            <a:endParaRPr sz="1800"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E510D024-5A29-4D4C-9038-54E2A60A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Lernweg</a:t>
            </a:r>
            <a:endParaRPr sz="85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D0354492-7B43-480B-BEE9-8E5872F0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89309492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75c2da0ad84c79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9196DFA0-63B7-4F71-B0AE-233E815D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82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C57EB2FC-D687-42A5-87AB-F1791DE1B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31520"/>
            <a:ext cx="5852160" cy="5074920"/>
          </a:xfrm>
          <a:prstGeom xmlns:a="http://schemas.openxmlformats.org/drawingml/2006/main" prst="rect">
            <a:avLst>
              <a:gd name="adj" fmla="val 3243"/>
            </a:avLst>
          </a:prstGeom>
          <a:solidFill xmlns:a="http://schemas.openxmlformats.org/drawingml/2006/main">
            <a:srgbClr val="F5F4F1">
              <a:alpha val="94000"/>
            </a:srgbClr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1D8A32A-C16A-4A05-AC2B-46B1FF4D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060704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D97A4A"/>
                </a:solidFill>
              </a:rPr>
              <a:t>Input 1</a:t>
            </a:r>
            <a:endParaRPr sz="17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9CB14D3-0CA9-40BE-B101-B4EBD6E4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1508760"/>
            <a:ext cx="5074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Unsere Wünsche für die neue Schule</a:t>
            </a:r>
            <a:endParaRPr sz="3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A4A2A8E9-BA65-41A7-9F46-9760DB309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971800"/>
            <a:ext cx="49834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sammelst Schulwünsche. Du klärst: Wer schreibt wem? Daten kannst du zusätzlich nutzen.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1DA7291-3C97-42DB-BAAC-29263640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47488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E5668"/>
                </a:solidFill>
              </a:rPr>
              <a:t>Impuls für die Klasse</a:t>
            </a:r>
            <a:endParaRPr sz="1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0C327A-EE78-4D73-88CB-464F3027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1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DBC276E-3548-4920-A9FF-29B92196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79725874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131dc1e2045c8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57E25E67-7BEB-4864-BA0C-ED0FEAC6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5173F4F2-2F46-463A-A57F-C375E9F2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DE0D934C-F8D2-435C-89BB-550A7E9F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Was wünschen wir uns?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3C5512-3D42-4608-8022-6DF10DFA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Schulalltag als Schreibanlass</a:t>
            </a:r>
            <a:endParaRPr sz="13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1C7127-A6FB-49E9-9397-95963FCD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91640"/>
            <a:ext cx="466344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1F2A33"/>
                </a:solidFill>
              </a:rPr>
              <a:t>• Spielgeräte und Bewegung
</a:t>
            </a:r>
            <a:r>
              <a:rPr sz="2100">
                <a:solidFill>
                  <a:srgbClr val="1F2A33"/>
                </a:solidFill>
              </a:rPr>
              <a:t>• Pausenangebote
</a:t>
            </a:r>
            <a:r>
              <a:rPr sz="2100">
                <a:solidFill>
                  <a:srgbClr val="1F2A33"/>
                </a:solidFill>
              </a:rPr>
              <a:t>• Räume und Ausstattung
</a:t>
            </a:r>
            <a:r>
              <a:rPr sz="2100">
                <a:solidFill>
                  <a:srgbClr val="1F2A33"/>
                </a:solidFill>
              </a:rPr>
              <a:t>• AGs, Projekte und Ausflüge
</a:t>
            </a:r>
            <a:r>
              <a:rPr sz="2100">
                <a:solidFill>
                  <a:srgbClr val="1F2A33"/>
                </a:solidFill>
              </a:rPr>
              <a:t>• Themen und Inhalte im Unterricht</a:t>
            </a:r>
            <a:endParaRPr sz="21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DD7CB614-355B-40AB-853C-2A370E67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45920"/>
            <a:ext cx="452628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564650B-6A15-46A5-ADE0-0FBF9F3B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55648"/>
            <a:ext cx="4251960" cy="20208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Dein Start: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Was wünschst du dir?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Wer kann dir dabei helfen?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Ein vollständiger Brief enthält auch einen weiteren passenden Satz.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4C979E9B-11B1-47FD-B28E-CAB2C475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212080"/>
            <a:ext cx="7863840" cy="603504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40EB5D3-C519-4766-8318-589E440F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2264" y="5321808"/>
            <a:ext cx="75712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Auftrag: Wähle einen Wunsch, der zu unserem Schulalltag passt.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511C617-0379-4480-8756-F1F2BB4D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1 · Sammeln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38D49FD-FFF3-4AF0-9ADF-C57F6E257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88967638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24a22bca7426a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038CBFB-B28B-49F2-B39C-2D54BA95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9997369C-0728-48BB-AE7A-01912457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A2EFCDB-E21D-4FCA-A86C-3497599C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Wer schreibt wem?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0176CAD-B58D-44EA-911E-04BAD66E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Schreibsituationen klären</a:t>
            </a:r>
            <a:endParaRPr sz="13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FE16B04C-9BB1-4A25-A274-6DF2BD60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719072"/>
            <a:ext cx="4480560" cy="1078992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EF2F4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93EC14E-5D3E-4493-81E8-110D267A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1883664"/>
            <a:ext cx="39319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2C3D4C"/>
                </a:solidFill>
              </a:rPr>
              <a:t>Wer schreibt?</a:t>
            </a:r>
            <a:endParaRPr sz="17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E42F18-0965-4D85-88F3-9BD48DBA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2221992"/>
            <a:ext cx="3931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F2A33"/>
                </a:solidFill>
              </a:rPr>
              <a:t>Beantworte die Frage mit wenigen Stichwörtern.</a:t>
            </a:r>
            <a:endParaRPr sz="15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DBCC9F68-00A3-4AB3-818B-73495228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6" y="1719072"/>
            <a:ext cx="4480560" cy="1078992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DF5EA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4E11A0F-DD08-45F3-80A9-60A7AC72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1883664"/>
            <a:ext cx="39319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2C3D4C"/>
                </a:solidFill>
              </a:rPr>
              <a:t>An wen?</a:t>
            </a:r>
            <a:endParaRPr sz="17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F7578DC-6CD3-45F3-88E3-B540B108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21992"/>
            <a:ext cx="3931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F2A33"/>
                </a:solidFill>
              </a:rPr>
              <a:t>Beantworte die Frage mit wenigen Stichwörtern.</a:t>
            </a:r>
            <a:endParaRPr sz="15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8D0DE8A0-74F5-4C05-A754-3CF22CF7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9272"/>
            <a:ext cx="4480560" cy="1078992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EF2F4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04703F-3E41-4EE1-893E-AD53275F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3483864"/>
            <a:ext cx="39319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2C3D4C"/>
                </a:solidFill>
              </a:rPr>
              <a:t>Was ist der Wunsch?</a:t>
            </a:r>
            <a:endParaRPr sz="17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77615969-9D33-4548-AFD6-74A81A12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3822192"/>
            <a:ext cx="3931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F2A33"/>
                </a:solidFill>
              </a:rPr>
              <a:t>Beantworte die Frage mit wenigen Stichwörtern.</a:t>
            </a:r>
            <a:endParaRPr sz="15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BA5C5776-1337-45CF-B692-BE0646E1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6" y="3319272"/>
            <a:ext cx="4480560" cy="1078992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DF5EA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AB06859-916A-445F-AD67-8F23AC2C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483864"/>
            <a:ext cx="39319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2C3D4C"/>
                </a:solidFill>
                <a:latin typeface="Aptos"/>
                <a:ea typeface="Aptos"/>
                <a:cs typeface="Aptos"/>
              </a:rPr>
              <a:t>Welcher weitere Satz passt?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249B333-21CF-45EE-9310-8FACF328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3931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F2A33"/>
                </a:solidFill>
              </a:rPr>
              <a:t>Beantworte die Frage mit wenigen Stichwörtern.</a:t>
            </a:r>
            <a:endParaRPr sz="15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DB52DC2E-5A7B-4CE9-8FDB-C7750028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321808"/>
            <a:ext cx="7498080" cy="530352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569F6D5-7D76-4FD4-AF07-E79785408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5431536"/>
            <a:ext cx="720547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Erst die Situation verstehen – dann schreiben.</a:t>
            </a:r>
            <a:endParaRPr sz="18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DE0BD79-FB68-457B-BB7C-3B1591C2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1 · Schreibsituation</a:t>
            </a:r>
            <a:endParaRPr sz="85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AECD6F9-2AEA-469D-9D39-FE88384A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36819228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8a9ccb0f54ab5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8F80E03-85C0-453E-B0BD-6792EC21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259AF15-1ABE-4AEA-8EB0-9BF251CB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4B1502D-6E86-47B7-BDD9-154FC970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Umfragen können Wünsche stärken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6744BD6-0581-4147-9EB2-F1D36AB2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E5668"/>
                </a:solidFill>
                <a:latin typeface="Aptos"/>
                <a:ea typeface="Aptos"/>
                <a:cs typeface="Aptos"/>
              </a:rPr>
              <a:t>Freiwillig · Beispielumfrage: 26 Kinder, mehrere Antworten erlaubt.</a:t>
            </a:r>
          </a:p>
        </p:txBody>
      </p:sp>
      <p:graphicFrame>
        <p:nvGraphicFramePr>
          <p:cNvPr id="21" name="Chart 0"/>
          <p:cNvGraphicFramePr/>
          <p:nvPr/>
        </p:nvGraphicFramePr>
        <p:xfrm>
          <a:off xmlns:a="http://schemas.openxmlformats.org/drawingml/2006/main" x="914400" y="1554480"/>
          <a:ext xmlns:a="http://schemas.openxmlformats.org/drawingml/2006/main" cx="5212080" cy="338328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b4142d2a1c4d91"/>
          </a:graphicData>
        </a:graphic>
      </p:graphicFrame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2CD0F6EE-A575-4600-9BCC-142780E6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828800"/>
            <a:ext cx="4114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1040AC7-257D-4EE6-90EE-39D0361D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938528"/>
            <a:ext cx="3840480" cy="20665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Aus Daten wird ein Satz: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„18 von 26 Kindern wünschen sich eine Spieleausleihe.“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Das ist genauer als: „Alle wollen Spiele.“</a:t>
            </a:r>
            <a:endParaRPr sz="18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1DCD839-B5F3-45B8-8B42-85242F24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349240"/>
            <a:ext cx="8458200" cy="530352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814B9FB-08AD-4566-88BA-ABFDF90D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5458968"/>
            <a:ext cx="81655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Daten sind freiwillig. Die Beispielzahlen sind erfunden.</a:t>
            </a:r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7F49C7F-60F0-4628-A5AC-C04BB770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1 · Mathe-Andockung</a:t>
            </a:r>
            <a:endParaRPr sz="85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2C3A47C-86FD-4878-8710-E70ABDA7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6042169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5cc2857cd4415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74C61FA-221C-45FF-86A9-84A2D07D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82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A135062-A2C5-43E4-B857-7FB18309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31520"/>
            <a:ext cx="5852160" cy="5074920"/>
          </a:xfrm>
          <a:prstGeom xmlns:a="http://schemas.openxmlformats.org/drawingml/2006/main" prst="rect">
            <a:avLst>
              <a:gd name="adj" fmla="val 3243"/>
            </a:avLst>
          </a:prstGeom>
          <a:solidFill xmlns:a="http://schemas.openxmlformats.org/drawingml/2006/main">
            <a:srgbClr val="F5F4F1">
              <a:alpha val="94000"/>
            </a:srgbClr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6647CB9C-3616-49DC-9D3A-79B2EBC1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060704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D97A4A"/>
                </a:solidFill>
              </a:rPr>
              <a:t>Input 2</a:t>
            </a:r>
            <a:endParaRPr sz="17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D31E937-78E0-4F9D-9D71-DA016C54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1508760"/>
            <a:ext cx="5074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So ist ein Brief aufgebaut</a:t>
            </a:r>
            <a:endParaRPr sz="3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9805EA-E36C-4504-8689-2C382B89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971800"/>
            <a:ext cx="49834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erkennst die Briefteile und bringst sie in die richtige Reihenfolge.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A139355-E358-4C6B-A7F3-E88E0768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47488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E5668"/>
                </a:solidFill>
              </a:rPr>
              <a:t>Impuls für die Klasse</a:t>
            </a:r>
            <a:endParaRPr sz="1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A8F9B10-E069-4FC0-9B05-8170D60D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2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EEA158-C51D-494A-9F9D-2D3670FC8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83579098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6eaaabee314b62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0BB1A8F-F7ED-4A5C-B23F-CC2ADC1D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331881E0-B6A5-4242-9296-A4F59DA6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591B0856-6F51-4E88-91A7-C46D4992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Die fünf Teile eines Briefes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6C98861-2A26-48ED-9AFC-DCFB80F7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Grundaufbau sichern</a:t>
            </a:r>
            <a:endParaRPr sz="13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7A42B7E-F48C-4DFE-99B8-06144F2E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00200"/>
            <a:ext cx="411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D97A4A"/>
                </a:solidFill>
              </a:rPr>
              <a:t>1</a:t>
            </a:r>
            <a:endParaRPr sz="19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4277A8B3-5551-495A-BD19-32B3BB3E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810512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7A4A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8923D1A5-B0AA-44CB-9463-85C72F18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554480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C3D4C"/>
                </a:solidFill>
              </a:rPr>
              <a:t>Ort und Datum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87065E5-F7AB-432F-9238-7CAF2E94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5448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Dortmund, 07.09.2026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2565B20-D1A1-4223-BF0B-1C3C3D40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411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D97A4A"/>
                </a:solidFill>
              </a:rPr>
              <a:t>2</a:t>
            </a:r>
            <a:endParaRPr sz="19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3D4C31FD-84E2-4C39-A7C6-4D3790A2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542032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7A4A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35B96BF-6AF8-45F0-B43D-407D00A2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286000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C3D4C"/>
                </a:solidFill>
              </a:rPr>
              <a:t>Anrede</a:t>
            </a:r>
            <a:endParaRPr sz="18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E6FC390-A30C-486D-B325-87A10473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8600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Sehr geehrte Frau …,</a:t>
            </a:r>
            <a:endParaRPr sz="1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19B1A5D-57DB-4FC7-81D8-95124E30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063240"/>
            <a:ext cx="411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D97A4A"/>
                </a:solidFill>
              </a:rPr>
              <a:t>3</a:t>
            </a:r>
            <a:endParaRPr sz="1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BBF9717D-0299-439B-B2A1-0F9F1694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73552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7A4A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186A30F-D416-40B4-A3ED-5D46135B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017520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C3D4C"/>
                </a:solidFill>
              </a:rPr>
              <a:t>Brieftext</a:t>
            </a:r>
            <a:endParaRPr sz="18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2D83378-EAC4-40A6-9F8A-0031D8D4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1752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Dein Wunsch + ein weiterer passender Satz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3976608F-725D-4CAA-BD27-7CDBDCDF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794760"/>
            <a:ext cx="411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D97A4A"/>
                </a:solidFill>
              </a:rPr>
              <a:t>4</a:t>
            </a:r>
            <a:endParaRPr sz="19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FE2E2AA9-CEF6-403B-973F-71E27043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005072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7A4A"/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28B1833-2DF9-402A-BC88-67A72540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749040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C3D4C"/>
                </a:solidFill>
              </a:rPr>
              <a:t>Grußformel</a:t>
            </a:r>
            <a:endParaRPr sz="18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7FE58DA0-96F3-4D8C-9138-F620E4A6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4904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Freundliche Grüße</a:t>
            </a:r>
            <a:endParaRPr sz="18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B42A89F9-ADFC-4004-A658-411B01F6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26280"/>
            <a:ext cx="411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D97A4A"/>
                </a:solidFill>
              </a:rPr>
              <a:t>5</a:t>
            </a:r>
            <a:endParaRPr sz="19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90830134-9F12-4566-AD71-3717C094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736592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7A4A"/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85BC65A-02FC-44AF-8B17-31FED9B7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480560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C3D4C"/>
                </a:solidFill>
              </a:rPr>
              <a:t>Name</a:t>
            </a:r>
            <a:endParaRPr sz="18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EF66428B-452E-41AC-9C4F-3B475735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48056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Mila</a:t>
            </a:r>
            <a:endParaRPr sz="18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F1D57734-4024-47A0-AC4A-66982287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623560"/>
            <a:ext cx="85953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24852C5-7655-4B06-A0A0-7CE91781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5733288"/>
            <a:ext cx="8302752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Merksatz: Ein Brief braucht Anfang, Brieftext und Ende.</a:t>
            </a:r>
            <a:endParaRPr sz="18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7C5B6B8F-7D03-4C2D-A23D-D4DF1B78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2 · Briefteile</a:t>
            </a:r>
            <a:endParaRPr sz="85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742B4956-5D6F-4FE9-A6D6-CFD4BD69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59078005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b58815f6d4bf7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BB418B-43C5-49E0-B82A-FDB5EDCB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461FAED9-229A-49B7-81C1-625D7588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5E0E860-709F-4510-8510-277CE3A7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Briefpuzzle: Was kommt zuerst?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EB4D405-CD67-431F-84DB-27EED4DC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Reihenfolge üben</a:t>
            </a:r>
            <a:endParaRPr sz="13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CBAA074B-085E-47AA-8740-B1E4685D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08760"/>
            <a:ext cx="3977640" cy="3520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71B775E-1122-475B-B97D-B3740CAD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18488"/>
            <a:ext cx="3703320" cy="33009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Grußformel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Dortmund, 07.09.2026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Brieftext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Anrede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Name</a:t>
            </a:r>
            <a:endParaRPr sz="1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3522F31-A0D7-4AF1-8F16-799504E6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645920"/>
            <a:ext cx="452628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Beginne mit Ort und Datum.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Dann kommt die Anrede.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Wunsch + weiterer passender Satz.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Am Ende: Grußformel und Name.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53D3A99-48A2-4446-80F8-F9DCE9ED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285232"/>
            <a:ext cx="786384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973E2176-AD62-4BC9-ACBC-E887E9E0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5394960"/>
            <a:ext cx="757123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Auftrag: Bringe den Brief in die richtige Ordnung.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C4634B03-B8B3-4423-9A91-BE0C5A4A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2 · Puzzle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4813C43-6063-4AFD-AA50-B1534738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4378732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e1f2d7d0fb4377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B80C67E5-F847-4BBF-A66C-44E4DA2F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59A7BBA3-6404-408D-83A8-4AF89995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C665B46-6D98-4454-BC76-A8AFE6E0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Die Anrede passt zur Person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4E0BC-5EB3-4A81-88F3-B9B43426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Wer bekommt den Brief?</a:t>
            </a:r>
            <a:endParaRPr sz="13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33945404-D3F9-4945-B1F5-80AF5057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627632"/>
            <a:ext cx="310896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EF2F4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FDDB8979-34C8-4B05-BDFB-C259DA95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792224"/>
            <a:ext cx="2743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2C3D4C"/>
                </a:solidFill>
              </a:rPr>
              <a:t>Klassenleitung</a:t>
            </a:r>
            <a:endParaRPr sz="17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F7C83584-4EF7-4D2D-A4C7-1B0D071A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783080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D97A4A"/>
                </a:solidFill>
              </a:rPr>
              <a:t>→</a:t>
            </a:r>
            <a:endParaRPr sz="2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CAFD6AE-9E1E-4D6A-9D73-A650F3BF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792224"/>
            <a:ext cx="4892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1F2A33"/>
                </a:solidFill>
              </a:rPr>
              <a:t>Liebe Frau …, / Lieber Herr …,</a:t>
            </a:r>
            <a:endParaRPr sz="17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F688EE90-CB82-4019-9FC3-9FCF7265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88920"/>
            <a:ext cx="310896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EF2F4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3944CEE-8492-4795-B99A-5F1BABF3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953512"/>
            <a:ext cx="2743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2C3D4C"/>
                </a:solidFill>
              </a:rPr>
              <a:t>Schulleitung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89F327B-F7AB-4C87-8F3C-56E3E7EF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944368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D97A4A"/>
                </a:solidFill>
              </a:rPr>
              <a:t>→</a:t>
            </a:r>
            <a:endParaRPr sz="21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7988234-F7BE-4771-8A8C-0AC9B96A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953512"/>
            <a:ext cx="4892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1F2A33"/>
                </a:solidFill>
              </a:rPr>
              <a:t>Sehr geehrte Frau …, / Sehr geehrter Herr …,</a:t>
            </a:r>
            <a:endParaRPr sz="170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2AC4438-58D0-42C7-B4DB-0B89F8BB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50208"/>
            <a:ext cx="310896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EF2F4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1D6726E-BAC3-4981-82C7-AF99FA99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114800"/>
            <a:ext cx="2743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2C3D4C"/>
                </a:solidFill>
              </a:rPr>
              <a:t>Freund oder Freundin</a:t>
            </a:r>
            <a:endParaRPr sz="17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47A3E21-89EA-4470-BA06-AD9EDEA0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105656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D97A4A"/>
                </a:solidFill>
              </a:rPr>
              <a:t>→</a:t>
            </a:r>
            <a:endParaRPr sz="21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E5AF1054-4475-4B9A-BE9E-FDC5C03F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114800"/>
            <a:ext cx="4892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1F2A33"/>
                </a:solidFill>
              </a:rPr>
              <a:t>Liebe …, / Lieber …,</a:t>
            </a:r>
            <a:endParaRPr sz="17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6B8359D-089A-4D49-8A3A-3450A7AD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5321808"/>
            <a:ext cx="8229600" cy="530352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4A1C940-7402-472B-8816-0E04A114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384" y="5431536"/>
            <a:ext cx="7936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Die Anrede muss zur angeschriebenen Person passen.</a:t>
            </a:r>
            <a:endParaRPr sz="18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BDC53BCC-71D2-4883-BD13-E53F0648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2 · Anrede</a:t>
            </a:r>
            <a:endParaRPr sz="85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AB82DBD-08A8-419D-A8D0-24A72226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94543498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74296a4e3a42c8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D0F5DDF-FD32-4D75-8620-4F7262B4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82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C2733131-4BF1-4D42-B119-6079337E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31520"/>
            <a:ext cx="5852160" cy="5074920"/>
          </a:xfrm>
          <a:prstGeom xmlns:a="http://schemas.openxmlformats.org/drawingml/2006/main" prst="rect">
            <a:avLst>
              <a:gd name="adj" fmla="val 3243"/>
            </a:avLst>
          </a:prstGeom>
          <a:solidFill xmlns:a="http://schemas.openxmlformats.org/drawingml/2006/main">
            <a:srgbClr val="F5F4F1">
              <a:alpha val="94000"/>
            </a:srgbClr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6DB474CB-E352-4DCC-8D8C-17C88466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060704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D97A4A"/>
                </a:solidFill>
              </a:rPr>
              <a:t>Input 3</a:t>
            </a:r>
            <a:endParaRPr sz="17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5F5F43-B5B0-41B5-BFDF-392DDE11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1508760"/>
            <a:ext cx="5074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7059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34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Wünsche freundlich und genau formulieren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63FED00-7824-4706-BA0B-20B44277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971800"/>
            <a:ext cx="49834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formulierst deinen Wunsch klar und freundlich. Gründe und Daten sind freiwillig.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9EC03CC-5416-41DE-84F8-47E0E094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47488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E5668"/>
                </a:solidFill>
              </a:rPr>
              <a:t>Impuls für die Klasse</a:t>
            </a:r>
            <a:endParaRPr sz="1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E376144-11B6-4596-A75F-DC6E9FC4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3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D33F8D6-9EB9-4761-BD96-CF99A8F5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58553257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bb9c45f9154edc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07480D8-22F5-4EDE-9AF7-C196E4FC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1B07E436-1C46-4099-9E9B-10730AA1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65EA3141-5839-466B-8F99-5E7EF7F7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Freundlich oder fordernd?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78190E-E3EE-46ED-8ECD-53CB1386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Formulierungen vergleichen</a:t>
            </a:r>
            <a:endParaRPr sz="13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229838C6-F4A8-4AA4-9067-35797397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554480"/>
            <a:ext cx="480060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8EEE7"/>
          </a:solidFill>
          <a:ln xmlns:a="http://schemas.openxmlformats.org/drawingml/2006/main" w="12700">
            <a:solidFill>
              <a:srgbClr val="E8C4B3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E9882B5-8400-4E07-B178-4F56BE96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719072"/>
            <a:ext cx="4434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545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7E3B1C"/>
                </a:solidFill>
                <a:latin typeface="Aptos"/>
                <a:ea typeface="Aptos"/>
                <a:cs typeface="Aptos"/>
              </a:rPr>
              <a:t>Gebt uns sofort neue Spiele!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12B36C-888E-49BA-A7B2-CBBAD5F8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700784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D97A4A"/>
                </a:solidFill>
              </a:rPr>
              <a:t>→</a:t>
            </a:r>
            <a:endParaRPr sz="21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CA3481E-7745-473F-BF0B-5EC4F029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554480"/>
            <a:ext cx="484632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DF5EA"/>
          </a:solidFill>
          <a:ln xmlns:a="http://schemas.openxmlformats.org/drawingml/2006/main" w="12700">
            <a:solidFill>
              <a:srgbClr val="C3DBBB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251B3EB-1675-4AC9-A59D-62AE8640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19072"/>
            <a:ext cx="44805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>
                <a:solidFill>
                  <a:srgbClr val="1D4D25"/>
                </a:solidFill>
              </a:rPr>
              <a:t>Wir wünschen uns neue Spiele für die Pause.</a:t>
            </a:r>
            <a:endParaRPr sz="165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5815EE71-67AE-4B21-91CD-24121829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743200"/>
            <a:ext cx="480060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8EEE7"/>
          </a:solidFill>
          <a:ln xmlns:a="http://schemas.openxmlformats.org/drawingml/2006/main" w="12700">
            <a:solidFill>
              <a:srgbClr val="E8C4B3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62B236-7015-40F4-A081-EC21ACFB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907792"/>
            <a:ext cx="4434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>
                <a:solidFill>
                  <a:srgbClr val="7E3B1C"/>
                </a:solidFill>
              </a:rPr>
              <a:t>Kaufen Sie uns eine Leseecke.</a:t>
            </a:r>
            <a:endParaRPr sz="16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112124F-C5C9-4B86-8BCD-FD82FD4B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2889504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D97A4A"/>
                </a:solidFill>
              </a:rPr>
              <a:t>→</a:t>
            </a:r>
            <a:endParaRPr sz="210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5F625B5C-2C77-4C65-9E7F-F51C570E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743200"/>
            <a:ext cx="484632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DF5EA"/>
          </a:solidFill>
          <a:ln xmlns:a="http://schemas.openxmlformats.org/drawingml/2006/main" w="12700">
            <a:solidFill>
              <a:srgbClr val="C3DBBB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166B496C-C75C-47F5-9471-945EA672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07792"/>
            <a:ext cx="44805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>
                <a:solidFill>
                  <a:srgbClr val="1D4D25"/>
                </a:solidFill>
              </a:rPr>
              <a:t>Wir würden uns über eine Leseecke freuen.</a:t>
            </a:r>
            <a:endParaRPr sz="165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AB18962F-8963-4FF2-9218-229C3316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931920"/>
            <a:ext cx="480060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8EEE7"/>
          </a:solidFill>
          <a:ln xmlns:a="http://schemas.openxmlformats.org/drawingml/2006/main" w="12700">
            <a:solidFill>
              <a:srgbClr val="E8C4B3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B62ECCA-4393-4F97-B923-29929E02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096512"/>
            <a:ext cx="4434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545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7E3B1C"/>
                </a:solidFill>
                <a:latin typeface="Aptos"/>
                <a:ea typeface="Aptos"/>
                <a:cs typeface="Aptos"/>
              </a:rPr>
              <a:t>Wir brauchen Zeug für die Pause.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25E12D8B-A992-41FE-8116-99812BE1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4078224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D97A4A"/>
                </a:solidFill>
              </a:rPr>
              <a:t>→</a:t>
            </a:r>
            <a:endParaRPr sz="21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0D295921-75E6-48A4-8AA0-9BDF6F21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31920"/>
            <a:ext cx="484632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DF5EA"/>
          </a:solidFill>
          <a:ln xmlns:a="http://schemas.openxmlformats.org/drawingml/2006/main" w="12700">
            <a:solidFill>
              <a:srgbClr val="C3DBBB"/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08BAF92-A838-43B2-A53D-95CAA9D9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096512"/>
            <a:ext cx="44805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545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1D4D25"/>
                </a:solidFill>
                <a:latin typeface="Aptos"/>
                <a:ea typeface="Aptos"/>
                <a:cs typeface="Aptos"/>
              </a:rPr>
              <a:t>Ich wünsche mir neue Bälle für die Pause.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40F63045-9471-4E20-AA28-9B9578E4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285232"/>
            <a:ext cx="7315200" cy="54864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2208294-D252-4395-A4C8-07C1983A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024" y="5394960"/>
            <a:ext cx="702259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Prüfe zwei Dinge: freundlich UND genau.</a:t>
            </a:r>
            <a:endParaRPr sz="180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FB1DBE01-F419-4570-81ED-D5806491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3 · Formulieren</a:t>
            </a:r>
            <a:endParaRPr sz="85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A8A9FBD2-E999-4E46-86FC-E17FA74B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211796500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cc36a3f9414351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660B554-277C-49F0-969A-DDDA636E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907BC4ED-6583-45C3-907C-6812AE6A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E615B93-A1C0-4285-B94E-F30D0F60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Aus einem Diagramm wird ein Satz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F09820C1-A567-492C-8DCB-69BF1B83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E5668"/>
                </a:solidFill>
                <a:latin typeface="Aptos"/>
                <a:ea typeface="Aptos"/>
                <a:cs typeface="Aptos"/>
              </a:rPr>
              <a:t>Freiwillig · Beispielumfrage: 26 Kinder, mehrere Antworten erlaubt.</a:t>
            </a:r>
          </a:p>
        </p:txBody>
      </p:sp>
      <p:graphicFrame>
        <p:nvGraphicFramePr>
          <p:cNvPr id="20" name="Chart 0"/>
          <p:cNvGraphicFramePr/>
          <p:nvPr/>
        </p:nvGraphicFramePr>
        <p:xfrm>
          <a:off xmlns:a="http://schemas.openxmlformats.org/drawingml/2006/main" x="914400" y="1508760"/>
          <a:ext xmlns:a="http://schemas.openxmlformats.org/drawingml/2006/main" cx="52578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46533bfb8644fe"/>
          </a:graphicData>
        </a:graphic>
      </p:graphicFrame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D9C1A40-82DC-49FE-9A3B-F0D67D1C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37360"/>
            <a:ext cx="4480560" cy="2651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„20 von 26 Kindern wünschen sich Ablagefächer.“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„17 Kinder wünschen sich eine Leseecke.“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Die Zahlen sind erfunden. Sie zeigen Wünsche, keine Gründe.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28712263-C6DB-40F9-9983-2CED953C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303520"/>
            <a:ext cx="877824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8DB811EB-0BE1-4E30-BE6A-A7559A26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5413248"/>
            <a:ext cx="848563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„Alle“ stimmt nur, wenn alle Kinder den Wunsch gewählt haben.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84E7773-823C-4BDC-AC20-CB2E105C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3 · Daten formulieren</a:t>
            </a:r>
            <a:endParaRPr sz="85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FBF3985-D0B0-401A-BC51-0EA49978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7278916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01569792ae4758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9007BE8F-1E23-46F9-AFE0-EC06B983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3CD0C6EB-F69A-4973-A734-F8BCF0B4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CFDE719-0D64-4FF4-9ED8-BAC26459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Satzstarter für Wunschbriefe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1F23B8B-4E8B-44F4-A470-9874A495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Hilfe für eigene Formulierungen</a:t>
            </a:r>
            <a:endParaRPr sz="13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B3BD176-3961-4CE7-883A-4076BFB7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2768"/>
            <a:ext cx="6675120" cy="3520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Für unsere Schule wünsche ich mir …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Ich würde mich darüber sehr freuen.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Könnten Sie bitte …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Freiwillige Zusätze: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Das wäre sinnvoll, weil …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In der Umfrage wünschen sich … Kinder 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597FC380-A233-4526-80F4-7F7AD799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965960"/>
            <a:ext cx="292608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848FD62A-7E01-41ED-8C10-5ABD5266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075688"/>
            <a:ext cx="2651760" cy="1929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Wähle passende Satzanfänge.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brauchst deinen Wunsch und einen weiteren passenden Satz.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05E2B1A-3CA3-4FB9-AF5E-73179876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5504688"/>
            <a:ext cx="8138160" cy="512064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B0A6056-D6EF-46A3-87DA-D6E8DC13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5614416"/>
            <a:ext cx="784555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Ziel: klar, freundlich und passend schreiben.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29FD614-3365-47C4-BF13-34AEAB20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3 · Satzstarter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3449E31-110E-455D-A5BE-41134259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24087378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ec2145649f4557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226F57C5-1448-461A-A620-82501F04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82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9A7CB2A2-2309-4091-AB9E-F304FCEB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31520"/>
            <a:ext cx="5852160" cy="5074920"/>
          </a:xfrm>
          <a:prstGeom xmlns:a="http://schemas.openxmlformats.org/drawingml/2006/main" prst="rect">
            <a:avLst>
              <a:gd name="adj" fmla="val 3243"/>
            </a:avLst>
          </a:prstGeom>
          <a:solidFill xmlns:a="http://schemas.openxmlformats.org/drawingml/2006/main">
            <a:srgbClr val="F5F4F1">
              <a:alpha val="94000"/>
            </a:srgbClr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74C19FA-7029-465B-955B-66B9492F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060704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D97A4A"/>
                </a:solidFill>
              </a:rPr>
              <a:t>Input 4</a:t>
            </a:r>
            <a:endParaRPr sz="17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37E27D6-4243-4C7B-A5CE-B6232399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1508760"/>
            <a:ext cx="5074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Vom Schreibauftrag zum Wunschbrief</a:t>
            </a:r>
            <a:endParaRPr sz="3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4C0040E1-A908-45FF-AC92-05C8B7B9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971800"/>
            <a:ext cx="49834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planst, schreibst und prüfst einen vollständigen Brief.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8331CC67-0A92-475E-A6CE-30AE5D73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47488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E5668"/>
                </a:solidFill>
              </a:rPr>
              <a:t>Impuls für die Klasse</a:t>
            </a:r>
            <a:endParaRPr sz="1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3B83837-EE5A-4952-91BD-669F6F59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4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06B1691-FCFC-488F-BF1F-7D658AC5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85918543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aa6414742d473c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E57F1F-CF9E-4680-8465-868F65F6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5AF54F38-9623-41BF-A7AB-9694ABF4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ADA56DA-B341-48FE-9907-8046CB68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Erst planen, dann schreiben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6A0DBFD-E073-46F4-BA66-6429D935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Schreibauftrag Schritt für Schritt</a:t>
            </a:r>
            <a:endParaRPr sz="13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B106B17-A3D8-4D02-8588-96EA535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08760"/>
            <a:ext cx="548640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1. Lies den Auftrag.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2. Kläre: Wer bekommt den Brief?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3. Notiere deinen Wunsch.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4. Plane einen weiteren Satz.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5. Schreibe deinen Brief.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6. Prüfe mit der Checkliste.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8BB5D31F-B882-4BE1-9FA8-522A48B4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28800"/>
            <a:ext cx="329184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DE66EC1-E16F-4D46-BE47-AC791C40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938528"/>
            <a:ext cx="3017520" cy="20208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Stichwörter reichen.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Blatt 17 hilft dir bei Bedarf.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Gründe und Daten sind freiwillig.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F1E81818-3441-4119-9FC8-A366A391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623560"/>
            <a:ext cx="6675120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30FE349-64A8-4FDF-8CFB-EA398EB4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504" y="5733288"/>
            <a:ext cx="6382512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Dein Schreibplan ist dein Geländer.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3801CA0-C8D0-4C81-B503-B3510C54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4 · Schreibplan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2229803-8777-4B4A-9109-B2E766B9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54776052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2287f8fe4435c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5A4B598-CA84-44F7-AC2F-C91141C1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C3A6BE8-97C0-4955-A8E1-DFAF5EAF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184FE7A-B1BA-4771-9D82-97F0551C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Ein Musterbrief entsteht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A7E1A00-B96E-48E4-B805-E1AD9625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Gemeinsam laut denken</a:t>
            </a:r>
            <a:endParaRPr sz="13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C81C4E15-39C4-4379-B993-AB8EB7C3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417320"/>
            <a:ext cx="6492240" cy="4160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55FB42D-B7EF-40E5-A043-E712E923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527048"/>
            <a:ext cx="6217920" cy="3941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Dortmund, 08.09.2026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Sehr geehrte Frau Schneider,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für unsere Klasse wünsche ich mir eine Leseecke. Ich würde mich darüber sehr freuen.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Freundliche Grüße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Mila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1E9EA3E-2C47-4178-B922-FDF6A704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645920"/>
            <a:ext cx="3017520" cy="2834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5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Ort, Datum und Anrede.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5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Ein klarer Wunsch.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5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Ein weiterer Satz.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5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Grußformel und Name.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E52C2433-505D-4E32-9EBB-020A4F6C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669280"/>
            <a:ext cx="886968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0CB23E47-C521-4345-9604-42DC4B39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5779008"/>
            <a:ext cx="85770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99815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Ein kurzer Brief kann alle Grundpunkte erreichen.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FC59DF-01E9-4F94-852A-6FCF34A5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4 · Musterbrief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8DFD4A2-4D66-4E90-AE3F-49F892AD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60025341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620ddced744a2a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0FBCD1B-50EB-4331-A9E1-513889AE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977BDFA3-E56B-4530-9536-572EB082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7304EAC-5304-437E-8A7C-3522D1E5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Checkliste: Ist mein Brief fertig?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F3544B88-09FA-4BC2-B7A8-D579F591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Kontrolle als Teil des Lernens</a:t>
            </a:r>
            <a:endParaRPr sz="13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AE4EEF72-9946-4AE4-A97B-2AD29CC9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600200"/>
            <a:ext cx="347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D97A4A"/>
                </a:solidFill>
              </a:rPr>
              <a:t>☐</a:t>
            </a:r>
            <a:endParaRPr sz="2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90641F6-1DDD-44B7-86C9-9BE5F6F4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636776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Ort/Datum + passende Anrede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7BE2E71-FABF-493B-8914-54D8DFA5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587752"/>
            <a:ext cx="347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D97A4A"/>
                </a:solidFill>
              </a:rPr>
              <a:t>☐</a:t>
            </a:r>
            <a:endParaRPr sz="2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40991B1-7644-44B8-B42C-D162546C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624328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Wunsch ist deutlich.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643636F-8C1E-465F-912D-71637ACE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575304"/>
            <a:ext cx="347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D97A4A"/>
                </a:solidFill>
              </a:rPr>
              <a:t>☐</a:t>
            </a:r>
            <a:endParaRPr sz="2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807336B-79F5-46DF-8438-A1FDA8F5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611880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Sprache ist freundlich.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6DD64FC-89A5-48F4-BF39-259A71B9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00200"/>
            <a:ext cx="347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D97A4A"/>
                </a:solidFill>
              </a:rPr>
              <a:t>☐</a:t>
            </a:r>
            <a:endParaRPr sz="21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8D3CCFC-45B9-4DED-AEC4-2398BFD8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1636776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Ganze Sätze, lesbare Schrift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19C0C6ED-D3A1-4521-99CF-7CEFC6CE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87752"/>
            <a:ext cx="347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D97A4A"/>
                </a:solidFill>
              </a:rPr>
              <a:t>☐</a:t>
            </a:r>
            <a:endParaRPr sz="2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583B6563-53A4-414B-8246-73D90176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24328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Grußformel und Name stehen da.</a:t>
            </a:r>
            <a:endParaRPr sz="18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D88A6C8-CD4D-47A4-A093-CC8CDA92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75304"/>
            <a:ext cx="347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D97A4A"/>
                </a:solidFill>
              </a:rPr>
              <a:t>☐</a:t>
            </a:r>
            <a:endParaRPr sz="21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4EC340E-CB48-4149-947B-7F3E4FB4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611880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Ein weiterer Satz passt.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7546A698-93D1-4374-8BC3-6DE4F213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5394960"/>
            <a:ext cx="7406640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8FC657FD-ECBB-4720-B2F3-3263E3B0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464" y="5504688"/>
            <a:ext cx="711403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Prüfe Zusätze nur, wenn du sie nutzt.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74BE7A3-54EF-4A5B-8521-A9B41256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4 · Kontrolle</a:t>
            </a:r>
            <a:endParaRPr sz="85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EE11746-53EE-4C14-8AB9-D7932A02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4647359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2dc448ea5844e2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5E8C0201-C588-4120-B893-C141B176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82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DD4FA65C-9D7C-4A4F-93D8-EEB8BD9E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31520"/>
            <a:ext cx="5852160" cy="5074920"/>
          </a:xfrm>
          <a:prstGeom xmlns:a="http://schemas.openxmlformats.org/drawingml/2006/main" prst="rect">
            <a:avLst>
              <a:gd name="adj" fmla="val 3243"/>
            </a:avLst>
          </a:prstGeom>
          <a:solidFill xmlns:a="http://schemas.openxmlformats.org/drawingml/2006/main">
            <a:srgbClr val="F5F4F1">
              <a:alpha val="94000"/>
            </a:srgbClr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D8F85D88-C16F-4106-BB0B-C0F10AAE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060704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D97A4A"/>
                </a:solidFill>
              </a:rPr>
              <a:t>Input 5</a:t>
            </a:r>
            <a:endParaRPr sz="17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0F7210A6-B946-4193-AB9D-1CA281B1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1508760"/>
            <a:ext cx="5074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Probearbeit und Prüfungsreife</a:t>
            </a:r>
            <a:endParaRPr sz="3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F2EE133-C5B0-42D7-AF76-FD20A57A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971800"/>
            <a:ext cx="49834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zeigst, was dir schon gelingt. Mit der Lehrkraft besprichst du deinen nächsten Schritt.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B008809-7837-4CBE-A5FE-1728997D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47488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E5668"/>
                </a:solidFill>
              </a:rPr>
              <a:t>Impuls für die Klasse</a:t>
            </a:r>
            <a:endParaRPr sz="1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09931D5-4106-4646-847E-BF17D148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5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51AFCA77-0825-4E49-A5BD-5AB04904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84778084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bdc34a3d1e4605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166AD8A1-96E3-4BC5-AC29-729D3172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CA2CD45D-E525-40B0-A548-087256DC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583D91-AFC9-4DFF-B8B8-B5AF0650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Die Probearbeit ist Training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CA23B1B-0E61-4165-B2F7-869DCC80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E5668"/>
                </a:solidFill>
                <a:latin typeface="Aptos"/>
                <a:ea typeface="Aptos"/>
                <a:cs typeface="Aptos"/>
              </a:rPr>
              <a:t>Verpflichtend und ohne Note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3BF898E-B7A2-45BA-B1F5-511D229C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63040"/>
            <a:ext cx="5212080" cy="3749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1F2A33"/>
                </a:solidFill>
              </a:rPr>
              <a:t>• Du liest eine Situation.
</a:t>
            </a:r>
            <a:r>
              <a:rPr sz="2100">
                <a:solidFill>
                  <a:srgbClr val="1F2A33"/>
                </a:solidFill>
              </a:rPr>
              <a:t>• Du nutzt einen Schreibplan.
</a:t>
            </a:r>
            <a:r>
              <a:rPr sz="2100">
                <a:solidFill>
                  <a:srgbClr val="1F2A33"/>
                </a:solidFill>
              </a:rPr>
              <a:t>• Du schreibst einen Wunschbrief.
</a:t>
            </a:r>
            <a:r>
              <a:rPr sz="2100">
                <a:solidFill>
                  <a:srgbClr val="1F2A33"/>
                </a:solidFill>
              </a:rPr>
              <a:t>• Du kontrollierst deinen Brief.
</a:t>
            </a:r>
            <a:r>
              <a:rPr sz="2100">
                <a:solidFill>
                  <a:srgbClr val="1F2A33"/>
                </a:solidFill>
              </a:rPr>
              <a:t>• Du siehst: Was kann ich schon?</a:t>
            </a:r>
            <a:endParaRPr sz="21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DDBACAB1-D6C3-441B-8644-CBECD0A5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7360"/>
            <a:ext cx="379476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822E8F0-888F-4259-B287-75AA2B6F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847088"/>
            <a:ext cx="3520440" cy="23408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Nutze zuerst die Hilfen wie bei der Arbeit.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steckst fest? Frage die Lehrkraft. Zusätzliche Hilfe wird notiert.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8F6E8D8-1A5D-47AB-AF7B-B643F63F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5440680"/>
            <a:ext cx="758952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F1DE3AF-3B69-46D5-87A2-857EEAD4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864" y="5550408"/>
            <a:ext cx="729691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Deine erste Fassung und die Überarbeitung bleiben erkennbar.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1564979-6013-430E-A735-1427091F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5 · Probearbeit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AC99E034-D812-42C1-B43C-8A65E9F0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9287715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91728dec914ad3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2B8FDBD-4A5C-4F12-B527-5651ADF3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43A9E0A0-2A06-4ABB-9A26-6A810EEF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CB482FE-A67A-4064-AE77-11E4F591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Bin ich bereit?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F8E51D8-34E7-4B94-890D-85C20011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Prüfungsreife einschätzen</a:t>
            </a:r>
            <a:endParaRPr sz="13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80DCF7-4971-4308-94D8-CB1CC315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463040"/>
            <a:ext cx="612648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Zeige deinen Wunsch im Brief.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Finde den weiteren passenden Satz.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Prüfe Briefteile, Sprache und Schrift.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Nutze „Dein Wunschbrief: Das zählt“.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Besprich deinen nächsten Schritt.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22BBFE8-33ED-4F5B-B83A-1A472B40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2971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7B0394D-308A-4D07-9E4D-AEA87A4A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984248"/>
            <a:ext cx="2697480" cy="1792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Nutze deine erste Fassung als Beleg.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Welche Hilfe hast du dabei gebraucht?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9A343ED7-38AA-4238-9891-E84AA8F5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5349240"/>
            <a:ext cx="722376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94B5A16-ED3D-49E6-B844-3C513230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5458968"/>
            <a:ext cx="6931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Bereit sein heißt: Ich kann es zeigen.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C7AB0A4-68B6-4ADD-B3C2-9A8686ED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5 · Prüfungsreife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FFD9EA1-49F4-4907-B37B-0FB39AE9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86971623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12737793e485f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4F845FE-74DC-422D-8C66-B1506C576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CBC2085E-73CA-4B56-8962-9ADEB2D3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ACC6CDD-26DA-4DCE-98B5-2B0960FD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Das Prüfungsfenster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026E545E-524C-4620-90ED-CED8699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E5668"/>
                </a:solidFill>
                <a:latin typeface="Aptos"/>
                <a:ea typeface="Aptos"/>
                <a:cs typeface="Aptos"/>
              </a:rPr>
              <a:t>Alle Termine: gleicher Aufbau, gleiche Hilfen.</a:t>
            </a: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4A2223F8-F900-4B82-8052-2990E993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508760"/>
            <a:ext cx="27432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9670739-CEDA-46B6-871A-74C0F549C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709928"/>
            <a:ext cx="2377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</a:rPr>
              <a:t>Termin 1</a:t>
            </a:r>
            <a:endParaRPr sz="17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6B15911-107E-44A6-BCE0-310C6DD4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170992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D97A4A"/>
                </a:solidFill>
              </a:rPr>
              <a:t>→</a:t>
            </a:r>
            <a:endParaRPr sz="22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C53D71-F3CE-41D5-BA67-69A9E94C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691640"/>
            <a:ext cx="502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schreibst zum vereinbarten Termin.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61BF4E8-A280-4940-9A1C-73FFF107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51760"/>
            <a:ext cx="27432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B75DECD-F82D-4D00-8BCD-E41FAADF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852928"/>
            <a:ext cx="2377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</a:rPr>
              <a:t>Termin 2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5F579AC-3308-4805-BF76-8DEC2A57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285292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D97A4A"/>
                </a:solidFill>
              </a:rPr>
              <a:t>→</a:t>
            </a:r>
            <a:endParaRPr sz="22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2DE3EA6-34D0-4CFF-80C7-E92FDC45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34640"/>
            <a:ext cx="502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übst gezielt bis zu deinem Termin.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8B5D759-220E-4DDC-8A84-5FEC6B60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94760"/>
            <a:ext cx="27432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7E41C2-15EE-4A8C-B648-09FED45D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95928"/>
            <a:ext cx="2377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</a:rPr>
              <a:t>Termin 3</a:t>
            </a:r>
            <a:endParaRPr sz="17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C156BAA8-6D0B-427E-9539-D02C80A0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99592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D97A4A"/>
                </a:solidFill>
              </a:rPr>
              <a:t>→</a:t>
            </a:r>
            <a:endParaRPr sz="2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248DA6B-444D-48BD-98F9-A754919D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977640"/>
            <a:ext cx="502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übst gezielt bis zu deinem Termin.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3049448-30DF-452A-956A-E160C0DC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257800"/>
            <a:ext cx="8778240" cy="64008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A405A6D-982D-4862-BD47-E67F9D21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5367528"/>
            <a:ext cx="848563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Besprich deinen Termin mit der Lehrkraft. Tempo gibt keine Punkte.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643F212D-DA00-4EB4-800A-FF4FEA51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Input 5 · Prüfungsfenster</a:t>
            </a:r>
            <a:endParaRPr sz="85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3A8EA273-3AF0-425D-BFAD-3BB80FA2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02172049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f729a693c94750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4F87118-236B-4F6C-B3E9-3E0324F0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66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559A551C-5C8E-4805-B273-6C68A107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ect">
            <a:avLst>
              <a:gd name="adj" fmla="val 2381"/>
            </a:avLst>
          </a:prstGeom>
          <a:solidFill xmlns:a="http://schemas.openxmlformats.org/drawingml/2006/main">
            <a:srgbClr val="F5F4F1">
              <a:alpha val="99000"/>
            </a:srgbClr>
          </a:solidFill>
          <a:ln xmlns:a="http://schemas.openxmlformats.org/drawingml/2006/main"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3A93139-EA70-4C4F-8E4D-D5DD9D55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Kontroll-Kiosk nutzen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5128BCD-5F24-4B09-84E7-D503474B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E5668"/>
                </a:solidFill>
                <a:latin typeface="Aptos"/>
                <a:ea typeface="Aptos"/>
                <a:cs typeface="Aptos"/>
              </a:rPr>
              <a:t>Am Laptop im Raum · nur beim Üben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2AD7132-BD53-4A53-A6AD-F1D394ED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554480"/>
            <a:ext cx="25603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100" b="1">
                <a:solidFill>
                  <a:srgbClr val="7DBB6F"/>
                </a:solidFill>
              </a:rPr>
              <a:t>Tipp</a:t>
            </a:r>
            <a:endParaRPr sz="3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8E23415-267D-41E7-9CA1-94A7B5EC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31720"/>
            <a:ext cx="2971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holst dir einen Hinweis und arbeitest selbst weiter.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2BD1FC5-1055-4BCC-A518-797B18F9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554480"/>
            <a:ext cx="25603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100" b="1">
                <a:solidFill>
                  <a:srgbClr val="D97A4A"/>
                </a:solidFill>
              </a:rPr>
              <a:t>Lösung</a:t>
            </a:r>
            <a:endParaRPr sz="3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7E858CA-09E0-4E93-A6E6-67AC3BAA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331720"/>
            <a:ext cx="2971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vergleichst dein Ergebnis. Ändere nur, was nötig ist.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49F9BC7-77B3-4C83-96CC-F4D33C74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3858768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2C3D4C"/>
                </a:solidFill>
              </a:rPr>
              <a:t>1. auswählen</a:t>
            </a:r>
            <a:endParaRPr sz="17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E32DC06-4D38-4D91-BD0A-60CD4833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858768"/>
            <a:ext cx="2606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2C3D4C"/>
                </a:solidFill>
              </a:rPr>
              <a:t>2. Blattnummer eingeben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810EDC0-7D73-4232-93BC-D4A1C4EE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858768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2C3D4C"/>
                </a:solidFill>
                <a:latin typeface="Aptos"/>
                <a:ea typeface="Aptos"/>
                <a:cs typeface="Aptos"/>
              </a:rPr>
              <a:t>3. lesen und zurück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D3F38A4-F820-402A-B35C-26D7FC65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257800"/>
            <a:ext cx="8001000" cy="59436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5D1254B-231A-409D-B273-A630916F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5367528"/>
            <a:ext cx="7708392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Lies in Ruhe. Kehre danach zu deiner Papieraufgabe zurück.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8F8AEC0F-883C-4311-9A0C-2DF8EC4D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Kontroll-Kiosk</a:t>
            </a:r>
            <a:endParaRPr sz="85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9FF17476-2C27-4A50-914E-B4AE4B0C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295444284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0a1a096624d9f"/>
          <a:srcRect xmlns:a="http://schemas.openxmlformats.org/drawingml/2006/main" l="1" t="0" r="1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08C0A3D-0059-4312-9383-4AF41B97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C26">
              <a:alpha val="75000"/>
            </a:srgbClr>
          </a:solidFill>
          <a:ln xmlns:a="http://schemas.openxmlformats.org/drawingml/2006/main"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B0FDE577-4D28-4FF1-9411-0D4B0073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77240"/>
            <a:ext cx="6035040" cy="5212080"/>
          </a:xfrm>
          <a:prstGeom xmlns:a="http://schemas.openxmlformats.org/drawingml/2006/main" prst="rect">
            <a:avLst>
              <a:gd name="adj" fmla="val 2632"/>
            </a:avLst>
          </a:prstGeom>
          <a:solidFill xmlns:a="http://schemas.openxmlformats.org/drawingml/2006/main">
            <a:srgbClr val="F5F4F1">
              <a:alpha val="98000"/>
            </a:srgbClr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CB23137-BD13-4ABA-9BB8-E96EC774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05156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D97A4A"/>
                </a:solidFill>
              </a:rPr>
              <a:t>Abschluss der Impulse</a:t>
            </a:r>
            <a:endParaRPr sz="20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F0AC5A29-1EB0-41DF-A22C-831D076C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828800"/>
            <a:ext cx="52578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Du lernst nicht nur Briefe zu schreiben.</a:t>
            </a:r>
            <a:endParaRPr sz="2800"/>
          </a:p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Du lernst auch, dein Lernen zu steuern.</a:t>
            </a:r>
            <a:endParaRPr sz="28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B5B3B81-A92A-4A2B-8695-E6ACD75C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005072"/>
            <a:ext cx="5029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7DBB6F"/>
                </a:solidFill>
              </a:rPr>
              <a:t>Planung → Durchführung → Reflexion</a:t>
            </a:r>
            <a:endParaRPr sz="2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A179872-503B-4740-BCE9-CA3E7648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00600"/>
            <a:ext cx="43434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Wähle deinen nächsten Schritt im Papierlernweg.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5C693E4-3F60-42DB-91A8-287D7077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4C7B8"/>
                </a:solidFill>
              </a:rPr>
              <a:t>Abschluss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13AEEBC-ED6A-4C82-BEE9-A872105C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E8DED4"/>
                </a:solidFill>
              </a:rPr>
              <a:t>Planung → Durchführung → Reflexion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214640361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2026-09-08T13:37:45.7220000Z</dcterms:created>
  <dcterms:modified xsi:type="dcterms:W3CDTF">2026-09-08T13:37:45.7220000Z</dcterms:modified>
</coreProperties>
</file>