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>
              <a:srgbClr val="3E56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Spieleausleihe</c:v>
                  </c:pt>
                  <c:pt idx="1">
                    <c:v>neue Bälle</c:v>
                  </c:pt>
                  <c:pt idx="2">
                    <c:v>ruhiger Pausenraum</c:v>
                  </c:pt>
                  <c:pt idx="3">
                    <c:v>Sitzplätze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15</c:v>
                </c:pt>
                <c:pt idx="2">
                  <c:v>9</c:v>
                </c:pt>
                <c:pt idx="3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>
              <a:srgbClr val="3E56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Leseecke</c:v>
                  </c:pt>
                  <c:pt idx="1">
                    <c:v>Pflanzen</c:v>
                  </c:pt>
                  <c:pt idx="2">
                    <c:v>Ablagefächer</c:v>
                  </c:pt>
                  <c:pt idx="3">
                    <c:v>Sitzplätze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</c:v>
                </c:pt>
                <c:pt idx="1">
                  <c:v>11</c:v>
                </c:pt>
                <c:pt idx="2">
                  <c:v>20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5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71323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4F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Impuls-Präsentationen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85800" y="13716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5F4F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Unsere Wünsche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5F4F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für die neue Schule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13232" y="3044952"/>
            <a:ext cx="434340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32461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ED4"/>
                </a:solidFill>
              </a:rPr>
              <a:t>Deutsch 5 · Wunschbriefe · Umfragen als Argumente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13232" y="59618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C7B8"/>
                </a:solidFill>
              </a:rPr>
              <a:t>Input → Übung → Vertiefung → Probearbeit → Projekte → Lernerfolgskontrolle (Arbeit)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Startfolie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 Lernweg dieser Reihe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Orientierung für die Klasse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6868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4183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Input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2221992" y="2423160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7A4A"/>
                </a:solidFill>
              </a:rPr>
              <a:t>→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260604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7919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Übung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959352" y="2423160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7A4A"/>
                </a:solidFill>
              </a:rPr>
              <a:t>→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434340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1655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Vertiefung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696712" y="2423160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7A4A"/>
                </a:solidFill>
              </a:rPr>
              <a:t>→</a:t>
            </a:r>
            <a:endParaRPr lang="en-US" sz="2300" dirty="0"/>
          </a:p>
        </p:txBody>
      </p:sp>
      <p:sp>
        <p:nvSpPr>
          <p:cNvPr id="16" name="Shape 13"/>
          <p:cNvSpPr/>
          <p:nvPr/>
        </p:nvSpPr>
        <p:spPr>
          <a:xfrm>
            <a:off x="608076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5391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Probearbeit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34072" y="2423160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7A4A"/>
                </a:solidFill>
              </a:rPr>
              <a:t>→</a:t>
            </a:r>
            <a:endParaRPr lang="en-US" sz="2300" dirty="0"/>
          </a:p>
        </p:txBody>
      </p:sp>
      <p:sp>
        <p:nvSpPr>
          <p:cNvPr id="19" name="Shape 16"/>
          <p:cNvSpPr/>
          <p:nvPr/>
        </p:nvSpPr>
        <p:spPr>
          <a:xfrm>
            <a:off x="781812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F4E9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9127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C3D4C"/>
                </a:solidFill>
              </a:rPr>
              <a:t>Projekte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171432" y="2423160"/>
            <a:ext cx="292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97A4A"/>
                </a:solidFill>
              </a:rPr>
              <a:t>→</a:t>
            </a:r>
            <a:endParaRPr lang="en-US" sz="2300" dirty="0"/>
          </a:p>
        </p:txBody>
      </p:sp>
      <p:sp>
        <p:nvSpPr>
          <p:cNvPr id="22" name="Shape 19"/>
          <p:cNvSpPr/>
          <p:nvPr/>
        </p:nvSpPr>
        <p:spPr>
          <a:xfrm>
            <a:off x="9555480" y="2194560"/>
            <a:ext cx="1325880" cy="914400"/>
          </a:xfrm>
          <a:prstGeom prst="roundRect">
            <a:avLst>
              <a:gd name="adj" fmla="val 13000"/>
            </a:avLst>
          </a:prstGeom>
          <a:solidFill>
            <a:srgbClr val="D97A4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628632" y="2404872"/>
            <a:ext cx="1179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Lernerfolgskontrolle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(Arbeit)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882128" y="3410712"/>
            <a:ext cx="2286000" cy="566928"/>
          </a:xfrm>
          <a:prstGeom prst="roundRect">
            <a:avLst>
              <a:gd name="adj" fmla="val 19355"/>
            </a:avLst>
          </a:prstGeom>
          <a:solidFill>
            <a:srgbClr val="C17B00">
              <a:alpha val="96000"/>
            </a:srgbClr>
          </a:solidFill>
          <a:ln w="12700">
            <a:solidFill>
              <a:srgbClr val="C17B00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28432" y="3520440"/>
            <a:ext cx="199339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Projekte sind freiwillig.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078992" y="4709160"/>
            <a:ext cx="9966960" cy="621792"/>
          </a:xfrm>
          <a:prstGeom prst="roundRect">
            <a:avLst>
              <a:gd name="adj" fmla="val 17647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25296" y="4818888"/>
            <a:ext cx="967435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Jede Lernzeit folgt: Planung → Durchführung → Reflexion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Lernweg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2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31520"/>
            <a:ext cx="5852160" cy="5074920"/>
          </a:xfrm>
          <a:prstGeom prst="rect">
            <a:avLst>
              <a:gd name="adj" fmla="val 3243"/>
            </a:avLst>
          </a:prstGeom>
          <a:solidFill>
            <a:srgbClr val="F5F4F1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78992" y="10607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4A"/>
                </a:solidFill>
              </a:rPr>
              <a:t>Input 1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60704" y="15087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Unsere Wünsche für die neue Schule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78992" y="2971800"/>
            <a:ext cx="4983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Wir sammeln Wünsche, verstehen Schreibsituationen und nutzen erste Umfrageergebnisse.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5668"/>
                </a:solidFill>
              </a:rPr>
              <a:t>Impuls für die Klasse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Was wünschen wir uns?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Schulalltag als Schreibanlass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60120" y="1691640"/>
            <a:ext cx="466344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Spielgeräte und Bewegung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Pausenangebote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Räume und Ausstattung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AGs, Projekte und Ausflüge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Themen und Inhalte im Unterricht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172200" y="1645920"/>
            <a:ext cx="4526280" cy="224028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1755648"/>
            <a:ext cx="4251960" cy="2020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Denke daran: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Ein Wunsch ist noch kein Brief.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Er wird erst zu einem Brief, wenn klar ist, wer schreibt, an wen geschrieben wird und warum.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965960" y="5212080"/>
            <a:ext cx="7863840" cy="603504"/>
          </a:xfrm>
          <a:prstGeom prst="roundRect">
            <a:avLst>
              <a:gd name="adj" fmla="val 18182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12264" y="5321808"/>
            <a:ext cx="7571232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Auftrag: Wähle einen Wunsch, der zu unserem Schulalltag passt.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1 · Sammeln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Wer schreibt wem – und warum?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Schreibsituationen klären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932688" y="1719072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EEF2F4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61288" y="18836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Wer schreibt?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61288" y="222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33"/>
                </a:solidFill>
              </a:rPr>
              <a:t>Beantworte die Frage mit wenigen Stichwörtern.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63056" y="1719072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EDF5EA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91656" y="18836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An wen?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391656" y="222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33"/>
                </a:solidFill>
              </a:rPr>
              <a:t>Beantworte die Frage mit wenigen Stichwörtern.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32688" y="3319272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EEF2F4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34838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Was ist der Wunsch?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61288" y="38221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33"/>
                </a:solidFill>
              </a:rPr>
              <a:t>Beantworte die Frage mit wenigen Stichwörtern.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63056" y="3319272"/>
            <a:ext cx="4480560" cy="1078992"/>
          </a:xfrm>
          <a:prstGeom prst="roundRect">
            <a:avLst>
              <a:gd name="adj" fmla="val 10169"/>
            </a:avLst>
          </a:prstGeom>
          <a:solidFill>
            <a:srgbClr val="EDF5EA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91656" y="34838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Warum als Brief?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391656" y="38221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33"/>
                </a:solidFill>
              </a:rPr>
              <a:t>Beantworte die Frage mit wenigen Stichwörtern.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286000" y="5321808"/>
            <a:ext cx="7498080" cy="530352"/>
          </a:xfrm>
          <a:prstGeom prst="roundRect">
            <a:avLst>
              <a:gd name="adj" fmla="val 20690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432304" y="5431536"/>
            <a:ext cx="720547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Erst die Situation verstehen – dann schreiben.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1 · Schreibsituation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Umfragen können Wünsche stärken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Daten aus Mathematik als Zusatzargument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14400" y="1554480"/>
          <a:ext cx="52120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446520" y="1828800"/>
            <a:ext cx="4114800" cy="228600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0" y="1938528"/>
            <a:ext cx="3840480" cy="2066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Aus Daten wird ein Satz: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„18 von 26 Kindern wünschen sich eine Spieleausleihe.“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Das ist genauer als: „Alle wollen Spiele.“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828800" y="5349240"/>
            <a:ext cx="8458200" cy="530352"/>
          </a:xfrm>
          <a:prstGeom prst="roundRect">
            <a:avLst>
              <a:gd name="adj" fmla="val 20690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975104" y="5458968"/>
            <a:ext cx="816559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Wichtig: Daten helfen. Sie ersetzen nicht den Wunsch.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1 · Mathe-Andockung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2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31520"/>
            <a:ext cx="5852160" cy="5074920"/>
          </a:xfrm>
          <a:prstGeom prst="rect">
            <a:avLst>
              <a:gd name="adj" fmla="val 3243"/>
            </a:avLst>
          </a:prstGeom>
          <a:solidFill>
            <a:srgbClr val="F5F4F1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78992" y="10607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4A"/>
                </a:solidFill>
              </a:rPr>
              <a:t>Input 2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60704" y="15087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 ist ein Brief aufgebaut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78992" y="2971800"/>
            <a:ext cx="4983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Wir erkennen die Teile eines Briefes und ordnen sie in die richtige Reihenfolge.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5668"/>
                </a:solidFill>
              </a:rPr>
              <a:t>Impuls für die Klasse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Die fünf Teile eines Briefes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Grundaufbau sichern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60120" y="16002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A4A"/>
                </a:solidFill>
              </a:rPr>
              <a:t>1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463040" y="1810512"/>
            <a:ext cx="50292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103120" y="15544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D4C"/>
                </a:solidFill>
              </a:rPr>
              <a:t>Ort und Datum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343400" y="1554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Dortmund, 07.09.2026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60120" y="23317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A4A"/>
                </a:solidFill>
              </a:rPr>
              <a:t>2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463040" y="2542032"/>
            <a:ext cx="50292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3120" y="22860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D4C"/>
                </a:solidFill>
              </a:rPr>
              <a:t>Anrede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34340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Sehr geehrte Frau …,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60120" y="30632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A4A"/>
                </a:solidFill>
              </a:rPr>
              <a:t>3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1463040" y="3273552"/>
            <a:ext cx="50292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03120" y="30175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D4C"/>
                </a:solidFill>
              </a:rPr>
              <a:t>Brieftext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343400" y="3017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wünsche mir …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60120" y="37947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A4A"/>
                </a:solidFill>
              </a:rPr>
              <a:t>4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1463040" y="4005072"/>
            <a:ext cx="50292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103120" y="37490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D4C"/>
                </a:solidFill>
              </a:rPr>
              <a:t>Grußformel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343400" y="3749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Freundliche Grüße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60120" y="45262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97A4A"/>
                </a:solidFill>
              </a:rPr>
              <a:t>5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463040" y="4736592"/>
            <a:ext cx="502920" cy="0"/>
          </a:xfrm>
          <a:prstGeom prst="line">
            <a:avLst/>
          </a:prstGeom>
          <a:noFill/>
          <a:ln w="12700">
            <a:solidFill>
              <a:srgbClr val="D97A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103120" y="4480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D4C"/>
                </a:solidFill>
              </a:rPr>
              <a:t>Name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4343400" y="4480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Mila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828800" y="5623560"/>
            <a:ext cx="8595360" cy="502920"/>
          </a:xfrm>
          <a:prstGeom prst="roundRect">
            <a:avLst>
              <a:gd name="adj" fmla="val 21818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75104" y="5733288"/>
            <a:ext cx="8302752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Merksatz: Ein Brief braucht Anfang, Brieftext und Ende.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2 · Briefteile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Briefpuzzle: Was kommt zuerst?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Reihenfolge üben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1005840" y="1508760"/>
            <a:ext cx="3977640" cy="352044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43000" y="1618488"/>
            <a:ext cx="3703320" cy="33009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Grußformel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Dortmund, 07.09.2026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Brieftext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Anrede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Name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623560" y="1645920"/>
            <a:ext cx="452628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Beginne mit Ort und Datum.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Danach folgt die Anrede.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Der Brieftext enthält den Wunsch.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Am Schluss stehen Grußformel und Name.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874520" y="5285232"/>
            <a:ext cx="7863840" cy="566928"/>
          </a:xfrm>
          <a:prstGeom prst="roundRect">
            <a:avLst>
              <a:gd name="adj" fmla="val 19355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20824" y="5394960"/>
            <a:ext cx="75712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Auftrag: Bringe den Brief in die richtige Ordnung.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2 · Puzzle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Anrede und Grußformel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Wer bekommt den Brief?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1097280" y="1627632"/>
            <a:ext cx="310896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280160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Klassenleitung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480560" y="1783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5074920" y="179222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3"/>
                </a:solidFill>
              </a:rPr>
              <a:t>Liebe Frau …, / Lieber Herr …,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1097280" y="2788920"/>
            <a:ext cx="310896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9535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Schulleitung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80560" y="294436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5074920" y="295351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3"/>
                </a:solidFill>
              </a:rPr>
              <a:t>Sehr geehrte Frau …, / Sehr geehrter Herr …,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1097280" y="3950208"/>
            <a:ext cx="3108960" cy="658368"/>
          </a:xfrm>
          <a:prstGeom prst="roundRect">
            <a:avLst>
              <a:gd name="adj" fmla="val 13889"/>
            </a:avLst>
          </a:prstGeom>
          <a:solidFill>
            <a:srgbClr val="EEF2F4"/>
          </a:solidFill>
          <a:ln w="12700">
            <a:solidFill>
              <a:srgbClr val="D8D8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80160" y="4114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Freund oder Freundin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480560" y="410565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5074920" y="411480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3"/>
                </a:solidFill>
              </a:rPr>
              <a:t>Liebe …, / Lieber …,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1783080" y="5321808"/>
            <a:ext cx="8229600" cy="530352"/>
          </a:xfrm>
          <a:prstGeom prst="roundRect">
            <a:avLst>
              <a:gd name="adj" fmla="val 20690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929384" y="5431536"/>
            <a:ext cx="7936992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Die Anrede muss zur angeschriebenen Person passen.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2 · Anrede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2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31520"/>
            <a:ext cx="5852160" cy="5074920"/>
          </a:xfrm>
          <a:prstGeom prst="rect">
            <a:avLst>
              <a:gd name="adj" fmla="val 3243"/>
            </a:avLst>
          </a:prstGeom>
          <a:solidFill>
            <a:srgbClr val="F5F4F1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78992" y="10607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4A"/>
                </a:solidFill>
              </a:rPr>
              <a:t>Input 3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60704" y="15087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Wünsche freundlich, genau und mit Daten formulieren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78992" y="2971800"/>
            <a:ext cx="4983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Wir schreiben Wünsche so, dass sie höflich, verständlich und möglichst genau sind.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5668"/>
                </a:solidFill>
              </a:rPr>
              <a:t>Impuls für die Klasse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Freundlich oder fordernd?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Formulierungen vergleichen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96112" y="1554480"/>
            <a:ext cx="4800600" cy="658368"/>
          </a:xfrm>
          <a:prstGeom prst="roundRect">
            <a:avLst>
              <a:gd name="adj" fmla="val 13889"/>
            </a:avLst>
          </a:prstGeom>
          <a:solidFill>
            <a:srgbClr val="F8EEE7"/>
          </a:solidFill>
          <a:ln w="12700">
            <a:solidFill>
              <a:srgbClr val="E8C4B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78992" y="1719072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7E3B1C"/>
                </a:solidFill>
              </a:rPr>
              <a:t>Wir wollen neue Spiele.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5806440" y="17007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4846320" cy="658368"/>
          </a:xfrm>
          <a:prstGeom prst="roundRect">
            <a:avLst>
              <a:gd name="adj" fmla="val 13889"/>
            </a:avLst>
          </a:prstGeom>
          <a:solidFill>
            <a:srgbClr val="EDF5EA"/>
          </a:solidFill>
          <a:ln w="12700">
            <a:solidFill>
              <a:srgbClr val="C3DB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190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D4D25"/>
                </a:solidFill>
              </a:rPr>
              <a:t>Wir wünschen uns neue Spiele für die Pause.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896112" y="2743200"/>
            <a:ext cx="4800600" cy="658368"/>
          </a:xfrm>
          <a:prstGeom prst="roundRect">
            <a:avLst>
              <a:gd name="adj" fmla="val 13889"/>
            </a:avLst>
          </a:prstGeom>
          <a:solidFill>
            <a:srgbClr val="F8EEE7"/>
          </a:solidFill>
          <a:ln w="12700">
            <a:solidFill>
              <a:srgbClr val="E8C4B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78992" y="2907792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7E3B1C"/>
                </a:solidFill>
              </a:rPr>
              <a:t>Kaufen Sie uns eine Leseecke.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5806440" y="28895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309360" y="2743200"/>
            <a:ext cx="4846320" cy="658368"/>
          </a:xfrm>
          <a:prstGeom prst="roundRect">
            <a:avLst>
              <a:gd name="adj" fmla="val 13889"/>
            </a:avLst>
          </a:prstGeom>
          <a:solidFill>
            <a:srgbClr val="EDF5EA"/>
          </a:solidFill>
          <a:ln w="12700">
            <a:solidFill>
              <a:srgbClr val="C3DBB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290779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D4D25"/>
                </a:solidFill>
              </a:rPr>
              <a:t>Wir würden uns über eine Leseecke freuen.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896112" y="3931920"/>
            <a:ext cx="4800600" cy="658368"/>
          </a:xfrm>
          <a:prstGeom prst="roundRect">
            <a:avLst>
              <a:gd name="adj" fmla="val 13889"/>
            </a:avLst>
          </a:prstGeom>
          <a:solidFill>
            <a:srgbClr val="F8EEE7"/>
          </a:solidFill>
          <a:ln w="12700">
            <a:solidFill>
              <a:srgbClr val="E8C4B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78992" y="4096512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7E3B1C"/>
                </a:solidFill>
              </a:rPr>
              <a:t>Alle finden Pflanzen gut.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5806440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7A4A"/>
                </a:solidFill>
              </a:rPr>
              <a:t>→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6309360" y="3931920"/>
            <a:ext cx="4846320" cy="658368"/>
          </a:xfrm>
          <a:prstGeom prst="roundRect">
            <a:avLst>
              <a:gd name="adj" fmla="val 13889"/>
            </a:avLst>
          </a:prstGeom>
          <a:solidFill>
            <a:srgbClr val="EDF5EA"/>
          </a:solidFill>
          <a:ln w="12700">
            <a:solidFill>
              <a:srgbClr val="C3DBB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92240" y="4096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D4D25"/>
                </a:solidFill>
              </a:rPr>
              <a:t>11 von 26 Kindern wünschen sich Pflanzen.</a:t>
            </a:r>
            <a:endParaRPr lang="en-US" sz="1650" dirty="0"/>
          </a:p>
        </p:txBody>
      </p:sp>
      <p:sp>
        <p:nvSpPr>
          <p:cNvPr id="22" name="Shape 19"/>
          <p:cNvSpPr/>
          <p:nvPr/>
        </p:nvSpPr>
        <p:spPr>
          <a:xfrm>
            <a:off x="2331720" y="5285232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78024" y="5394960"/>
            <a:ext cx="7022592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Prüfe zwei Dinge: freundlich UND genau.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3 · Formulieren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Aus einem Diagramm wird ein Satz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Zahlen richtig verwenden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14400" y="1508760"/>
          <a:ext cx="52578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6492240" y="1737360"/>
            <a:ext cx="44805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„20 von 26 Kindern wünschen sich Ablagefächer.“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„17 Kinder wünschen sich eine Leseecke.“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„Das Ergebnis zeigt, dass vielen Kindern Ordnung wichtig ist.“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1645920" y="5303520"/>
            <a:ext cx="8778240" cy="566928"/>
          </a:xfrm>
          <a:prstGeom prst="roundRect">
            <a:avLst>
              <a:gd name="adj" fmla="val 19355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792224" y="5413248"/>
            <a:ext cx="848563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Keine Fantasiewörter: „alle“ nur, wenn wirklich alle gemeint sind.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3 · Daten formulieren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Satzstarter für Wunschbriefe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Hilfe für eigene Formulierungen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43000" y="1572768"/>
            <a:ext cx="6675120" cy="3520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Ich wünsche mir …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Für unsere Klasse wünsche ich mir …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Ich würde mich freuen, wenn …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Könnten Sie bitte …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In unserer Umfrage haben sich … Kinder … gewünscht.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Das Ergebnis zeigt, dass …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955280" y="1965960"/>
            <a:ext cx="2926080" cy="214884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2075688"/>
            <a:ext cx="2651760" cy="1929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Nicht jeder Brief braucht alle Satzstarter.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Wähle nur die Formulierungen, die wirklich zu deinem Wunsch passen.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011680" y="5504688"/>
            <a:ext cx="8138160" cy="512064"/>
          </a:xfrm>
          <a:prstGeom prst="roundRect">
            <a:avLst>
              <a:gd name="adj" fmla="val 21429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57984" y="5614416"/>
            <a:ext cx="7845552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Ziel: klar, freundlich und passend schreiben.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3 · Satzstarter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2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31520"/>
            <a:ext cx="5852160" cy="5074920"/>
          </a:xfrm>
          <a:prstGeom prst="rect">
            <a:avLst>
              <a:gd name="adj" fmla="val 3243"/>
            </a:avLst>
          </a:prstGeom>
          <a:solidFill>
            <a:srgbClr val="F5F4F1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78992" y="10607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4A"/>
                </a:solidFill>
              </a:rPr>
              <a:t>Input 4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60704" y="15087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Vom Schreibauftrag zum Wunschbrief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78992" y="2971800"/>
            <a:ext cx="4983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Wir planen, schreiben und kontrollieren einen vollständigen Brief.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5668"/>
                </a:solidFill>
              </a:rPr>
              <a:t>Impuls für die Klasse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Erst planen, dann schreiben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Schreibauftrag Schritt für Schritt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43000" y="1508760"/>
            <a:ext cx="5486400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1. Schreibsituation lesen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2. Empfänger bestimmen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3. Wunsch auswählen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4. möglichen Grund notieren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5. Brief schreiben
</a:t>
            </a:r>
            <a:pPr indent="0" marL="0">
              <a:buNone/>
            </a:pPr>
            <a:r>
              <a:rPr lang="en-US" sz="1900" dirty="0">
                <a:solidFill>
                  <a:srgbClr val="1F2A33"/>
                </a:solidFill>
              </a:rPr>
              <a:t>• 6. Checkliste nutzen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7315200" y="1828800"/>
            <a:ext cx="3291840" cy="224028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1938528"/>
            <a:ext cx="3017520" cy="2020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Planung bedeutet nicht, den ganzen Brief schon fertig zu schreiben.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Stichwörter reichen.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743200" y="5623560"/>
            <a:ext cx="6675120" cy="457200"/>
          </a:xfrm>
          <a:prstGeom prst="roundRect">
            <a:avLst>
              <a:gd name="adj" fmla="val 24000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89504" y="5733288"/>
            <a:ext cx="638251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Dein Schreibplan ist dein Geländer.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4 · Schreibplan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Ein Musterbrief entsteht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Gemeinsam laut denken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960120" y="1417320"/>
            <a:ext cx="6492240" cy="416052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1527048"/>
            <a:ext cx="6217920" cy="3941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Dortmund, 07.09.2026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Sehr geehrte Frau Schulleiterin,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für unsere Klasse wünsche ich mir eine Leseecke. Dort könnten wir in ruhigen Momenten lesen. In unserer Umfrage haben sich 17 von 26 Kindern eine Leseecke gewünscht.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Freundliche Grüße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Mila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18120" y="1645920"/>
            <a:ext cx="301752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1850" dirty="0">
                <a:solidFill>
                  <a:srgbClr val="1F2A33"/>
                </a:solidFill>
              </a:rPr>
              <a:t>• Anrede passt zum Empfänger.
</a:t>
            </a:r>
            <a:pPr indent="0" marL="0">
              <a:buNone/>
            </a:pPr>
            <a:r>
              <a:rPr lang="en-US" sz="1850" dirty="0">
                <a:solidFill>
                  <a:srgbClr val="1F2A33"/>
                </a:solidFill>
              </a:rPr>
              <a:t>• Wunsch ist deutlich.
</a:t>
            </a:r>
            <a:pPr indent="0" marL="0">
              <a:buNone/>
            </a:pPr>
            <a:r>
              <a:rPr lang="en-US" sz="1850" dirty="0">
                <a:solidFill>
                  <a:srgbClr val="1F2A33"/>
                </a:solidFill>
              </a:rPr>
              <a:t>• Daten werden korrekt genannt.
</a:t>
            </a:r>
            <a:pPr indent="0" marL="0">
              <a:buNone/>
            </a:pPr>
            <a:r>
              <a:rPr lang="en-US" sz="1850" dirty="0">
                <a:solidFill>
                  <a:srgbClr val="1F2A33"/>
                </a:solidFill>
              </a:rPr>
              <a:t>• Grußformel und Name stehen am Ende.</a:t>
            </a:r>
            <a:endParaRPr lang="en-US" sz="1850" dirty="0"/>
          </a:p>
        </p:txBody>
      </p:sp>
      <p:sp>
        <p:nvSpPr>
          <p:cNvPr id="10" name="Shape 7"/>
          <p:cNvSpPr/>
          <p:nvPr/>
        </p:nvSpPr>
        <p:spPr>
          <a:xfrm>
            <a:off x="1645920" y="5669280"/>
            <a:ext cx="8869680" cy="493776"/>
          </a:xfrm>
          <a:prstGeom prst="roundRect">
            <a:avLst>
              <a:gd name="adj" fmla="val 22222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92224" y="5779008"/>
            <a:ext cx="85770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Muster heißt: So könnte es aussehen. Dein Brief darf anders sein.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4 · Musterbrief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Checkliste: Ist mein Brief fertig?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Kontrolle als Teil des Lernens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280160" y="160020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691640" y="1636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Anrede passt.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80160" y="25877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691640" y="2624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Wunsch ist deutlich.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280160" y="357530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691640" y="3611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Sprache ist freundlich.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0" y="1600200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12280" y="1636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Sätze sind vollständig.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0" y="2587752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812280" y="2624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Grußformel und Name stehen da.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3575304"/>
            <a:ext cx="347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7A4A"/>
                </a:solidFill>
              </a:rPr>
              <a:t>☐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812280" y="3611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Verwendete Zahlen stimmen.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2423160" y="5394960"/>
            <a:ext cx="7406640" cy="585216"/>
          </a:xfrm>
          <a:prstGeom prst="roundRect">
            <a:avLst>
              <a:gd name="adj" fmla="val 18750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69464" y="5504688"/>
            <a:ext cx="711403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Fertig heißt: geschrieben UND geprüft.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4 · Kontrolle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82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31520"/>
            <a:ext cx="5852160" cy="5074920"/>
          </a:xfrm>
          <a:prstGeom prst="rect">
            <a:avLst>
              <a:gd name="adj" fmla="val 3243"/>
            </a:avLst>
          </a:prstGeom>
          <a:solidFill>
            <a:srgbClr val="F5F4F1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78992" y="10607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A4A"/>
                </a:solidFill>
              </a:rPr>
              <a:t>Input 5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60704" y="15087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Probearbeit und Prüfungsreife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078992" y="2971800"/>
            <a:ext cx="49834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Wir prüfen unseren Lernstand und entscheiden begleitet, wann wir bereit sind.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78992" y="50474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5668"/>
                </a:solidFill>
              </a:rPr>
              <a:t>Impuls für die Klasse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Die Probearbeit ist Training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Nicht benotet – aber wichtig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051560" y="1463040"/>
            <a:ext cx="5212080" cy="3749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Du liest eine Situation.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Du nutzt einen Schreibplan.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Du schreibst einen Wunschbrief.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Du kontrollierst deinen Brief.
</a:t>
            </a:r>
            <a:pPr indent="0" marL="0">
              <a:buNone/>
            </a:pPr>
            <a:r>
              <a:rPr lang="en-US" sz="2100" dirty="0">
                <a:solidFill>
                  <a:srgbClr val="1F2A33"/>
                </a:solidFill>
              </a:rPr>
              <a:t>• Du siehst: Was kann ich schon?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629400" y="1737360"/>
            <a:ext cx="3794760" cy="256032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1847088"/>
            <a:ext cx="3520440" cy="23408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Die Probearbeit hat das gleiche Grundmuster wie die spätere Arbeit.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So übst du nicht nur den Inhalt, sondern auch den Ablauf.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194560" y="5440680"/>
            <a:ext cx="7589520" cy="566928"/>
          </a:xfrm>
          <a:prstGeom prst="roundRect">
            <a:avLst>
              <a:gd name="adj" fmla="val 19355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40864" y="5550408"/>
            <a:ext cx="729691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Probearbeit = üben, prüfen, weiterplanen.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5 · Probearbeit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Bin ich bereit?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Prüfungsreife einschätzen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612648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Ich verstehe den Schreibauftrag.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Ich kann einen Brief aufbauen.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Ich kann meinen Wunsch freundlich formulieren.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Ich kann meinen Brief kontrollieren.
</a:t>
            </a:r>
            <a:pPr indent="0" marL="0">
              <a:buNone/>
            </a:pPr>
            <a:r>
              <a:rPr lang="en-US" sz="2000" dirty="0">
                <a:solidFill>
                  <a:srgbClr val="1F2A33"/>
                </a:solidFill>
              </a:rPr>
              <a:t>• Ich weiß, was ich noch üben muss.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818120" y="1874520"/>
            <a:ext cx="2971800" cy="2011680"/>
          </a:xfrm>
          <a:prstGeom prst="rect">
            <a:avLst/>
          </a:prstGeom>
          <a:solidFill>
            <a:srgbClr val="FFFDF8"/>
          </a:solidFill>
          <a:ln w="12700">
            <a:solidFill>
              <a:srgbClr val="E8D4C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1984248"/>
            <a:ext cx="269748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Wichtig: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Kreuze nicht nur nach Gefühl an.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Nutze deine Probearbeit als Beleg.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377440" y="5349240"/>
            <a:ext cx="7223760" cy="566928"/>
          </a:xfrm>
          <a:prstGeom prst="roundRect">
            <a:avLst>
              <a:gd name="adj" fmla="val 19355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23744" y="5458968"/>
            <a:ext cx="6931152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Bereit sein heißt: Ich kann es zeigen.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5 · Prüfungsreife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 Prüfungsfenster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Begleitete Entscheidung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1234440" y="1508760"/>
            <a:ext cx="2743200" cy="749808"/>
          </a:xfrm>
          <a:prstGeom prst="roundRect">
            <a:avLst>
              <a:gd name="adj" fmla="val 14634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17320" y="1709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Termin 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251960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A4A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800600" y="1691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schreibe früh.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234440" y="2651760"/>
            <a:ext cx="2743200" cy="749808"/>
          </a:xfrm>
          <a:prstGeom prst="roundRect">
            <a:avLst>
              <a:gd name="adj" fmla="val 14634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17320" y="2852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Termin 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5196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A4A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800600" y="2834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übe noch und schreibe später.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234440" y="3794760"/>
            <a:ext cx="2743200" cy="749808"/>
          </a:xfrm>
          <a:prstGeom prst="roundRect">
            <a:avLst>
              <a:gd name="adj" fmla="val 14634"/>
            </a:avLst>
          </a:prstGeom>
          <a:solidFill>
            <a:srgbClr val="3E566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17320" y="3995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Termin 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251960" y="3995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A4A"/>
                </a:solidFill>
              </a:rPr>
              <a:t>→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800600" y="3977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nutze letzte Übung und schreibe dann.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645920" y="5257800"/>
            <a:ext cx="8778240" cy="640080"/>
          </a:xfrm>
          <a:prstGeom prst="roundRect">
            <a:avLst>
              <a:gd name="adj" fmla="val 17143"/>
            </a:avLst>
          </a:prstGeom>
          <a:solidFill>
            <a:srgbClr val="7DBB6F">
              <a:alpha val="96000"/>
            </a:srgbClr>
          </a:solidFill>
          <a:ln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792224" y="5367528"/>
            <a:ext cx="8485632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Du entscheidest nicht allein: Wir prüfen gemeinsam, ob der Termin passt.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Input 5 · Prüfungsfenster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66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920" y="347472"/>
            <a:ext cx="11173968" cy="6144768"/>
          </a:xfrm>
          <a:prstGeom prst="rect">
            <a:avLst>
              <a:gd name="adj" fmla="val 2381"/>
            </a:avLst>
          </a:prstGeom>
          <a:solidFill>
            <a:srgbClr val="F5F4F1">
              <a:alpha val="99000"/>
            </a:srgbClr>
          </a:solidFill>
          <a:ln w="12700">
            <a:solidFill>
              <a:srgbClr val="D6C6B8">
                <a:alpha val="9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04672" y="676656"/>
            <a:ext cx="6995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Kontroll-Kiosk nutzen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822960" y="1170432"/>
            <a:ext cx="72237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668"/>
                </a:solidFill>
              </a:rPr>
              <a:t>Tipp oder Lösung?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23444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7DBB6F"/>
                </a:solidFill>
              </a:rPr>
              <a:t>Tipp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1051560" y="233172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brauche einen Hinweis und möchte selbst weiterarbeiten.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1838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D97A4A"/>
                </a:solidFill>
              </a:rPr>
              <a:t>Lösung</a:t>
            </a:r>
            <a:endParaRPr lang="en-US" sz="3100" dirty="0"/>
          </a:p>
        </p:txBody>
      </p:sp>
      <p:sp>
        <p:nvSpPr>
          <p:cNvPr id="10" name="Text 7"/>
          <p:cNvSpPr/>
          <p:nvPr/>
        </p:nvSpPr>
        <p:spPr>
          <a:xfrm>
            <a:off x="7909560" y="2331720"/>
            <a:ext cx="2971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A33"/>
                </a:solidFill>
              </a:rPr>
              <a:t>Ich vergleiche mein Ergebnis und verbessere danach.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874520" y="38587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1. auswählen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846320" y="38587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2. Blattnummer eingeben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321040" y="385876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3D4C"/>
                </a:solidFill>
              </a:rPr>
              <a:t>3. weiterarbeiten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03120" y="5257800"/>
            <a:ext cx="8001000" cy="594360"/>
          </a:xfrm>
          <a:prstGeom prst="roundRect">
            <a:avLst>
              <a:gd name="adj" fmla="val 18462"/>
            </a:avLst>
          </a:prstGeom>
          <a:solidFill>
            <a:srgbClr val="D97A4A">
              <a:alpha val="96000"/>
            </a:srgbClr>
          </a:solidFill>
          <a:ln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49424" y="5367528"/>
            <a:ext cx="770839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Kontrolle ist ein Lernschritt, kein Abschreiben.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Kontroll-Kiosk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1000253819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C26">
              <a:alpha val="75000"/>
            </a:srgbClr>
          </a:solidFill>
          <a:ln w="12700">
            <a:solidFill>
              <a:srgbClr val="0E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77240" y="777240"/>
            <a:ext cx="6035040" cy="5212080"/>
          </a:xfrm>
          <a:prstGeom prst="rect">
            <a:avLst>
              <a:gd name="adj" fmla="val 2632"/>
            </a:avLst>
          </a:prstGeom>
          <a:solidFill>
            <a:srgbClr val="F5F4F1">
              <a:alpha val="9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1560" y="1051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A4A"/>
                </a:solidFill>
              </a:rPr>
              <a:t>Abschluss der Impulse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51560" y="182880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 lernst nicht nur Briefe zu schreiben.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2C3D4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 lernst auch, dein Lernen zu steuern.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051560" y="40050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DBB6F"/>
                </a:solidFill>
              </a:rPr>
              <a:t>Planung → Durchführung → Reflexion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051560" y="480060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3"/>
                </a:solidFill>
              </a:rPr>
              <a:t>Nächster Schritt: Übung und Vertiefung.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94360" y="6437376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4C7B8"/>
                </a:solidFill>
              </a:rPr>
              <a:t>Abschluss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595360" y="641908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DED4"/>
                </a:solidFill>
              </a:rPr>
              <a:t>Planung → Durchführung → Reflexion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HBG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Impulse – Wunschbriefe für unsere neue Schule</dc:title>
  <dc:subject>Deutsch 5 – Wunschbriefe und SRL</dc:subject>
  <dc:creator>OpenAI</dc:creator>
  <cp:lastModifiedBy>OpenAI</cp:lastModifiedBy>
  <cp:revision>1</cp:revision>
  <dcterms:created xsi:type="dcterms:W3CDTF">2026-07-18T07:56:41Z</dcterms:created>
  <dcterms:modified xsi:type="dcterms:W3CDTF">2026-07-18T07:56:41Z</dcterms:modified>
</cp:coreProperties>
</file>